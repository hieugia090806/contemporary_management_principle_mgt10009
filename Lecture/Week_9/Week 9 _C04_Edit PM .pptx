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6.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6" r:id="rId6"/>
    <p:sldMasterId id="2147483716" r:id="rId7"/>
  </p:sldMasterIdLst>
  <p:notesMasterIdLst>
    <p:notesMasterId r:id="rId44"/>
  </p:notesMasterIdLst>
  <p:sldIdLst>
    <p:sldId id="568" r:id="rId8"/>
    <p:sldId id="506" r:id="rId9"/>
    <p:sldId id="507" r:id="rId10"/>
    <p:sldId id="508" r:id="rId11"/>
    <p:sldId id="328" r:id="rId12"/>
    <p:sldId id="312" r:id="rId13"/>
    <p:sldId id="341" r:id="rId14"/>
    <p:sldId id="509" r:id="rId15"/>
    <p:sldId id="305" r:id="rId16"/>
    <p:sldId id="307" r:id="rId17"/>
    <p:sldId id="319" r:id="rId18"/>
    <p:sldId id="275" r:id="rId19"/>
    <p:sldId id="276" r:id="rId20"/>
    <p:sldId id="522" r:id="rId21"/>
    <p:sldId id="282" r:id="rId22"/>
    <p:sldId id="511" r:id="rId23"/>
    <p:sldId id="285" r:id="rId24"/>
    <p:sldId id="286" r:id="rId25"/>
    <p:sldId id="329" r:id="rId26"/>
    <p:sldId id="512" r:id="rId27"/>
    <p:sldId id="513" r:id="rId28"/>
    <p:sldId id="290" r:id="rId29"/>
    <p:sldId id="291" r:id="rId30"/>
    <p:sldId id="331" r:id="rId31"/>
    <p:sldId id="320" r:id="rId32"/>
    <p:sldId id="332" r:id="rId33"/>
    <p:sldId id="315" r:id="rId34"/>
    <p:sldId id="295" r:id="rId35"/>
    <p:sldId id="333" r:id="rId36"/>
    <p:sldId id="296" r:id="rId37"/>
    <p:sldId id="334" r:id="rId38"/>
    <p:sldId id="340" r:id="rId39"/>
    <p:sldId id="300" r:id="rId40"/>
    <p:sldId id="523" r:id="rId41"/>
    <p:sldId id="304" r:id="rId42"/>
    <p:sldId id="51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568"/>
            <p14:sldId id="506"/>
            <p14:sldId id="507"/>
            <p14:sldId id="508"/>
            <p14:sldId id="328"/>
            <p14:sldId id="312"/>
            <p14:sldId id="341"/>
            <p14:sldId id="509"/>
            <p14:sldId id="305"/>
            <p14:sldId id="307"/>
            <p14:sldId id="319"/>
            <p14:sldId id="275"/>
            <p14:sldId id="276"/>
            <p14:sldId id="522"/>
            <p14:sldId id="282"/>
            <p14:sldId id="511"/>
            <p14:sldId id="285"/>
            <p14:sldId id="286"/>
            <p14:sldId id="329"/>
            <p14:sldId id="512"/>
            <p14:sldId id="513"/>
            <p14:sldId id="290"/>
            <p14:sldId id="291"/>
            <p14:sldId id="331"/>
            <p14:sldId id="320"/>
            <p14:sldId id="332"/>
            <p14:sldId id="315"/>
            <p14:sldId id="295"/>
            <p14:sldId id="333"/>
            <p14:sldId id="296"/>
            <p14:sldId id="334"/>
            <p14:sldId id="340"/>
            <p14:sldId id="300"/>
            <p14:sldId id="523"/>
            <p14:sldId id="304"/>
            <p14:sldId id="515"/>
          </p14:sldIdLst>
        </p14:section>
        <p14:section name="Appendix: Image Descriptions for Unsighted Students" id="{9E859B0B-078E-463E-89A6-21C20DD280C4}">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41B"/>
    <a:srgbClr val="C0161E"/>
    <a:srgbClr val="069598"/>
    <a:srgbClr val="F4CCCC"/>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FEE342-4484-49E9-9D0B-F24992A958EC}" v="7" dt="2025-04-25T05:45:43.6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88497" autoAdjust="0"/>
  </p:normalViewPr>
  <p:slideViewPr>
    <p:cSldViewPr snapToGrid="0" showGuides="1">
      <p:cViewPr varScale="1">
        <p:scale>
          <a:sx n="61" d="100"/>
          <a:sy n="61" d="100"/>
        </p:scale>
        <p:origin x="1734" y="60"/>
      </p:cViewPr>
      <p:guideLst>
        <p:guide pos="3264"/>
        <p:guide orient="horz" pos="2256"/>
        <p:guide pos="5640"/>
      </p:guideLst>
    </p:cSldViewPr>
  </p:slideViewPr>
  <p:outlineViewPr>
    <p:cViewPr>
      <p:scale>
        <a:sx n="33" d="100"/>
        <a:sy n="33" d="100"/>
      </p:scale>
      <p:origin x="0" y="-26586"/>
    </p:cViewPr>
  </p:outlineViewPr>
  <p:notesTextViewPr>
    <p:cViewPr>
      <p:scale>
        <a:sx n="100" d="100"/>
        <a:sy n="100" d="100"/>
      </p:scale>
      <p:origin x="0" y="0"/>
    </p:cViewPr>
  </p:notesTextViewPr>
  <p:sorterViewPr>
    <p:cViewPr>
      <p:scale>
        <a:sx n="100" d="100"/>
        <a:sy n="100" d="100"/>
      </p:scale>
      <p:origin x="0" y="-306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15294-8BCE-4B15-84C9-4E8D5074478D}" type="datetimeFigureOut">
              <a:rPr lang="en-US" smtClean="0"/>
              <a:t>4/25/2025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56329-1779-487C-B587-BBABA473AA7C}" type="slidenum">
              <a:rPr lang="en-US" smtClean="0"/>
              <a:t>‹#›</a:t>
            </a:fld>
            <a:endParaRPr lang="en-US"/>
          </a:p>
        </p:txBody>
      </p:sp>
    </p:spTree>
    <p:extLst>
      <p:ext uri="{BB962C8B-B14F-4D97-AF65-F5344CB8AC3E}">
        <p14:creationId xmlns:p14="http://schemas.microsoft.com/office/powerpoint/2010/main" val="1955805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0D6C90F6-6BF9-4708-BB7D-CA22F176AE07}" type="slidenum">
              <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12289" name="Slide Image Placeholder 1"/>
          <p:cNvSpPr>
            <a:spLocks noGrp="1" noRot="1" noChangeAspect="1" noTextEdit="1"/>
          </p:cNvSpPr>
          <p:nvPr>
            <p:ph type="sldImg"/>
          </p:nvPr>
        </p:nvSpPr>
        <p:spPr>
          <a:xfrm>
            <a:off x="992188" y="768350"/>
            <a:ext cx="5114925" cy="3836988"/>
          </a:xfrm>
          <a:ln/>
        </p:spPr>
      </p:sp>
      <p:sp>
        <p:nvSpPr>
          <p:cNvPr id="12290" name="Notes Placeholder 2"/>
          <p:cNvSpPr>
            <a:spLocks noGrp="1"/>
          </p:cNvSpPr>
          <p:nvPr>
            <p:ph type="body" idx="1"/>
          </p:nvPr>
        </p:nvSpPr>
        <p:spPr>
          <a:noFill/>
          <a:ln/>
        </p:spPr>
        <p:txBody>
          <a:bodyPr/>
          <a:lstStyle/>
          <a:p>
            <a:endParaRPr lang="en-US" baseline="0" dirty="0">
              <a:ea typeface="ＭＳ Ｐゴシック"/>
              <a:cs typeface="ＭＳ Ｐゴシック"/>
            </a:endParaRPr>
          </a:p>
        </p:txBody>
      </p:sp>
      <p:sp>
        <p:nvSpPr>
          <p:cNvPr id="12291"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marL="0" marR="0" lvl="0" indent="0" algn="r" defTabSz="990600" rtl="0" eaLnBrk="1" fontAlgn="base" latinLnBrk="0" hangingPunct="1">
              <a:lnSpc>
                <a:spcPct val="100000"/>
              </a:lnSpc>
              <a:spcBef>
                <a:spcPct val="0"/>
              </a:spcBef>
              <a:spcAft>
                <a:spcPct val="0"/>
              </a:spcAft>
              <a:buClrTx/>
              <a:buSzTx/>
              <a:buFontTx/>
              <a:buNone/>
              <a:tabLst/>
              <a:defRPr/>
            </a:pPr>
            <a:fld id="{105165CB-49A6-4291-B934-0D35AB6D5249}" type="slidenum">
              <a:rPr kumimoji="0" lang="en-AU" sz="1300" b="0" i="0" u="none" strike="noStrike" kern="1200" cap="none" spc="0" normalizeH="0" baseline="0" noProof="0">
                <a:ln>
                  <a:noFill/>
                </a:ln>
                <a:solidFill>
                  <a:srgbClr val="000000"/>
                </a:solidFill>
                <a:effectLst/>
                <a:uLnTx/>
                <a:uFillTx/>
                <a:latin typeface="Arial" charset="0"/>
                <a:ea typeface="ＭＳ Ｐゴシック"/>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a:cs typeface="+mn-cs"/>
            </a:endParaRPr>
          </a:p>
        </p:txBody>
      </p:sp>
    </p:spTree>
    <p:extLst>
      <p:ext uri="{BB962C8B-B14F-4D97-AF65-F5344CB8AC3E}">
        <p14:creationId xmlns:p14="http://schemas.microsoft.com/office/powerpoint/2010/main" val="9117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endParaRPr lang="en-US" sz="1200" dirty="0"/>
          </a:p>
        </p:txBody>
      </p:sp>
      <p:sp>
        <p:nvSpPr>
          <p:cNvPr id="4" name="Slide Number Placeholder 3"/>
          <p:cNvSpPr>
            <a:spLocks noGrp="1"/>
          </p:cNvSpPr>
          <p:nvPr>
            <p:ph type="sldNum" sz="quarter" idx="5"/>
          </p:nvPr>
        </p:nvSpPr>
        <p:spPr/>
        <p:txBody>
          <a:bodyPr/>
          <a:lstStyle/>
          <a:p>
            <a:fld id="{35356329-1779-487C-B587-BBABA473AA7C}" type="slidenum">
              <a:rPr lang="en-US" smtClean="0"/>
              <a:t>2</a:t>
            </a:fld>
            <a:endParaRPr lang="en-US"/>
          </a:p>
        </p:txBody>
      </p:sp>
    </p:spTree>
    <p:extLst>
      <p:ext uri="{BB962C8B-B14F-4D97-AF65-F5344CB8AC3E}">
        <p14:creationId xmlns:p14="http://schemas.microsoft.com/office/powerpoint/2010/main" val="245462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important to understand why decision making can be so challenging. Exhibit 3.1 illustrates several characteristics of managerial decisions that contribute to their difficulty and pressure.</a:t>
            </a:r>
          </a:p>
        </p:txBody>
      </p:sp>
      <p:sp>
        <p:nvSpPr>
          <p:cNvPr id="4" name="Slide Number Placeholder 3"/>
          <p:cNvSpPr>
            <a:spLocks noGrp="1"/>
          </p:cNvSpPr>
          <p:nvPr>
            <p:ph type="sldNum" sz="quarter" idx="5"/>
          </p:nvPr>
        </p:nvSpPr>
        <p:spPr/>
        <p:txBody>
          <a:bodyPr/>
          <a:lstStyle/>
          <a:p>
            <a:fld id="{35356329-1779-487C-B587-BBABA473AA7C}" type="slidenum">
              <a:rPr lang="en-US" smtClean="0"/>
              <a:t>3</a:t>
            </a:fld>
            <a:endParaRPr lang="en-US"/>
          </a:p>
        </p:txBody>
      </p:sp>
    </p:spTree>
    <p:extLst>
      <p:ext uri="{BB962C8B-B14F-4D97-AF65-F5344CB8AC3E}">
        <p14:creationId xmlns:p14="http://schemas.microsoft.com/office/powerpoint/2010/main" val="354468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repeats the planning steps.</a:t>
            </a:r>
          </a:p>
        </p:txBody>
      </p:sp>
      <p:sp>
        <p:nvSpPr>
          <p:cNvPr id="4" name="Slide Number Placeholder 3"/>
          <p:cNvSpPr>
            <a:spLocks noGrp="1"/>
          </p:cNvSpPr>
          <p:nvPr>
            <p:ph type="sldNum" sz="quarter" idx="5"/>
          </p:nvPr>
        </p:nvSpPr>
        <p:spPr/>
        <p:txBody>
          <a:bodyPr/>
          <a:lstStyle/>
          <a:p>
            <a:fld id="{35356329-1779-487C-B587-BBABA473AA7C}" type="slidenum">
              <a:rPr lang="en-US" smtClean="0"/>
              <a:t>4</a:t>
            </a:fld>
            <a:endParaRPr lang="en-US"/>
          </a:p>
        </p:txBody>
      </p:sp>
    </p:spTree>
    <p:extLst>
      <p:ext uri="{BB962C8B-B14F-4D97-AF65-F5344CB8AC3E}">
        <p14:creationId xmlns:p14="http://schemas.microsoft.com/office/powerpoint/2010/main" val="2535739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01D59BE-D277-46E3-93E0-2DB425D3D42C}" type="slidenum">
              <a:rPr lang="en-US" smtClean="0"/>
              <a:pPr>
                <a:defRPr/>
              </a:pPr>
              <a:t>5</a:t>
            </a:fld>
            <a:endParaRPr lang="en-US" dirty="0"/>
          </a:p>
        </p:txBody>
      </p:sp>
    </p:spTree>
    <p:extLst>
      <p:ext uri="{BB962C8B-B14F-4D97-AF65-F5344CB8AC3E}">
        <p14:creationId xmlns:p14="http://schemas.microsoft.com/office/powerpoint/2010/main" val="3008722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indent="0">
              <a:buFontTx/>
              <a:buNone/>
            </a:pPr>
            <a:r>
              <a:rPr lang="en-US" dirty="0"/>
              <a:t>Based on the situational analysis, the planning process should generate multiple goals that could be pursued and various plans for achieving them.  This step should stress creativity and encourage managers and employees to think broadly about their work. </a:t>
            </a:r>
          </a:p>
          <a:p>
            <a:pPr marL="0" indent="0">
              <a:buFontTx/>
              <a:buNone/>
            </a:pPr>
            <a:endParaRPr lang="en-US" b="1" i="1" dirty="0"/>
          </a:p>
          <a:p>
            <a:pPr marL="0" indent="0">
              <a:buFontTx/>
              <a:buNone/>
            </a:pPr>
            <a:r>
              <a:rPr lang="en-US" b="1" i="1" dirty="0"/>
              <a:t>Goals</a:t>
            </a:r>
            <a:r>
              <a:rPr lang="en-US" dirty="0"/>
              <a:t> are the targets or ends the manager wants to reach. </a:t>
            </a:r>
            <a:r>
              <a:rPr lang="en-US" b="1" dirty="0"/>
              <a:t>Plans</a:t>
            </a:r>
            <a:r>
              <a:rPr lang="en-US" dirty="0"/>
              <a:t> are the actions or means the manager intends to use to achieve goals. </a:t>
            </a:r>
          </a:p>
          <a:p>
            <a:pPr marL="0" indent="0">
              <a:buFontTx/>
              <a:buNone/>
            </a:pPr>
            <a:endParaRPr lang="en-US" dirty="0"/>
          </a:p>
          <a:p>
            <a:pPr marL="0" indent="0">
              <a:buFontTx/>
              <a:buNone/>
            </a:pPr>
            <a:r>
              <a:rPr lang="en-US" dirty="0"/>
              <a:t>At a minimum, plans should outline alternative actions attaining each goal, the resources required to reach the goal through those means, and the obstacles that may develop.</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6</a:t>
            </a:fld>
            <a:endParaRPr lang="en-US" dirty="0"/>
          </a:p>
        </p:txBody>
      </p:sp>
    </p:spTree>
    <p:extLst>
      <p:ext uri="{BB962C8B-B14F-4D97-AF65-F5344CB8AC3E}">
        <p14:creationId xmlns:p14="http://schemas.microsoft.com/office/powerpoint/2010/main" val="3577545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particular, they will pay a great deal of attention to the cost of any initiative and the predicted return on investment. </a:t>
            </a:r>
            <a:endParaRPr lang="en-US" dirty="0"/>
          </a:p>
        </p:txBody>
      </p:sp>
      <p:sp>
        <p:nvSpPr>
          <p:cNvPr id="4" name="Slide Number Placeholder 3"/>
          <p:cNvSpPr>
            <a:spLocks noGrp="1"/>
          </p:cNvSpPr>
          <p:nvPr>
            <p:ph type="sldNum" sz="quarter" idx="5"/>
          </p:nvPr>
        </p:nvSpPr>
        <p:spPr/>
        <p:txBody>
          <a:bodyPr/>
          <a:lstStyle/>
          <a:p>
            <a:pPr>
              <a:defRPr/>
            </a:pPr>
            <a:fld id="{E01D59BE-D277-46E3-93E0-2DB425D3D42C}" type="slidenum">
              <a:rPr lang="en-US" smtClean="0"/>
              <a:pPr>
                <a:defRPr/>
              </a:pPr>
              <a:t>7</a:t>
            </a:fld>
            <a:endParaRPr lang="en-US" dirty="0"/>
          </a:p>
        </p:txBody>
      </p:sp>
    </p:spTree>
    <p:extLst>
      <p:ext uri="{BB962C8B-B14F-4D97-AF65-F5344CB8AC3E}">
        <p14:creationId xmlns:p14="http://schemas.microsoft.com/office/powerpoint/2010/main" val="817916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Once managers have assessed the various goals and plans, they try to select the best. The evaluation process helps to identify trade-offs and decide what to do.</a:t>
            </a:r>
            <a:br>
              <a:rPr lang="en-US" dirty="0"/>
            </a:br>
            <a:endParaRPr lang="en-US" dirty="0"/>
          </a:p>
          <a:p>
            <a:pPr marL="0" indent="0">
              <a:buFontTx/>
              <a:buNone/>
            </a:pPr>
            <a:r>
              <a:rPr lang="en-US" b="1" dirty="0"/>
              <a:t>Scenario</a:t>
            </a:r>
            <a:r>
              <a:rPr lang="en-US" dirty="0"/>
              <a:t>: a narrative that describes a particular set of future conditions.</a:t>
            </a:r>
          </a:p>
        </p:txBody>
      </p:sp>
      <p:sp>
        <p:nvSpPr>
          <p:cNvPr id="4" name="Slide Number Placeholder 3"/>
          <p:cNvSpPr>
            <a:spLocks noGrp="1"/>
          </p:cNvSpPr>
          <p:nvPr>
            <p:ph type="sldNum" sz="quarter" idx="5"/>
          </p:nvPr>
        </p:nvSpPr>
        <p:spPr/>
        <p:txBody>
          <a:bodyPr/>
          <a:lstStyle/>
          <a:p>
            <a:fld id="{35356329-1779-487C-B587-BBABA473AA7C}" type="slidenum">
              <a:rPr lang="en-US" smtClean="0"/>
              <a:t>8</a:t>
            </a:fld>
            <a:endParaRPr lang="en-US"/>
          </a:p>
        </p:txBody>
      </p:sp>
    </p:spTree>
    <p:extLst>
      <p:ext uri="{BB962C8B-B14F-4D97-AF65-F5344CB8AC3E}">
        <p14:creationId xmlns:p14="http://schemas.microsoft.com/office/powerpoint/2010/main" val="2173636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xfrm>
            <a:off x="1196975" y="692150"/>
            <a:ext cx="4622800" cy="3468688"/>
          </a:xfrm>
          <a:noFill/>
          <a:ln>
            <a:solidFill>
              <a:srgbClr val="000000"/>
            </a:solidFill>
            <a:miter lim="800000"/>
            <a:headEnd/>
            <a:tailEnd/>
          </a:ln>
        </p:spPr>
      </p:sp>
      <p:sp>
        <p:nvSpPr>
          <p:cNvPr id="58371" name="Notes Placeholder 2"/>
          <p:cNvSpPr>
            <a:spLocks noGrp="1"/>
          </p:cNvSpPr>
          <p:nvPr>
            <p:ph type="body" idx="1"/>
          </p:nvPr>
        </p:nvSpPr>
        <p:spPr bwMode="auto">
          <a:noFill/>
        </p:spPr>
        <p:txBody>
          <a:bodyPr wrap="square" numCol="1" anchor="t" anchorCtr="0" compatLnSpc="1">
            <a:prstTxWarp prst="textNoShape">
              <a:avLst/>
            </a:prstTxWarp>
          </a:bodyPr>
          <a:lstStyle/>
          <a:p>
            <a:pPr marL="0" indent="0">
              <a:buFontTx/>
              <a:buNone/>
            </a:pPr>
            <a:r>
              <a:rPr lang="en-US" dirty="0"/>
              <a:t>Once managers have assessed the various goals and plans, they try to select the best. The evaluation process helps to identify trade-offs and decide what to do.</a:t>
            </a:r>
            <a:br>
              <a:rPr lang="en-US" dirty="0"/>
            </a:br>
            <a:endParaRPr lang="en-US" dirty="0"/>
          </a:p>
          <a:p>
            <a:pPr marL="0" indent="0">
              <a:buFontTx/>
              <a:buNone/>
            </a:pPr>
            <a:r>
              <a:rPr lang="en-US" b="1" dirty="0"/>
              <a:t>Scenario</a:t>
            </a:r>
            <a:r>
              <a:rPr lang="en-US" dirty="0"/>
              <a:t>: a narrative that describes a particular set of future conditions.</a:t>
            </a:r>
          </a:p>
        </p:txBody>
      </p:sp>
      <p:sp>
        <p:nvSpPr>
          <p:cNvPr id="58372"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endParaRPr lang="en-US" dirty="0"/>
          </a:p>
        </p:txBody>
      </p:sp>
      <p:sp>
        <p:nvSpPr>
          <p:cNvPr id="58373" name="Slide Number Placeholder 4"/>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F0D3943-8A1F-4B60-BFB7-365C8DCA5376}" type="slidenum">
              <a:rPr lang="en-US"/>
              <a:pPr fontAlgn="base">
                <a:spcBef>
                  <a:spcPct val="0"/>
                </a:spcBef>
                <a:spcAft>
                  <a:spcPct val="0"/>
                </a:spcAft>
              </a:pPr>
              <a:t>9</a:t>
            </a:fld>
            <a:endParaRPr lang="en-US" dirty="0"/>
          </a:p>
        </p:txBody>
      </p:sp>
    </p:spTree>
    <p:extLst>
      <p:ext uri="{BB962C8B-B14F-4D97-AF65-F5344CB8AC3E}">
        <p14:creationId xmlns:p14="http://schemas.microsoft.com/office/powerpoint/2010/main" val="1175807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Without monitoring, you will never know whether your plan is succeeding.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10</a:t>
            </a:fld>
            <a:endParaRPr lang="en-US" dirty="0"/>
          </a:p>
        </p:txBody>
      </p:sp>
    </p:spTree>
    <p:extLst>
      <p:ext uri="{BB962C8B-B14F-4D97-AF65-F5344CB8AC3E}">
        <p14:creationId xmlns:p14="http://schemas.microsoft.com/office/powerpoint/2010/main" val="255241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lvl="0" indent="0">
              <a:buFontTx/>
              <a:buNone/>
            </a:pPr>
            <a:r>
              <a:rPr lang="en-US" sz="1200" b="1" kern="1200" dirty="0">
                <a:solidFill>
                  <a:schemeClr val="tx1"/>
                </a:solidFill>
                <a:effectLst/>
                <a:latin typeface="+mn-lt"/>
                <a:ea typeface="+mn-ea"/>
                <a:cs typeface="+mn-cs"/>
              </a:rPr>
              <a:t>The discussion of the social enterprise can be extended these questions.</a:t>
            </a:r>
          </a:p>
          <a:p>
            <a:r>
              <a:rPr lang="en-US" sz="1200" b="0" i="0" u="none" strike="noStrike" kern="1200" baseline="0" dirty="0">
                <a:solidFill>
                  <a:schemeClr val="tx1"/>
                </a:solidFill>
                <a:latin typeface="+mn-lt"/>
                <a:ea typeface="+mn-ea"/>
                <a:cs typeface="+mn-cs"/>
              </a:rPr>
              <a:t>1. Why do you think more companies don’t incorporate a TBL philosophy into their bylaws? </a:t>
            </a:r>
          </a:p>
          <a:p>
            <a:r>
              <a:rPr lang="en-US" sz="1200" b="0" i="0" u="none" strike="noStrike" kern="1200" baseline="0" dirty="0">
                <a:solidFill>
                  <a:schemeClr val="tx1"/>
                </a:solidFill>
                <a:latin typeface="+mn-lt"/>
                <a:ea typeface="+mn-ea"/>
                <a:cs typeface="+mn-cs"/>
              </a:rPr>
              <a:t>2. Assume you want your employer to consider adopting a TBL philosophy. How would you pitch the idea? With whom would you speak?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11</a:t>
            </a:fld>
            <a:endParaRPr lang="en-US" dirty="0"/>
          </a:p>
        </p:txBody>
      </p:sp>
    </p:spTree>
    <p:extLst>
      <p:ext uri="{BB962C8B-B14F-4D97-AF65-F5344CB8AC3E}">
        <p14:creationId xmlns:p14="http://schemas.microsoft.com/office/powerpoint/2010/main" val="1599002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In Chapter 1, you learned about the three major types of managers: top-level (strategic managers), middle-level (tactical managers), and frontline (operational managers). Because planning is an important management function, managers at all levels engage in it. However, the scope and activities of the planning process differ at different levels.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A </a:t>
            </a:r>
            <a:r>
              <a:rPr lang="en-US" sz="1200" b="1" i="0" u="none" strike="noStrike" kern="1200" baseline="0" dirty="0">
                <a:solidFill>
                  <a:schemeClr val="tx1"/>
                </a:solidFill>
                <a:latin typeface="+mn-lt"/>
                <a:ea typeface="+mn-ea"/>
                <a:cs typeface="+mn-cs"/>
              </a:rPr>
              <a:t>strategy </a:t>
            </a:r>
            <a:r>
              <a:rPr lang="en-US" sz="1200" b="0" i="0" u="none" strike="noStrike" kern="1200" baseline="0" dirty="0">
                <a:solidFill>
                  <a:schemeClr val="tx1"/>
                </a:solidFill>
                <a:latin typeface="+mn-lt"/>
                <a:ea typeface="+mn-ea"/>
                <a:cs typeface="+mn-cs"/>
              </a:rPr>
              <a:t>is a pattern of actions and resource allocations designed to achieve the goals of the organization .</a:t>
            </a:r>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12</a:t>
            </a:fld>
            <a:endParaRPr lang="en-US" dirty="0"/>
          </a:p>
        </p:txBody>
      </p:sp>
    </p:spTree>
    <p:extLst>
      <p:ext uri="{BB962C8B-B14F-4D97-AF65-F5344CB8AC3E}">
        <p14:creationId xmlns:p14="http://schemas.microsoft.com/office/powerpoint/2010/main" val="585991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13</a:t>
            </a:fld>
            <a:endParaRPr lang="en-US" dirty="0"/>
          </a:p>
        </p:txBody>
      </p:sp>
    </p:spTree>
    <p:extLst>
      <p:ext uri="{BB962C8B-B14F-4D97-AF65-F5344CB8AC3E}">
        <p14:creationId xmlns:p14="http://schemas.microsoft.com/office/powerpoint/2010/main" val="1688137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i="1" dirty="0"/>
          </a:p>
        </p:txBody>
      </p:sp>
      <p:sp>
        <p:nvSpPr>
          <p:cNvPr id="4" name="Slide Number Placeholder 3"/>
          <p:cNvSpPr>
            <a:spLocks noGrp="1"/>
          </p:cNvSpPr>
          <p:nvPr>
            <p:ph type="sldNum" sz="quarter" idx="5"/>
          </p:nvPr>
        </p:nvSpPr>
        <p:spPr/>
        <p:txBody>
          <a:bodyPr/>
          <a:lstStyle/>
          <a:p>
            <a:fld id="{35356329-1779-487C-B587-BBABA473AA7C}" type="slidenum">
              <a:rPr lang="en-US" smtClean="0"/>
              <a:t>14</a:t>
            </a:fld>
            <a:endParaRPr lang="en-US"/>
          </a:p>
        </p:txBody>
      </p:sp>
    </p:spTree>
    <p:extLst>
      <p:ext uri="{BB962C8B-B14F-4D97-AF65-F5344CB8AC3E}">
        <p14:creationId xmlns:p14="http://schemas.microsoft.com/office/powerpoint/2010/main" val="1737924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Tactical planning translates broad strategic goals and plans into specific goals and plans that are relevant to a particular unit in the organization, often a functional area like marketing or human resources. Tactical plans focus on the major actions a unit must take to fulfill its part of the strategic plan. </a:t>
            </a:r>
          </a:p>
          <a:p>
            <a:endParaRPr lang="en-US" dirty="0"/>
          </a:p>
          <a:p>
            <a:r>
              <a:rPr lang="en-US" dirty="0"/>
              <a:t>Operational planning identifies the specific procedures and processes required at lower levels of the organization. Frontline managers usually focus on routine tasks such as production runs, customer service product updates, delivery schedules, and human resources.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15</a:t>
            </a:fld>
            <a:endParaRPr lang="en-US" dirty="0"/>
          </a:p>
        </p:txBody>
      </p:sp>
    </p:spTree>
    <p:extLst>
      <p:ext uri="{BB962C8B-B14F-4D97-AF65-F5344CB8AC3E}">
        <p14:creationId xmlns:p14="http://schemas.microsoft.com/office/powerpoint/2010/main" val="3049831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Exhibit 4.4 </a:t>
            </a:r>
            <a:r>
              <a:rPr lang="en-US" dirty="0"/>
              <a:t>shows a strategy map and how the various goals of the organization relate to each other to create long-term value for the firm. </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35356329-1779-487C-B587-BBABA473AA7C}" type="slidenum">
              <a:rPr lang="en-US" smtClean="0"/>
              <a:t>16</a:t>
            </a:fld>
            <a:endParaRPr lang="en-US"/>
          </a:p>
        </p:txBody>
      </p:sp>
    </p:spTree>
    <p:extLst>
      <p:ext uri="{BB962C8B-B14F-4D97-AF65-F5344CB8AC3E}">
        <p14:creationId xmlns:p14="http://schemas.microsoft.com/office/powerpoint/2010/main" val="1780650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Because of these trends, firms often use the term </a:t>
            </a:r>
            <a:r>
              <a:rPr lang="en-US" i="1" dirty="0"/>
              <a:t>strategic management </a:t>
            </a:r>
            <a:r>
              <a:rPr lang="en-US" dirty="0"/>
              <a:t>to describe the process. Strategic management involves managers from all parts of the organization in the formulation and implementation of strategic goals and strategies. It integrates strategic planning and management into a single process and uses a SWOT analysis.</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17</a:t>
            </a:fld>
            <a:endParaRPr lang="en-US" dirty="0"/>
          </a:p>
        </p:txBody>
      </p:sp>
    </p:spTree>
    <p:extLst>
      <p:ext uri="{BB962C8B-B14F-4D97-AF65-F5344CB8AC3E}">
        <p14:creationId xmlns:p14="http://schemas.microsoft.com/office/powerpoint/2010/main" val="1600142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The first step in strategic planning is establishing a mission, a vision, and goals for the organization. The mission is a clear and concise expression of the basic purpose of the organization. It describes what the organization does, for whom it does it, its basic good or service.</a:t>
            </a:r>
            <a:br>
              <a:rPr lang="en-US" dirty="0"/>
            </a:br>
            <a:endParaRPr lang="en-US" dirty="0"/>
          </a:p>
          <a:p>
            <a:r>
              <a:rPr lang="en-US" dirty="0"/>
              <a:t>The </a:t>
            </a:r>
            <a:r>
              <a:rPr lang="en-US" b="1" dirty="0"/>
              <a:t>strategic vision </a:t>
            </a:r>
            <a:r>
              <a:rPr lang="en-US" dirty="0"/>
              <a:t>points to the future—it provides a perspective on where the organization is headed and what it can become. Ideally, the vision statement clarifies the long-term direction of the company and its strategic intent.</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18</a:t>
            </a:fld>
            <a:endParaRPr lang="en-US" dirty="0"/>
          </a:p>
        </p:txBody>
      </p:sp>
    </p:spTree>
    <p:extLst>
      <p:ext uri="{BB962C8B-B14F-4D97-AF65-F5344CB8AC3E}">
        <p14:creationId xmlns:p14="http://schemas.microsoft.com/office/powerpoint/2010/main" val="1603278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Stakeholders include buyers, suppliers, competitors, government and regulatory agencies, unions and employee groups, the financial community, owners and shareholders, and trade associations. The environmental analysis assesses these stakeholders and the ways they influence the organization. </a:t>
            </a:r>
            <a:r>
              <a:rPr lang="en-US" sz="1200" b="0" i="0" u="none" strike="noStrike" kern="1200" baseline="0" dirty="0">
                <a:solidFill>
                  <a:schemeClr val="tx1"/>
                </a:solidFill>
                <a:latin typeface="+mn-lt"/>
                <a:ea typeface="+mn-ea"/>
                <a:cs typeface="+mn-cs"/>
              </a:rPr>
              <a:t>The environmental analysis also should examine other forces in the environment, such as economic conditions and technological factors.</a:t>
            </a:r>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19</a:t>
            </a:fld>
            <a:endParaRPr lang="en-US" dirty="0"/>
          </a:p>
        </p:txBody>
      </p:sp>
    </p:spTree>
    <p:extLst>
      <p:ext uri="{BB962C8B-B14F-4D97-AF65-F5344CB8AC3E}">
        <p14:creationId xmlns:p14="http://schemas.microsoft.com/office/powerpoint/2010/main" val="4014246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Exhibit 4.6</a:t>
            </a:r>
            <a:r>
              <a:rPr lang="en-US" b="1" baseline="0" dirty="0"/>
              <a:t> </a:t>
            </a:r>
            <a:r>
              <a:rPr lang="en-US" baseline="0" dirty="0"/>
              <a:t>is </a:t>
            </a:r>
            <a:r>
              <a:rPr lang="en-US" dirty="0"/>
              <a:t>abbreviated on the slide. The important activities in an environmental analysis include the ones shown here.</a:t>
            </a:r>
          </a:p>
        </p:txBody>
      </p:sp>
      <p:sp>
        <p:nvSpPr>
          <p:cNvPr id="4" name="Slide Number Placeholder 3"/>
          <p:cNvSpPr>
            <a:spLocks noGrp="1"/>
          </p:cNvSpPr>
          <p:nvPr>
            <p:ph type="sldNum" sz="quarter" idx="5"/>
          </p:nvPr>
        </p:nvSpPr>
        <p:spPr/>
        <p:txBody>
          <a:bodyPr/>
          <a:lstStyle/>
          <a:p>
            <a:fld id="{35356329-1779-487C-B587-BBABA473AA7C}" type="slidenum">
              <a:rPr lang="en-US" smtClean="0"/>
              <a:t>20</a:t>
            </a:fld>
            <a:endParaRPr lang="en-US"/>
          </a:p>
        </p:txBody>
      </p:sp>
    </p:spTree>
    <p:extLst>
      <p:ext uri="{BB962C8B-B14F-4D97-AF65-F5344CB8AC3E}">
        <p14:creationId xmlns:p14="http://schemas.microsoft.com/office/powerpoint/2010/main" val="1674691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managers conduct an external analysis, they also assess the strengths and weaknesses of major functional areas inside their organization. Exhibit 4.7 lists some of the major components of this internal resource analysis. </a:t>
            </a:r>
          </a:p>
        </p:txBody>
      </p:sp>
      <p:sp>
        <p:nvSpPr>
          <p:cNvPr id="4" name="Slide Number Placeholder 3"/>
          <p:cNvSpPr>
            <a:spLocks noGrp="1"/>
          </p:cNvSpPr>
          <p:nvPr>
            <p:ph type="sldNum" sz="quarter" idx="5"/>
          </p:nvPr>
        </p:nvSpPr>
        <p:spPr/>
        <p:txBody>
          <a:bodyPr/>
          <a:lstStyle/>
          <a:p>
            <a:fld id="{35356329-1779-487C-B587-BBABA473AA7C}" type="slidenum">
              <a:rPr lang="en-US" smtClean="0"/>
              <a:t>21</a:t>
            </a:fld>
            <a:endParaRPr lang="en-US"/>
          </a:p>
        </p:txBody>
      </p:sp>
    </p:spTree>
    <p:extLst>
      <p:ext uri="{BB962C8B-B14F-4D97-AF65-F5344CB8AC3E}">
        <p14:creationId xmlns:p14="http://schemas.microsoft.com/office/powerpoint/2010/main" val="3338573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22</a:t>
            </a:fld>
            <a:endParaRPr lang="en-US" dirty="0"/>
          </a:p>
        </p:txBody>
      </p:sp>
    </p:spTree>
    <p:extLst>
      <p:ext uri="{BB962C8B-B14F-4D97-AF65-F5344CB8AC3E}">
        <p14:creationId xmlns:p14="http://schemas.microsoft.com/office/powerpoint/2010/main" val="1671186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A resource provides advantage if it is instrumental in creating customer value—increasing the benefits customers derive from a good or service relative to the costs they incur. Second, resources are a source of advantage if they are rare and not equally available to all competitors. Even for extremely valuable resources, if all competitors have equal access, the resource cannot provide competitive advantage. Third, resources provide competitive advantage if they are difficult to imitate. Fourth,</a:t>
            </a:r>
            <a:r>
              <a:rPr lang="en-US" baseline="0" dirty="0"/>
              <a:t> the resources must be organized.</a:t>
            </a:r>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23</a:t>
            </a:fld>
            <a:endParaRPr lang="en-US" dirty="0"/>
          </a:p>
        </p:txBody>
      </p:sp>
    </p:spTree>
    <p:extLst>
      <p:ext uri="{BB962C8B-B14F-4D97-AF65-F5344CB8AC3E}">
        <p14:creationId xmlns:p14="http://schemas.microsoft.com/office/powerpoint/2010/main" val="358863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indent="0">
              <a:buFont typeface="+mj-lt"/>
              <a:buNone/>
            </a:pPr>
            <a:r>
              <a:rPr lang="en-US" sz="1200" b="0" i="0" u="none" strike="noStrike" kern="1200" baseline="0" dirty="0">
                <a:solidFill>
                  <a:schemeClr val="tx1"/>
                </a:solidFill>
                <a:latin typeface="+mn-lt"/>
                <a:ea typeface="+mn-ea"/>
                <a:cs typeface="+mn-cs"/>
              </a:rPr>
              <a:t>An important bias that inhibits benchmarking is the </a:t>
            </a:r>
            <a:r>
              <a:rPr lang="en-US" sz="1200" b="1" i="0" u="none" strike="noStrike" kern="1200" baseline="0" dirty="0">
                <a:solidFill>
                  <a:schemeClr val="tx1"/>
                </a:solidFill>
                <a:latin typeface="+mn-lt"/>
                <a:ea typeface="+mn-ea"/>
                <a:cs typeface="+mn-cs"/>
              </a:rPr>
              <a:t>Not Invented Here (NIH) syndrome</a:t>
            </a:r>
            <a:r>
              <a:rPr lang="en-US" sz="1200" b="0" i="0" u="none" strike="noStrike" kern="1200" baseline="0" dirty="0">
                <a:solidFill>
                  <a:schemeClr val="tx1"/>
                </a:solidFill>
                <a:latin typeface="+mn-lt"/>
                <a:ea typeface="+mn-ea"/>
                <a:cs typeface="+mn-cs"/>
              </a:rPr>
              <a:t>: a negative attitude toward knowledge (ideas, technologies) derived from an external source.</a:t>
            </a:r>
            <a:endParaRPr lang="en-US" dirty="0"/>
          </a:p>
        </p:txBody>
      </p:sp>
      <p:sp>
        <p:nvSpPr>
          <p:cNvPr id="4" name="Slide Number Placeholder 3"/>
          <p:cNvSpPr>
            <a:spLocks noGrp="1"/>
          </p:cNvSpPr>
          <p:nvPr>
            <p:ph type="sldNum" sz="quarter" idx="5"/>
          </p:nvPr>
        </p:nvSpPr>
        <p:spPr/>
        <p:txBody>
          <a:bodyPr/>
          <a:lstStyle/>
          <a:p>
            <a:pPr>
              <a:defRPr/>
            </a:pPr>
            <a:fld id="{E01D59BE-D277-46E3-93E0-2DB425D3D42C}" type="slidenum">
              <a:rPr lang="en-US" smtClean="0"/>
              <a:pPr>
                <a:defRPr/>
              </a:pPr>
              <a:t>24</a:t>
            </a:fld>
            <a:endParaRPr lang="en-US" dirty="0"/>
          </a:p>
        </p:txBody>
      </p:sp>
    </p:spTree>
    <p:extLst>
      <p:ext uri="{BB962C8B-B14F-4D97-AF65-F5344CB8AC3E}">
        <p14:creationId xmlns:p14="http://schemas.microsoft.com/office/powerpoint/2010/main" val="3823499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b="1" dirty="0"/>
              <a:t>S</a:t>
            </a:r>
            <a:r>
              <a:rPr lang="en-US" dirty="0"/>
              <a:t>trengths (internal)</a:t>
            </a:r>
          </a:p>
          <a:p>
            <a:r>
              <a:rPr lang="en-US" b="1" dirty="0"/>
              <a:t>W</a:t>
            </a:r>
            <a:r>
              <a:rPr lang="en-US" dirty="0"/>
              <a:t>eaknesses (internal)</a:t>
            </a:r>
          </a:p>
          <a:p>
            <a:r>
              <a:rPr lang="en-US" b="1" dirty="0"/>
              <a:t>O</a:t>
            </a:r>
            <a:r>
              <a:rPr lang="en-US" dirty="0"/>
              <a:t>pportunities (external)</a:t>
            </a:r>
          </a:p>
          <a:p>
            <a:r>
              <a:rPr lang="en-US" b="1" dirty="0"/>
              <a:t>T</a:t>
            </a:r>
            <a:r>
              <a:rPr lang="en-US" dirty="0"/>
              <a:t>hreats (external)</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25</a:t>
            </a:fld>
            <a:endParaRPr lang="en-US" dirty="0"/>
          </a:p>
        </p:txBody>
      </p:sp>
    </p:spTree>
    <p:extLst>
      <p:ext uri="{BB962C8B-B14F-4D97-AF65-F5344CB8AC3E}">
        <p14:creationId xmlns:p14="http://schemas.microsoft.com/office/powerpoint/2010/main" val="1631493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managers have analyzed the external environment and the internal resources of the organization, they have the information they need to assess the organization’s strengths, weaknesses, opportunities, and threats. SWOT analysis helps managers summarize the relevant, important facts from their external and internal analyses.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26</a:t>
            </a:fld>
            <a:endParaRPr lang="en-US" dirty="0"/>
          </a:p>
        </p:txBody>
      </p:sp>
    </p:spTree>
    <p:extLst>
      <p:ext uri="{BB962C8B-B14F-4D97-AF65-F5344CB8AC3E}">
        <p14:creationId xmlns:p14="http://schemas.microsoft.com/office/powerpoint/2010/main" val="2395516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xfrm>
            <a:off x="1196975" y="692150"/>
            <a:ext cx="4622800" cy="3468688"/>
          </a:xfrm>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A corporate strategy identifies the set of businesses, markets, or industries in which the organization competes and the distribution of resources among those businesses. There</a:t>
            </a:r>
            <a:r>
              <a:rPr lang="en-US" baseline="0" dirty="0"/>
              <a:t> are</a:t>
            </a:r>
            <a:r>
              <a:rPr lang="en-US" dirty="0"/>
              <a:t> four basic alternatives for a corporate strategy, ranging from very specialized to highly diverse. </a:t>
            </a:r>
          </a:p>
          <a:p>
            <a:r>
              <a:rPr lang="en-US" dirty="0"/>
              <a:t>A </a:t>
            </a:r>
            <a:r>
              <a:rPr lang="en-US" b="1" dirty="0"/>
              <a:t>concentration</a:t>
            </a:r>
            <a:r>
              <a:rPr lang="en-US" dirty="0"/>
              <a:t> strategy focuses on a single business competing in a single industry. </a:t>
            </a:r>
            <a:r>
              <a:rPr lang="en-US" b="1" dirty="0"/>
              <a:t>A vertical integration </a:t>
            </a:r>
            <a:r>
              <a:rPr lang="en-US" dirty="0"/>
              <a:t>strategy involves expanding the domain of the organization into supply channels or distributors. A strategy of </a:t>
            </a:r>
            <a:r>
              <a:rPr lang="en-US" b="1" dirty="0"/>
              <a:t>concentric</a:t>
            </a:r>
            <a:r>
              <a:rPr lang="en-US" dirty="0"/>
              <a:t> </a:t>
            </a:r>
            <a:r>
              <a:rPr lang="en-US" b="1" dirty="0"/>
              <a:t>diversification</a:t>
            </a:r>
            <a:r>
              <a:rPr lang="en-US" dirty="0"/>
              <a:t> involves moving into new businesses that are related to the company’s original core business. In contrast to concentric diversification, </a:t>
            </a:r>
            <a:r>
              <a:rPr lang="en-US" b="1" i="0" dirty="0"/>
              <a:t>conglomerate diversification</a:t>
            </a:r>
            <a:r>
              <a:rPr lang="en-US" i="0" dirty="0"/>
              <a:t> </a:t>
            </a:r>
            <a:r>
              <a:rPr lang="en-US" dirty="0"/>
              <a:t>is a corporate strategy that involves expansion into unrelated businesses. </a:t>
            </a:r>
          </a:p>
        </p:txBody>
      </p:sp>
      <p:sp>
        <p:nvSpPr>
          <p:cNvPr id="614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98194CD-E7BE-408F-A1ED-59A8985267EF}" type="slidenum">
              <a:rPr lang="en-US">
                <a:cs typeface="Arial" charset="0"/>
              </a:rPr>
              <a:pPr fontAlgn="base">
                <a:spcBef>
                  <a:spcPct val="0"/>
                </a:spcBef>
                <a:spcAft>
                  <a:spcPct val="0"/>
                </a:spcAft>
              </a:pPr>
              <a:t>27</a:t>
            </a:fld>
            <a:endParaRPr lang="en-US" dirty="0">
              <a:cs typeface="Arial" charset="0"/>
            </a:endParaRPr>
          </a:p>
        </p:txBody>
      </p:sp>
    </p:spTree>
    <p:extLst>
      <p:ext uri="{BB962C8B-B14F-4D97-AF65-F5344CB8AC3E}">
        <p14:creationId xmlns:p14="http://schemas.microsoft.com/office/powerpoint/2010/main" val="34883503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corporate strategy identifies the set of businesses, markets, or industries in which the organization competes and the distribution of resources among those businesses. </a:t>
            </a:r>
            <a:r>
              <a:rPr lang="en-US" b="1" dirty="0"/>
              <a:t>Exhibit 4.10 </a:t>
            </a:r>
            <a:r>
              <a:rPr lang="en-US" dirty="0"/>
              <a:t>shows four basic alternatives for a corporate strategy, ranging from very specialized to highly diverse. A concentration strategy focuses on a single business competing in a single industry.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28</a:t>
            </a:fld>
            <a:endParaRPr lang="en-US" dirty="0"/>
          </a:p>
        </p:txBody>
      </p:sp>
    </p:spTree>
    <p:extLst>
      <p:ext uri="{BB962C8B-B14F-4D97-AF65-F5344CB8AC3E}">
        <p14:creationId xmlns:p14="http://schemas.microsoft.com/office/powerpoint/2010/main" val="12461387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01D59BE-D277-46E3-93E0-2DB425D3D42C}" type="slidenum">
              <a:rPr lang="en-US" smtClean="0"/>
              <a:pPr>
                <a:defRPr/>
              </a:pPr>
              <a:t>29</a:t>
            </a:fld>
            <a:endParaRPr lang="en-US" dirty="0"/>
          </a:p>
        </p:txBody>
      </p:sp>
    </p:spTree>
    <p:extLst>
      <p:ext uri="{BB962C8B-B14F-4D97-AF65-F5344CB8AC3E}">
        <p14:creationId xmlns:p14="http://schemas.microsoft.com/office/powerpoint/2010/main" val="2549677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Each business in the corporation is plotted on the matrix based on the growth rate of its market and the relative strength of its competitive position in that market (market share). To convey additional information visually, each business can be represented by a circle whose size indicates its contribution to corporate revenues.</a:t>
            </a:r>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30</a:t>
            </a:fld>
            <a:endParaRPr lang="en-US" dirty="0"/>
          </a:p>
        </p:txBody>
      </p:sp>
    </p:spTree>
    <p:extLst>
      <p:ext uri="{BB962C8B-B14F-4D97-AF65-F5344CB8AC3E}">
        <p14:creationId xmlns:p14="http://schemas.microsoft.com/office/powerpoint/2010/main" val="36782845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Once corporate strategies are determined, managers must determine how they will compete in each business area. </a:t>
            </a:r>
            <a:r>
              <a:rPr lang="en-US" b="1" dirty="0"/>
              <a:t>Business strategy </a:t>
            </a:r>
            <a:r>
              <a:rPr lang="en-US" dirty="0"/>
              <a:t>defines the major actions by which an organization builds and strengthens its competitive position in the marketplace. A business can gain competitive advantage using one of two generic business strategies: low cost and differentiation. </a:t>
            </a:r>
          </a:p>
          <a:p>
            <a:endParaRPr lang="en-US" dirty="0"/>
          </a:p>
          <a:p>
            <a:r>
              <a:rPr lang="en-US" dirty="0"/>
              <a:t>Businesses using a </a:t>
            </a:r>
            <a:r>
              <a:rPr lang="en-US" b="1" dirty="0"/>
              <a:t>low-cost strategy </a:t>
            </a:r>
            <a:r>
              <a:rPr lang="en-US" dirty="0"/>
              <a:t>attempt to be efficient and offer a standard, no-frills product. Alternatively, an organization may pursue a </a:t>
            </a:r>
            <a:r>
              <a:rPr lang="en-US" b="1" dirty="0"/>
              <a:t>differentiation strategy</a:t>
            </a:r>
            <a:r>
              <a:rPr lang="en-US" dirty="0"/>
              <a:t>. With a differentiation strategy, a company attempts to be unique in its industry or market segment along some dimensions that customers value.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31</a:t>
            </a:fld>
            <a:endParaRPr lang="en-US" dirty="0"/>
          </a:p>
        </p:txBody>
      </p:sp>
    </p:spTree>
    <p:extLst>
      <p:ext uri="{BB962C8B-B14F-4D97-AF65-F5344CB8AC3E}">
        <p14:creationId xmlns:p14="http://schemas.microsoft.com/office/powerpoint/2010/main" val="28215636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The final step in strategy formulation is to establish the major functional strategies. Functional strategies are implemented by each functional area of the organization to support the business strategy.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32</a:t>
            </a:fld>
            <a:endParaRPr lang="en-US" dirty="0"/>
          </a:p>
        </p:txBody>
      </p:sp>
    </p:spTree>
    <p:extLst>
      <p:ext uri="{BB962C8B-B14F-4D97-AF65-F5344CB8AC3E}">
        <p14:creationId xmlns:p14="http://schemas.microsoft.com/office/powerpoint/2010/main" val="618106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As with any plan, simply formulating a good strategy is not enough. Strategic managers also must ensure that the new strategies are implemented effectively and efficiently. The best executives and strategy consultants realize that clever planning techniques and a good strategy do not guarantee success </a:t>
            </a:r>
            <a:r>
              <a:rPr lang="en-US" dirty="0"/>
              <a:t>.</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33</a:t>
            </a:fld>
            <a:endParaRPr lang="en-US" dirty="0"/>
          </a:p>
        </p:txBody>
      </p:sp>
    </p:spTree>
    <p:extLst>
      <p:ext uri="{BB962C8B-B14F-4D97-AF65-F5344CB8AC3E}">
        <p14:creationId xmlns:p14="http://schemas.microsoft.com/office/powerpoint/2010/main" val="2503253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01131EC-C7FF-4D82-85F9-640B5A51E007}" type="slidenum">
              <a:rPr lang="en-US">
                <a:cs typeface="Arial" charset="0"/>
              </a:rPr>
              <a:pPr fontAlgn="base">
                <a:spcBef>
                  <a:spcPct val="0"/>
                </a:spcBef>
                <a:spcAft>
                  <a:spcPct val="0"/>
                </a:spcAft>
              </a:pPr>
              <a:t>34</a:t>
            </a:fld>
            <a:endParaRPr lang="en-US" dirty="0">
              <a:cs typeface="Arial" charset="0"/>
            </a:endParaRPr>
          </a:p>
        </p:txBody>
      </p:sp>
      <p:sp>
        <p:nvSpPr>
          <p:cNvPr id="55299" name="Rectangle 2"/>
          <p:cNvSpPr>
            <a:spLocks noGrp="1" noRot="1" noChangeAspect="1" noChangeArrowheads="1" noTextEdit="1"/>
          </p:cNvSpPr>
          <p:nvPr>
            <p:ph type="sldImg"/>
          </p:nvPr>
        </p:nvSpPr>
        <p:spPr bwMode="auto">
          <a:xfrm>
            <a:off x="1198563" y="692150"/>
            <a:ext cx="4616450" cy="3463925"/>
          </a:xfrm>
          <a:solidFill>
            <a:srgbClr val="FFFFFF"/>
          </a:solidFill>
          <a:ln>
            <a:solidFill>
              <a:srgbClr val="000000"/>
            </a:solidFill>
            <a:miter lim="800000"/>
            <a:headEnd/>
            <a:tailEnd/>
          </a:ln>
        </p:spPr>
      </p:sp>
      <p:sp>
        <p:nvSpPr>
          <p:cNvPr id="55300" name="Rectangle 3"/>
          <p:cNvSpPr>
            <a:spLocks noGrp="1" noChangeArrowheads="1"/>
          </p:cNvSpPr>
          <p:nvPr>
            <p:ph type="body" idx="1"/>
          </p:nvPr>
        </p:nvSpPr>
        <p:spPr bwMode="auto">
          <a:xfrm>
            <a:off x="935042" y="4387973"/>
            <a:ext cx="5140317" cy="4155816"/>
          </a:xfrm>
          <a:solidFill>
            <a:srgbClr val="FFFFFF"/>
          </a:solidFill>
          <a:ln>
            <a:solidFill>
              <a:srgbClr val="000000"/>
            </a:solidFill>
            <a:miter lim="800000"/>
            <a:headEnd/>
            <a:tailEnd/>
          </a:ln>
        </p:spPr>
        <p:txBody>
          <a:bodyPr wrap="square" numCol="1" anchor="t" anchorCtr="0" compatLnSpc="1">
            <a:prstTxWarp prst="textNoShape">
              <a:avLst/>
            </a:prstTxWarp>
          </a:bodyPr>
          <a:lstStyle/>
          <a:p>
            <a:r>
              <a:rPr lang="en-US" sz="1000" dirty="0"/>
              <a:t>This slide shows the six silent killers. The remainder of the exhibit lists how to</a:t>
            </a:r>
          </a:p>
          <a:p>
            <a:r>
              <a:rPr lang="en-US" sz="1000" dirty="0"/>
              <a:t> attack these six barriers.</a:t>
            </a:r>
          </a:p>
          <a:p>
            <a:r>
              <a:rPr lang="en-US" sz="1000" b="1" dirty="0"/>
              <a:t>Top-down or laissez-faire senior management style: </a:t>
            </a:r>
            <a:r>
              <a:rPr lang="en-US" sz="1000" dirty="0"/>
              <a:t>The CEO creates a partnership with the top team and lower levels to develop a compelling business direction, create an enabling organizational context, and delegate authority to clearly accountable individuals and teams.</a:t>
            </a:r>
          </a:p>
          <a:p>
            <a:r>
              <a:rPr lang="en-US" sz="1000" b="1" dirty="0"/>
              <a:t>Unclear strategy and conflicting priorities</a:t>
            </a:r>
            <a:r>
              <a:rPr lang="en-US" sz="1000" dirty="0"/>
              <a:t>: The top team, as a group, develops a statement of strategy and priorities that members are willing to stand behind.</a:t>
            </a:r>
          </a:p>
          <a:p>
            <a:r>
              <a:rPr lang="en-US" sz="1000" b="1" dirty="0"/>
              <a:t>An ineffective senior management team</a:t>
            </a:r>
            <a:r>
              <a:rPr lang="en-US" sz="1000" dirty="0"/>
              <a:t>: Involve the top team in all steps in the change process so that its effectiveness is challenged and developed.</a:t>
            </a:r>
          </a:p>
          <a:p>
            <a:r>
              <a:rPr lang="en-US" sz="1000" b="1" dirty="0"/>
              <a:t>Poor vertical communication</a:t>
            </a:r>
            <a:r>
              <a:rPr lang="en-US" sz="1000" dirty="0"/>
              <a:t>: Establish an honest, fact-based dialog with lower levels about the new strategy and the barriers to implementing it.</a:t>
            </a:r>
          </a:p>
          <a:p>
            <a:r>
              <a:rPr lang="en-US" sz="1000" b="1" dirty="0"/>
              <a:t>Poor coordination across functions, businesses, or borders</a:t>
            </a:r>
            <a:r>
              <a:rPr lang="en-US" sz="1000" dirty="0"/>
              <a:t>: Define a set of business wide initiatives and new organizational roles and responsibilities that require “the right people to work together on the right things in the right way to implement the strategy.”</a:t>
            </a:r>
          </a:p>
          <a:p>
            <a:r>
              <a:rPr lang="en-US" sz="1000" b="1" dirty="0"/>
              <a:t>Inadequate down-the-line leadership skills and development</a:t>
            </a:r>
            <a:r>
              <a:rPr lang="en-US" sz="1000" dirty="0"/>
              <a:t>: Lower-level managers develop skills through newly created opportunities to lead change and drive key business initiatives. They are supported with just-in-time coaching, training, and targeted recruitment. Those who still are not able to make the grade must be replaced.</a:t>
            </a:r>
          </a:p>
        </p:txBody>
      </p:sp>
    </p:spTree>
    <p:extLst>
      <p:ext uri="{BB962C8B-B14F-4D97-AF65-F5344CB8AC3E}">
        <p14:creationId xmlns:p14="http://schemas.microsoft.com/office/powerpoint/2010/main" val="35605061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r>
              <a:rPr lang="en-US" dirty="0"/>
              <a:t>The final component of the strategic management process is strategic control. The system must encourage efficient operations that are consistent with the plan while allowing flexibility to adapt to changing conditions.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35</a:t>
            </a:fld>
            <a:endParaRPr lang="en-US" dirty="0"/>
          </a:p>
        </p:txBody>
      </p:sp>
    </p:spTree>
    <p:extLst>
      <p:ext uri="{BB962C8B-B14F-4D97-AF65-F5344CB8AC3E}">
        <p14:creationId xmlns:p14="http://schemas.microsoft.com/office/powerpoint/2010/main" val="4031743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relists the chapter learning objectives and can be used to review the chapter highlights.</a:t>
            </a:r>
          </a:p>
          <a:p>
            <a:endParaRPr lang="en-US" dirty="0"/>
          </a:p>
          <a:p>
            <a:r>
              <a:rPr lang="en-US" dirty="0"/>
              <a:t>Chapter 5 will focus on ethics,</a:t>
            </a:r>
            <a:r>
              <a:rPr lang="en-US" baseline="0" dirty="0"/>
              <a:t> corporate responsibility and sustainability.</a:t>
            </a: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36</a:t>
            </a:fld>
            <a:endParaRPr lang="en-US"/>
          </a:p>
        </p:txBody>
      </p:sp>
    </p:spTree>
    <p:extLst>
      <p:ext uri="{BB962C8B-B14F-4D97-AF65-F5344CB8AC3E}">
        <p14:creationId xmlns:p14="http://schemas.microsoft.com/office/powerpoint/2010/main" val="3774229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7.xml"/><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6" name="Content Placeholder 5">
            <a:extLst>
              <a:ext uri="{FF2B5EF4-FFF2-40B4-BE49-F238E27FC236}">
                <a16:creationId xmlns:a16="http://schemas.microsoft.com/office/drawing/2014/main" id="{95FB06C8-11A0-4E73-A5CE-7801EB091162}"/>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515965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693BA5A3-DAB5-45C2-AE6D-5271B0A7976C}"/>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03133A46-43F0-4734-A847-009F11688B7F}"/>
              </a:ext>
            </a:extLst>
          </p:cNvPr>
          <p:cNvSpPr>
            <a:spLocks noGrp="1"/>
          </p:cNvSpPr>
          <p:nvPr>
            <p:ph type="body" sz="quarter" idx="14"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vl2pPr>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2pPr>
              <a:spcBef>
                <a:spcPts val="1000"/>
              </a:spcBef>
              <a:spcAft>
                <a:spcPts val="0"/>
              </a:spcAft>
              <a:defRPr/>
            </a:lvl2pPr>
            <a:lvl3pPr>
              <a:spcBef>
                <a:spcPts val="1000"/>
              </a:spcBef>
              <a:spcAft>
                <a:spcPts val="0"/>
              </a:spcAft>
              <a:defRPr/>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F07503B-138D-44F5-84FC-A7637F059B66}"/>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5840A85-FE10-45F4-81E4-A52DE2319ED9}"/>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72A1E447-C26A-4D25-8792-9B7C6A839F37}"/>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CA880A79-A85B-437C-BC20-FC23BDD36F54}"/>
              </a:ext>
            </a:extLst>
          </p:cNvPr>
          <p:cNvSpPr>
            <a:spLocks noGrp="1"/>
          </p:cNvSpPr>
          <p:nvPr>
            <p:ph type="body" sz="quarter" idx="16"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893AC4A-29B0-44AE-8CE5-26A7096591D7}"/>
              </a:ext>
            </a:extLst>
          </p:cNvPr>
          <p:cNvSpPr>
            <a:spLocks noGrp="1"/>
          </p:cNvSpPr>
          <p:nvPr>
            <p:ph type="body" sz="quarter" idx="19"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553357"/>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810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474668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992443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5875130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5750754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BF25DC59-5AB2-417D-B46A-F09F380F8F67}"/>
              </a:ext>
            </a:extLst>
          </p:cNvPr>
          <p:cNvSpPr>
            <a:spLocks noGrp="1"/>
          </p:cNvSpPr>
          <p:nvPr>
            <p:ph sz="quarter" idx="10"/>
          </p:nvPr>
        </p:nvSpPr>
        <p:spPr>
          <a:xfrm>
            <a:off x="277813" y="6526213"/>
            <a:ext cx="8699500" cy="2047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3951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469231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890800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4D3A09E2-C861-4D48-B4DB-F718B64FF46D}"/>
              </a:ext>
            </a:extLst>
          </p:cNvPr>
          <p:cNvSpPr txBox="1">
            <a:spLocks/>
          </p:cNvSpPr>
          <p:nvPr userDrawn="1"/>
        </p:nvSpPr>
        <p:spPr>
          <a:xfrm>
            <a:off x="342900" y="235525"/>
            <a:ext cx="8458200" cy="822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dirty="0"/>
              <a:t>Slide Title</a:t>
            </a:r>
            <a:br>
              <a:rPr lang="en-US" dirty="0"/>
            </a:b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6585788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3678416740"/>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656392814"/>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6" name="Content Placeholder 5">
            <a:extLst>
              <a:ext uri="{FF2B5EF4-FFF2-40B4-BE49-F238E27FC236}">
                <a16:creationId xmlns:a16="http://schemas.microsoft.com/office/drawing/2014/main" id="{95FB06C8-11A0-4E73-A5CE-7801EB091162}"/>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827780"/>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693BA5A3-DAB5-45C2-AE6D-5271B0A7976C}"/>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1958671"/>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3163371627"/>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pic>
        <p:nvPicPr>
          <p:cNvPr id="7" name="Picture 6" descr="ATC Building powerpoint.jpg"/>
          <p:cNvPicPr>
            <a:picLocks noChangeAspect="1"/>
          </p:cNvPicPr>
          <p:nvPr userDrawn="1"/>
        </p:nvPicPr>
        <p:blipFill rotWithShape="1">
          <a:blip r:embed="rId2">
            <a:extLst>
              <a:ext uri="{28A0092B-C50C-407E-A947-70E740481C1C}">
                <a14:useLocalDpi xmlns:a14="http://schemas.microsoft.com/office/drawing/2010/main" val="0"/>
              </a:ext>
            </a:extLst>
          </a:blip>
          <a:srcRect r="11220"/>
          <a:stretch/>
        </p:blipFill>
        <p:spPr>
          <a:xfrm>
            <a:off x="0" y="-1"/>
            <a:ext cx="9144000" cy="6866467"/>
          </a:xfrm>
          <a:prstGeom prst="rect">
            <a:avLst/>
          </a:prstGeom>
        </p:spPr>
      </p:pic>
      <p:pic>
        <p:nvPicPr>
          <p:cNvPr id="8" name="Picture 7"/>
          <p:cNvPicPr>
            <a:picLocks noChangeAspect="1"/>
          </p:cNvPicPr>
          <p:nvPr userDrawn="1"/>
        </p:nvPicPr>
        <p:blipFill>
          <a:blip r:embed="rId3"/>
          <a:stretch>
            <a:fillRect/>
          </a:stretch>
        </p:blipFill>
        <p:spPr>
          <a:xfrm>
            <a:off x="6268085" y="5346700"/>
            <a:ext cx="2456815" cy="927100"/>
          </a:xfrm>
          <a:prstGeom prst="rect">
            <a:avLst/>
          </a:prstGeom>
        </p:spPr>
      </p:pic>
      <p:pic>
        <p:nvPicPr>
          <p:cNvPr id="9" name="Picture 8" descr="DVC Bubbl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8001" y="741679"/>
            <a:ext cx="6776085" cy="3755676"/>
          </a:xfrm>
          <a:prstGeom prst="rect">
            <a:avLst/>
          </a:prstGeom>
        </p:spPr>
      </p:pic>
      <p:sp>
        <p:nvSpPr>
          <p:cNvPr id="11" name="Text Placeholder 9"/>
          <p:cNvSpPr>
            <a:spLocks noGrp="1"/>
          </p:cNvSpPr>
          <p:nvPr>
            <p:ph type="body" sz="quarter" idx="13" hasCustomPrompt="1"/>
          </p:nvPr>
        </p:nvSpPr>
        <p:spPr>
          <a:xfrm>
            <a:off x="295275" y="1200150"/>
            <a:ext cx="5200651" cy="1419367"/>
          </a:xfrm>
          <a:prstGeom prst="rect">
            <a:avLst/>
          </a:prstGeom>
        </p:spPr>
        <p:txBody>
          <a:bodyPr/>
          <a:lstStyle>
            <a:lvl1pPr marL="0" indent="0">
              <a:defRPr sz="2700" baseline="0">
                <a:solidFill>
                  <a:schemeClr val="tx1"/>
                </a:solidFill>
              </a:defRPr>
            </a:lvl1pPr>
          </a:lstStyle>
          <a:p>
            <a:pPr lvl="0"/>
            <a:r>
              <a:rPr lang="en-US" dirty="0"/>
              <a:t>Presentation title</a:t>
            </a:r>
          </a:p>
        </p:txBody>
      </p:sp>
      <p:sp>
        <p:nvSpPr>
          <p:cNvPr id="12" name="Text Placeholder 13"/>
          <p:cNvSpPr>
            <a:spLocks noGrp="1"/>
          </p:cNvSpPr>
          <p:nvPr>
            <p:ph type="body" sz="quarter" idx="14" hasCustomPrompt="1"/>
          </p:nvPr>
        </p:nvSpPr>
        <p:spPr>
          <a:xfrm>
            <a:off x="304800" y="3114676"/>
            <a:ext cx="4133850" cy="1133475"/>
          </a:xfrm>
          <a:prstGeom prst="rect">
            <a:avLst/>
          </a:prstGeom>
        </p:spPr>
        <p:txBody>
          <a:bodyPr/>
          <a:lstStyle>
            <a:lvl1pPr marL="0" indent="0">
              <a:defRPr baseline="0"/>
            </a:lvl1pPr>
          </a:lstStyle>
          <a:p>
            <a:pPr lvl="0"/>
            <a:r>
              <a:rPr lang="en-US" dirty="0"/>
              <a:t>Presenter</a:t>
            </a:r>
          </a:p>
        </p:txBody>
      </p:sp>
      <p:pic>
        <p:nvPicPr>
          <p:cNvPr id="13" name="Picture 7" descr="swin logo v.png"/>
          <p:cNvPicPr>
            <a:picLocks noChangeAspect="1"/>
          </p:cNvPicPr>
          <p:nvPr userDrawn="1"/>
        </p:nvPicPr>
        <p:blipFill>
          <a:blip r:embed="rId5"/>
          <a:srcRect/>
          <a:stretch>
            <a:fillRect/>
          </a:stretch>
        </p:blipFill>
        <p:spPr bwMode="auto">
          <a:xfrm>
            <a:off x="7699376" y="0"/>
            <a:ext cx="1444625" cy="2882900"/>
          </a:xfrm>
          <a:prstGeom prst="rect">
            <a:avLst/>
          </a:prstGeom>
          <a:noFill/>
          <a:ln w="9525">
            <a:noFill/>
            <a:miter lim="800000"/>
            <a:headEnd/>
            <a:tailEnd/>
          </a:ln>
        </p:spPr>
      </p:pic>
    </p:spTree>
    <p:extLst>
      <p:ext uri="{BB962C8B-B14F-4D97-AF65-F5344CB8AC3E}">
        <p14:creationId xmlns:p14="http://schemas.microsoft.com/office/powerpoint/2010/main" val="1181505927"/>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theme" Target="../theme/theme7.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04" r:id="rId3"/>
    <p:sldLayoutId id="2147483682" r:id="rId4"/>
    <p:sldLayoutId id="2147483683" r:id="rId5"/>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F7BFBE01-8512-49BF-81D6-10C5E13594C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9" r:id="rId7"/>
    <p:sldLayoutId id="2147483713" r:id="rId8"/>
    <p:sldLayoutId id="2147483714" r:id="rId9"/>
    <p:sldLayoutId id="2147483715" r:id="rId10"/>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800" kern="1200">
          <a:solidFill>
            <a:schemeClr val="tx2"/>
          </a:solidFill>
          <a:latin typeface="+mn-lt"/>
          <a:ea typeface="+mn-ea"/>
          <a:cs typeface="+mn-cs"/>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841519326"/>
      </p:ext>
    </p:extLst>
  </p:cSld>
  <p:clrMap bg1="lt1" tx1="dk1" bg2="lt2" tx2="dk2" accent1="accent1" accent2="accent2" accent3="accent3" accent4="accent4" accent5="accent5" accent6="accent6" hlink="hlink" folHlink="folHlink"/>
  <p:sldLayoutIdLst>
    <p:sldLayoutId id="2147483707" r:id="rId1"/>
    <p:sldLayoutId id="214748370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4032941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www.optimizemag.co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28.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272846" y="990600"/>
            <a:ext cx="5487287" cy="1898341"/>
          </a:xfrm>
        </p:spPr>
        <p:txBody>
          <a:bodyPr>
            <a:noAutofit/>
          </a:bodyPr>
          <a:lstStyle/>
          <a:p>
            <a:pPr>
              <a:buNone/>
            </a:pPr>
            <a:r>
              <a:rPr lang="en-AU" sz="3200" dirty="0"/>
              <a:t>MGT10009 Contemporary Management Principles</a:t>
            </a:r>
            <a:endParaRPr lang="en-GB" sz="3200" dirty="0">
              <a:latin typeface="Arial" pitchFamily="34" charset="0"/>
              <a:cs typeface="Arial" pitchFamily="34" charset="0"/>
            </a:endParaRPr>
          </a:p>
          <a:p>
            <a:pPr>
              <a:buNone/>
            </a:pPr>
            <a:r>
              <a:rPr lang="en-AU" sz="3200" dirty="0"/>
              <a:t> </a:t>
            </a:r>
            <a:r>
              <a:rPr lang="en-AU" sz="2400" dirty="0"/>
              <a:t>Lecture 9 Planning &amp; Strategic Mgt</a:t>
            </a:r>
          </a:p>
        </p:txBody>
      </p:sp>
      <p:sp>
        <p:nvSpPr>
          <p:cNvPr id="5" name="Text Placeholder 4"/>
          <p:cNvSpPr>
            <a:spLocks noGrp="1"/>
          </p:cNvSpPr>
          <p:nvPr>
            <p:ph type="body" sz="quarter" idx="14"/>
          </p:nvPr>
        </p:nvSpPr>
        <p:spPr>
          <a:xfrm>
            <a:off x="339213" y="2983707"/>
            <a:ext cx="4132775" cy="1417402"/>
          </a:xfrm>
        </p:spPr>
        <p:txBody>
          <a:bodyPr/>
          <a:lstStyle/>
          <a:p>
            <a:pPr>
              <a:buNone/>
            </a:pPr>
            <a:r>
              <a:rPr lang="en-AU" sz="2400" dirty="0"/>
              <a:t>Dr David Qian </a:t>
            </a:r>
            <a:r>
              <a:rPr lang="en-AU" sz="1600" dirty="0"/>
              <a:t>dqian@swin.edu.au</a:t>
            </a:r>
          </a:p>
          <a:p>
            <a:pPr>
              <a:buNone/>
            </a:pPr>
            <a:r>
              <a:rPr lang="en-AU" sz="2400" dirty="0"/>
              <a:t>Peter Moran </a:t>
            </a:r>
            <a:r>
              <a:rPr lang="en-AU" sz="1600" dirty="0"/>
              <a:t>pmoran@swin.edu.au</a:t>
            </a:r>
          </a:p>
        </p:txBody>
      </p:sp>
    </p:spTree>
    <p:extLst>
      <p:ext uri="{BB962C8B-B14F-4D97-AF65-F5344CB8AC3E}">
        <p14:creationId xmlns:p14="http://schemas.microsoft.com/office/powerpoint/2010/main" val="24396756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2C6F-64D4-4FC0-A590-011A0A3CE9C6}"/>
              </a:ext>
            </a:extLst>
          </p:cNvPr>
          <p:cNvSpPr>
            <a:spLocks noGrp="1"/>
          </p:cNvSpPr>
          <p:nvPr>
            <p:ph type="title"/>
          </p:nvPr>
        </p:nvSpPr>
        <p:spPr>
          <a:solidFill>
            <a:srgbClr val="FFFF00"/>
          </a:solidFill>
        </p:spPr>
        <p:txBody>
          <a:bodyPr/>
          <a:lstStyle/>
          <a:p>
            <a:pPr algn="ctr"/>
            <a:r>
              <a:rPr lang="en-US" noProof="0" dirty="0">
                <a:solidFill>
                  <a:srgbClr val="FF0000"/>
                </a:solidFill>
              </a:rPr>
              <a:t>Learning</a:t>
            </a:r>
            <a:r>
              <a:rPr lang="en-US" noProof="0" dirty="0"/>
              <a:t> </a:t>
            </a:r>
            <a:r>
              <a:rPr lang="en-US" noProof="0" dirty="0">
                <a:solidFill>
                  <a:srgbClr val="FF0000"/>
                </a:solidFill>
              </a:rPr>
              <a:t>Objectives</a:t>
            </a:r>
          </a:p>
        </p:txBody>
      </p:sp>
      <p:sp>
        <p:nvSpPr>
          <p:cNvPr id="3" name="Content Placeholder 2">
            <a:extLst>
              <a:ext uri="{FF2B5EF4-FFF2-40B4-BE49-F238E27FC236}">
                <a16:creationId xmlns:a16="http://schemas.microsoft.com/office/drawing/2014/main" id="{FA3088DE-9021-45DB-9A88-DA3E305FC7F3}"/>
              </a:ext>
            </a:extLst>
          </p:cNvPr>
          <p:cNvSpPr>
            <a:spLocks noGrp="1"/>
          </p:cNvSpPr>
          <p:nvPr>
            <p:ph sz="quarter" idx="11"/>
          </p:nvPr>
        </p:nvSpPr>
        <p:spPr>
          <a:xfrm>
            <a:off x="342900" y="1276709"/>
            <a:ext cx="8458200" cy="5257655"/>
          </a:xfrm>
        </p:spPr>
        <p:txBody>
          <a:bodyPr>
            <a:noAutofit/>
          </a:bodyPr>
          <a:lstStyle/>
          <a:p>
            <a:pPr marL="800100" indent="-800100"/>
            <a:r>
              <a:rPr lang="en-US" sz="2200" b="1" noProof="0" dirty="0">
                <a:solidFill>
                  <a:srgbClr val="E21A23"/>
                </a:solidFill>
              </a:rPr>
              <a:t>4-1 </a:t>
            </a:r>
            <a:r>
              <a:rPr lang="en-US" sz="2200" noProof="0" dirty="0">
                <a:solidFill>
                  <a:prstClr val="black"/>
                </a:solidFill>
              </a:rPr>
              <a:t>Summarize the basic steps in any planning process</a:t>
            </a:r>
            <a:r>
              <a:rPr lang="en-US" sz="2200" noProof="0" dirty="0"/>
              <a:t>.</a:t>
            </a:r>
          </a:p>
          <a:p>
            <a:pPr marL="452438" indent="-452438"/>
            <a:r>
              <a:rPr lang="en-US" sz="2200" b="1" noProof="0" dirty="0">
                <a:solidFill>
                  <a:srgbClr val="E21A23"/>
                </a:solidFill>
              </a:rPr>
              <a:t>4-2 </a:t>
            </a:r>
            <a:r>
              <a:rPr lang="en-US" sz="2200" noProof="0" dirty="0">
                <a:solidFill>
                  <a:prstClr val="black"/>
                </a:solidFill>
              </a:rPr>
              <a:t>Describe how to integrate strategic planning with tactical and operational planning</a:t>
            </a:r>
            <a:r>
              <a:rPr lang="en-US" sz="2200" noProof="0" dirty="0"/>
              <a:t>.</a:t>
            </a:r>
          </a:p>
          <a:p>
            <a:pPr marL="452438" indent="-452438"/>
            <a:r>
              <a:rPr lang="en-US" sz="2200" b="1" noProof="0" dirty="0">
                <a:solidFill>
                  <a:srgbClr val="E21A23"/>
                </a:solidFill>
              </a:rPr>
              <a:t>4-3 </a:t>
            </a:r>
            <a:r>
              <a:rPr lang="en-US" sz="2200" noProof="0" dirty="0">
                <a:solidFill>
                  <a:prstClr val="black"/>
                </a:solidFill>
              </a:rPr>
              <a:t>Identify elements of the external environment and internal resources of the firm to analyze before formulating a strategy</a:t>
            </a:r>
            <a:r>
              <a:rPr lang="en-US" sz="2200" noProof="0" dirty="0"/>
              <a:t>.</a:t>
            </a:r>
          </a:p>
          <a:p>
            <a:pPr marL="452438" indent="-452438"/>
            <a:r>
              <a:rPr lang="en-US" sz="2200" b="1" noProof="0" dirty="0">
                <a:solidFill>
                  <a:srgbClr val="E21A23"/>
                </a:solidFill>
              </a:rPr>
              <a:t>4-4</a:t>
            </a:r>
            <a:r>
              <a:rPr lang="en-US" sz="2200" noProof="0" dirty="0">
                <a:solidFill>
                  <a:srgbClr val="15499F"/>
                </a:solidFill>
              </a:rPr>
              <a:t> </a:t>
            </a:r>
            <a:r>
              <a:rPr lang="en-US" sz="2200" noProof="0" dirty="0">
                <a:solidFill>
                  <a:prstClr val="black"/>
                </a:solidFill>
              </a:rPr>
              <a:t>Define core capabilities and explain how they provide the foundation for business strategy</a:t>
            </a:r>
            <a:r>
              <a:rPr lang="en-US" sz="2200" noProof="0" dirty="0"/>
              <a:t>.</a:t>
            </a:r>
          </a:p>
          <a:p>
            <a:pPr marL="452438" indent="-452438">
              <a:defRPr/>
            </a:pPr>
            <a:r>
              <a:rPr lang="en-US" sz="2200" b="1" noProof="0" dirty="0">
                <a:solidFill>
                  <a:srgbClr val="E21A23"/>
                </a:solidFill>
              </a:rPr>
              <a:t>4-5</a:t>
            </a:r>
            <a:r>
              <a:rPr lang="en-US" sz="2200" b="1" noProof="0" dirty="0">
                <a:solidFill>
                  <a:srgbClr val="CC3300"/>
                </a:solidFill>
              </a:rPr>
              <a:t> </a:t>
            </a:r>
            <a:r>
              <a:rPr lang="en-US" sz="2200" noProof="0" dirty="0">
                <a:solidFill>
                  <a:prstClr val="black"/>
                </a:solidFill>
              </a:rPr>
              <a:t>Summarize the types of choices available for corporate strategy</a:t>
            </a:r>
            <a:r>
              <a:rPr lang="en-US" sz="2200" noProof="0" dirty="0"/>
              <a:t>.</a:t>
            </a:r>
          </a:p>
          <a:p>
            <a:pPr marL="452438" indent="-452438">
              <a:defRPr/>
            </a:pPr>
            <a:r>
              <a:rPr lang="en-US" sz="2200" b="1" noProof="0" dirty="0">
                <a:solidFill>
                  <a:srgbClr val="E21A23"/>
                </a:solidFill>
              </a:rPr>
              <a:t>4-6 </a:t>
            </a:r>
            <a:r>
              <a:rPr lang="en-US" sz="2200" noProof="0" dirty="0">
                <a:solidFill>
                  <a:prstClr val="black"/>
                </a:solidFill>
              </a:rPr>
              <a:t>Discuss how companies can achieve competitive advantage through business strategy</a:t>
            </a:r>
            <a:r>
              <a:rPr lang="en-US" sz="2200" noProof="0" dirty="0"/>
              <a:t>.</a:t>
            </a:r>
          </a:p>
          <a:p>
            <a:pPr marL="800100" indent="-800100">
              <a:defRPr/>
            </a:pPr>
            <a:r>
              <a:rPr lang="en-US" sz="2200" b="1" noProof="0" dirty="0">
                <a:solidFill>
                  <a:srgbClr val="E21A23"/>
                </a:solidFill>
              </a:rPr>
              <a:t>4-7 </a:t>
            </a:r>
            <a:r>
              <a:rPr lang="en-US" sz="2200" noProof="0" dirty="0">
                <a:solidFill>
                  <a:prstClr val="black"/>
                </a:solidFill>
              </a:rPr>
              <a:t>Describe the keys to effective strategy implementation</a:t>
            </a:r>
            <a:r>
              <a:rPr lang="en-US" sz="2200" noProof="0" dirty="0"/>
              <a:t>.</a:t>
            </a:r>
          </a:p>
        </p:txBody>
      </p:sp>
      <p:sp>
        <p:nvSpPr>
          <p:cNvPr id="6" name="Slide Number Placeholder 5">
            <a:extLst>
              <a:ext uri="{FF2B5EF4-FFF2-40B4-BE49-F238E27FC236}">
                <a16:creationId xmlns:a16="http://schemas.microsoft.com/office/drawing/2014/main" id="{1F0334C2-0494-4F34-A8A9-FF516597A4BF}"/>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278085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09652-89B2-4438-9DD6-4A404FF1F61F}"/>
              </a:ext>
            </a:extLst>
          </p:cNvPr>
          <p:cNvSpPr>
            <a:spLocks noGrp="1"/>
          </p:cNvSpPr>
          <p:nvPr>
            <p:ph type="title"/>
          </p:nvPr>
        </p:nvSpPr>
        <p:spPr>
          <a:solidFill>
            <a:srgbClr val="FFFF00"/>
          </a:solidFill>
        </p:spPr>
        <p:txBody>
          <a:bodyPr>
            <a:normAutofit fontScale="90000"/>
          </a:bodyPr>
          <a:lstStyle/>
          <a:p>
            <a:pPr algn="ctr"/>
            <a:r>
              <a:rPr lang="en-US" sz="1000" noProof="0" dirty="0"/>
              <a:t>Exhibit 4.1 </a:t>
            </a:r>
            <a:r>
              <a:rPr lang="en-US" noProof="0" dirty="0"/>
              <a:t>Decision-Making Stages and Formal Planning Steps</a:t>
            </a:r>
          </a:p>
        </p:txBody>
      </p:sp>
      <p:pic>
        <p:nvPicPr>
          <p:cNvPr id="3" name="Picture 2" descr="Decision-Making Stages and Formal Planning Steps">
            <a:extLst>
              <a:ext uri="{FF2B5EF4-FFF2-40B4-BE49-F238E27FC236}">
                <a16:creationId xmlns:a16="http://schemas.microsoft.com/office/drawing/2014/main" id="{25ED16A1-AB54-4D98-A0D0-CE9C449DC421}"/>
              </a:ext>
            </a:extLst>
          </p:cNvPr>
          <p:cNvPicPr>
            <a:picLocks noChangeAspect="1"/>
          </p:cNvPicPr>
          <p:nvPr/>
        </p:nvPicPr>
        <p:blipFill>
          <a:blip r:embed="rId3"/>
          <a:stretch>
            <a:fillRect/>
          </a:stretch>
        </p:blipFill>
        <p:spPr>
          <a:xfrm>
            <a:off x="2452173" y="1501247"/>
            <a:ext cx="4239654" cy="4383697"/>
          </a:xfrm>
          <a:prstGeom prst="rect">
            <a:avLst/>
          </a:prstGeom>
        </p:spPr>
      </p:pic>
      <p:sp>
        <p:nvSpPr>
          <p:cNvPr id="4" name="Text Placeholder 3">
            <a:extLst>
              <a:ext uri="{FF2B5EF4-FFF2-40B4-BE49-F238E27FC236}">
                <a16:creationId xmlns:a16="http://schemas.microsoft.com/office/drawing/2014/main" id="{99DA3764-D559-4607-92F0-4B785E9535B6}"/>
              </a:ext>
            </a:extLst>
          </p:cNvPr>
          <p:cNvSpPr>
            <a:spLocks noGrp="1"/>
          </p:cNvSpPr>
          <p:nvPr>
            <p:ph type="body" sz="quarter" idx="14"/>
          </p:nvPr>
        </p:nvSpPr>
        <p:spPr/>
        <p:txBody>
          <a:bodyPr/>
          <a:lstStyle/>
          <a:p>
            <a:r>
              <a:rPr lang="en-US" sz="1200" noProof="0" dirty="0">
                <a:hlinkClick r:id="" action="ppaction://noaction"/>
              </a:rPr>
              <a:t>Access the text alternative for slide images.</a:t>
            </a:r>
          </a:p>
        </p:txBody>
      </p:sp>
      <p:sp>
        <p:nvSpPr>
          <p:cNvPr id="6" name="Slide Number Placeholder 5">
            <a:extLst>
              <a:ext uri="{FF2B5EF4-FFF2-40B4-BE49-F238E27FC236}">
                <a16:creationId xmlns:a16="http://schemas.microsoft.com/office/drawing/2014/main" id="{8CFAC584-74B0-4A86-917C-899625FEC698}"/>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2839653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12139-90A5-4C9F-A2F9-B827848E3EBC}"/>
              </a:ext>
            </a:extLst>
          </p:cNvPr>
          <p:cNvSpPr>
            <a:spLocks noGrp="1"/>
          </p:cNvSpPr>
          <p:nvPr>
            <p:ph type="title"/>
          </p:nvPr>
        </p:nvSpPr>
        <p:spPr>
          <a:solidFill>
            <a:srgbClr val="FFFF00"/>
          </a:solidFill>
        </p:spPr>
        <p:txBody>
          <a:bodyPr/>
          <a:lstStyle/>
          <a:p>
            <a:pPr algn="ctr"/>
            <a:r>
              <a:rPr lang="en-US" noProof="0" dirty="0"/>
              <a:t>The Basic Planning Process</a:t>
            </a:r>
          </a:p>
        </p:txBody>
      </p:sp>
      <p:sp>
        <p:nvSpPr>
          <p:cNvPr id="9" name="Content Placeholder 8">
            <a:extLst>
              <a:ext uri="{FF2B5EF4-FFF2-40B4-BE49-F238E27FC236}">
                <a16:creationId xmlns:a16="http://schemas.microsoft.com/office/drawing/2014/main" id="{D17B361F-94ED-4976-B693-7D0E62B14945}"/>
              </a:ext>
            </a:extLst>
          </p:cNvPr>
          <p:cNvSpPr>
            <a:spLocks noGrp="1"/>
          </p:cNvSpPr>
          <p:nvPr>
            <p:ph sz="quarter" idx="11"/>
          </p:nvPr>
        </p:nvSpPr>
        <p:spPr>
          <a:xfrm>
            <a:off x="342900" y="1276709"/>
            <a:ext cx="8458200" cy="4764495"/>
          </a:xfrm>
        </p:spPr>
        <p:txBody>
          <a:bodyPr>
            <a:normAutofit/>
          </a:bodyPr>
          <a:lstStyle/>
          <a:p>
            <a:pPr lvl="0"/>
            <a:r>
              <a:rPr lang="en-US" sz="2600" noProof="0" dirty="0"/>
              <a:t>Step 1: Situational Analysis.</a:t>
            </a:r>
          </a:p>
          <a:p>
            <a:pPr lvl="0"/>
            <a:r>
              <a:rPr lang="en-US" sz="2600" noProof="0" dirty="0"/>
              <a:t>Step 2: Alternative Goals and Plans.</a:t>
            </a:r>
          </a:p>
          <a:p>
            <a:pPr lvl="0"/>
            <a:r>
              <a:rPr lang="en-US" sz="2600" noProof="0" dirty="0"/>
              <a:t>Step 3: Goal and Plan Evaluation.</a:t>
            </a:r>
          </a:p>
          <a:p>
            <a:pPr lvl="0"/>
            <a:r>
              <a:rPr lang="en-US" sz="2600" noProof="0" dirty="0"/>
              <a:t>Step 4: Goal and Plan Selection.</a:t>
            </a:r>
          </a:p>
          <a:p>
            <a:pPr lvl="0"/>
            <a:r>
              <a:rPr lang="en-US" sz="2600" noProof="0" dirty="0"/>
              <a:t>Step 5: Implementing.</a:t>
            </a:r>
          </a:p>
          <a:p>
            <a:pPr lvl="0"/>
            <a:r>
              <a:rPr lang="en-US" sz="2600" noProof="0" dirty="0"/>
              <a:t>Step 6: Monitoring and Controlling.</a:t>
            </a:r>
          </a:p>
        </p:txBody>
      </p:sp>
      <p:sp>
        <p:nvSpPr>
          <p:cNvPr id="7" name="Slide Number Placeholder 6">
            <a:extLst>
              <a:ext uri="{FF2B5EF4-FFF2-40B4-BE49-F238E27FC236}">
                <a16:creationId xmlns:a16="http://schemas.microsoft.com/office/drawing/2014/main" id="{1B8CC890-F930-46E3-9F13-B38EBA6B5166}"/>
              </a:ext>
            </a:extLst>
          </p:cNvPr>
          <p:cNvSpPr>
            <a:spLocks noGrp="1"/>
          </p:cNvSpPr>
          <p:nvPr>
            <p:ph type="sldNum" sz="quarter" idx="10"/>
          </p:nvPr>
        </p:nvSpPr>
        <p:spPr/>
        <p:txBody>
          <a:bodyPr/>
          <a:lstStyle/>
          <a:p>
            <a:fld id="{68151E55-6873-49E2-B8D5-2F265E6F1973}" type="slidenum">
              <a:rPr lang="en-US" smtClean="0"/>
              <a:t>4</a:t>
            </a:fld>
            <a:endParaRPr lang="en-US" dirty="0"/>
          </a:p>
        </p:txBody>
      </p:sp>
      <p:pic>
        <p:nvPicPr>
          <p:cNvPr id="4" name="Graphic 3" descr="Dance steps outline">
            <a:extLst>
              <a:ext uri="{FF2B5EF4-FFF2-40B4-BE49-F238E27FC236}">
                <a16:creationId xmlns:a16="http://schemas.microsoft.com/office/drawing/2014/main" id="{DFBB4F5C-39F3-E0E9-CC6F-B9E0EE48E1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1973" y="3168869"/>
            <a:ext cx="2081048" cy="1899745"/>
          </a:xfrm>
          <a:prstGeom prst="rect">
            <a:avLst/>
          </a:prstGeom>
        </p:spPr>
      </p:pic>
    </p:spTree>
    <p:extLst>
      <p:ext uri="{BB962C8B-B14F-4D97-AF65-F5344CB8AC3E}">
        <p14:creationId xmlns:p14="http://schemas.microsoft.com/office/powerpoint/2010/main" val="3799499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82B7D14-1153-466F-A66C-1EB394C3A6C1}"/>
              </a:ext>
            </a:extLst>
          </p:cNvPr>
          <p:cNvSpPr>
            <a:spLocks noGrp="1"/>
          </p:cNvSpPr>
          <p:nvPr>
            <p:ph type="title"/>
          </p:nvPr>
        </p:nvSpPr>
        <p:spPr>
          <a:solidFill>
            <a:srgbClr val="FFFF00"/>
          </a:solidFill>
        </p:spPr>
        <p:txBody>
          <a:bodyPr>
            <a:noAutofit/>
          </a:bodyPr>
          <a:lstStyle/>
          <a:p>
            <a:pPr algn="ctr"/>
            <a:r>
              <a:rPr lang="en-US" noProof="0" dirty="0"/>
              <a:t>Step 1: Situational Analysis</a:t>
            </a:r>
          </a:p>
        </p:txBody>
      </p:sp>
      <p:sp>
        <p:nvSpPr>
          <p:cNvPr id="3" name="Content Placeholder 2">
            <a:extLst>
              <a:ext uri="{FF2B5EF4-FFF2-40B4-BE49-F238E27FC236}">
                <a16:creationId xmlns:a16="http://schemas.microsoft.com/office/drawing/2014/main" id="{A30E304B-A516-48B6-BEC6-BB2B86C23C6C}"/>
              </a:ext>
            </a:extLst>
          </p:cNvPr>
          <p:cNvSpPr>
            <a:spLocks noGrp="1"/>
          </p:cNvSpPr>
          <p:nvPr>
            <p:ph sz="quarter" idx="11"/>
          </p:nvPr>
        </p:nvSpPr>
        <p:spPr/>
        <p:txBody>
          <a:bodyPr/>
          <a:lstStyle/>
          <a:p>
            <a:r>
              <a:rPr lang="en-US" noProof="0" dirty="0"/>
              <a:t>A process planners use to gather, interpret, and summarize all information relevant to the planning issue under consideration.</a:t>
            </a:r>
          </a:p>
        </p:txBody>
      </p:sp>
      <p:sp>
        <p:nvSpPr>
          <p:cNvPr id="4" name="Slide Number Placeholder 5">
            <a:extLst>
              <a:ext uri="{FF2B5EF4-FFF2-40B4-BE49-F238E27FC236}">
                <a16:creationId xmlns:a16="http://schemas.microsoft.com/office/drawing/2014/main" id="{23A68F4C-7C08-4074-B9FF-4D0C62AB4E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5" name="Graphic 4" descr="Acorn with solid fill">
            <a:extLst>
              <a:ext uri="{FF2B5EF4-FFF2-40B4-BE49-F238E27FC236}">
                <a16:creationId xmlns:a16="http://schemas.microsoft.com/office/drawing/2014/main" id="{CDB7DC90-9F0F-3752-2478-8924C43226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800" y="2971800"/>
            <a:ext cx="2309648" cy="2309648"/>
          </a:xfrm>
          <a:prstGeom prst="rect">
            <a:avLst/>
          </a:prstGeom>
        </p:spPr>
      </p:pic>
    </p:spTree>
    <p:extLst>
      <p:ext uri="{BB962C8B-B14F-4D97-AF65-F5344CB8AC3E}">
        <p14:creationId xmlns:p14="http://schemas.microsoft.com/office/powerpoint/2010/main" val="355866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solidFill>
            <a:srgbClr val="FFFF00"/>
          </a:solidFill>
        </p:spPr>
        <p:txBody>
          <a:bodyPr/>
          <a:lstStyle/>
          <a:p>
            <a:pPr algn="ctr"/>
            <a:r>
              <a:rPr lang="en-US" noProof="0" dirty="0"/>
              <a:t>Step 2: Alternative Goals and Plans</a:t>
            </a:r>
          </a:p>
        </p:txBody>
      </p:sp>
      <p:sp>
        <p:nvSpPr>
          <p:cNvPr id="3" name="Content Placeholder 2">
            <a:extLst>
              <a:ext uri="{FF2B5EF4-FFF2-40B4-BE49-F238E27FC236}">
                <a16:creationId xmlns:a16="http://schemas.microsoft.com/office/drawing/2014/main" id="{8B6B2AD0-9B9B-444B-A40E-4458435355D0}"/>
              </a:ext>
            </a:extLst>
          </p:cNvPr>
          <p:cNvSpPr>
            <a:spLocks noGrp="1"/>
          </p:cNvSpPr>
          <p:nvPr>
            <p:ph sz="quarter" idx="11"/>
          </p:nvPr>
        </p:nvSpPr>
        <p:spPr>
          <a:xfrm>
            <a:off x="342900" y="1276709"/>
            <a:ext cx="8458200" cy="1466491"/>
          </a:xfrm>
        </p:spPr>
        <p:txBody>
          <a:bodyPr/>
          <a:lstStyle/>
          <a:p>
            <a:pPr>
              <a:defRPr/>
            </a:pPr>
            <a:r>
              <a:rPr lang="en-US" b="1" noProof="0" dirty="0"/>
              <a:t>Goals:</a:t>
            </a:r>
          </a:p>
          <a:p>
            <a:pPr lvl="1">
              <a:defRPr/>
            </a:pPr>
            <a:r>
              <a:rPr lang="en-US" noProof="0" dirty="0"/>
              <a:t>The targets or ends that management desires to reach.</a:t>
            </a:r>
          </a:p>
        </p:txBody>
      </p:sp>
      <p:sp>
        <p:nvSpPr>
          <p:cNvPr id="5" name="Content Placeholder 4">
            <a:extLst>
              <a:ext uri="{FF2B5EF4-FFF2-40B4-BE49-F238E27FC236}">
                <a16:creationId xmlns:a16="http://schemas.microsoft.com/office/drawing/2014/main" id="{D44DF2D5-D5F4-4835-B0CC-CBFAAA5FDBC9}"/>
              </a:ext>
            </a:extLst>
          </p:cNvPr>
          <p:cNvSpPr>
            <a:spLocks noGrp="1"/>
          </p:cNvSpPr>
          <p:nvPr>
            <p:ph sz="quarter" idx="14"/>
          </p:nvPr>
        </p:nvSpPr>
        <p:spPr>
          <a:xfrm>
            <a:off x="342900" y="3486112"/>
            <a:ext cx="8458200" cy="2095179"/>
          </a:xfrm>
        </p:spPr>
        <p:txBody>
          <a:bodyPr/>
          <a:lstStyle/>
          <a:p>
            <a:pPr>
              <a:defRPr/>
            </a:pPr>
            <a:r>
              <a:rPr lang="en-US" b="1" noProof="0" dirty="0"/>
              <a:t>Plans:</a:t>
            </a:r>
          </a:p>
          <a:p>
            <a:pPr lvl="1">
              <a:defRPr/>
            </a:pPr>
            <a:r>
              <a:rPr lang="en-US" noProof="0" dirty="0"/>
              <a:t>The actions or means managers intend to use to achieve organizational goals.</a:t>
            </a:r>
          </a:p>
          <a:p>
            <a:pPr lvl="1">
              <a:defRPr/>
            </a:pPr>
            <a:r>
              <a:rPr lang="en-US" noProof="0" dirty="0"/>
              <a:t>Contingency plans are “what if” plans.</a:t>
            </a:r>
          </a:p>
        </p:txBody>
      </p:sp>
      <p:sp>
        <p:nvSpPr>
          <p:cNvPr id="4" name="Slide Number Placeholder 5">
            <a:extLst>
              <a:ext uri="{FF2B5EF4-FFF2-40B4-BE49-F238E27FC236}">
                <a16:creationId xmlns:a16="http://schemas.microsoft.com/office/drawing/2014/main" id="{64DBD18F-071D-45D3-A7C2-9E003F55DAB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6" name="Graphic 5" descr="Soccer Goal with solid fill">
            <a:extLst>
              <a:ext uri="{FF2B5EF4-FFF2-40B4-BE49-F238E27FC236}">
                <a16:creationId xmlns:a16="http://schemas.microsoft.com/office/drawing/2014/main" id="{B13BA901-5475-B025-68F5-E6441108AD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45876" y="1797577"/>
            <a:ext cx="2680138" cy="2680138"/>
          </a:xfrm>
          <a:prstGeom prst="rect">
            <a:avLst/>
          </a:prstGeom>
        </p:spPr>
      </p:pic>
    </p:spTree>
    <p:extLst>
      <p:ext uri="{BB962C8B-B14F-4D97-AF65-F5344CB8AC3E}">
        <p14:creationId xmlns:p14="http://schemas.microsoft.com/office/powerpoint/2010/main" val="2113810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AD7E-8B49-4607-85AA-CC408DD1C82B}"/>
              </a:ext>
            </a:extLst>
          </p:cNvPr>
          <p:cNvSpPr>
            <a:spLocks noGrp="1"/>
          </p:cNvSpPr>
          <p:nvPr>
            <p:ph type="title"/>
          </p:nvPr>
        </p:nvSpPr>
        <p:spPr>
          <a:xfrm>
            <a:off x="342900" y="304800"/>
            <a:ext cx="8458200" cy="678611"/>
          </a:xfrm>
          <a:solidFill>
            <a:srgbClr val="FFFF00"/>
          </a:solidFill>
        </p:spPr>
        <p:txBody>
          <a:bodyPr anchor="t">
            <a:normAutofit/>
          </a:bodyPr>
          <a:lstStyle/>
          <a:p>
            <a:r>
              <a:rPr lang="en-US" noProof="0" dirty="0"/>
              <a:t>Step 3: Goal and Plan Evaluation</a:t>
            </a:r>
          </a:p>
        </p:txBody>
      </p:sp>
      <p:sp>
        <p:nvSpPr>
          <p:cNvPr id="3" name="Content Placeholder 2">
            <a:extLst>
              <a:ext uri="{FF2B5EF4-FFF2-40B4-BE49-F238E27FC236}">
                <a16:creationId xmlns:a16="http://schemas.microsoft.com/office/drawing/2014/main" id="{6BD8F26F-C60A-4EEF-A56E-908CFCEEB345}"/>
              </a:ext>
            </a:extLst>
          </p:cNvPr>
          <p:cNvSpPr>
            <a:spLocks noGrp="1"/>
          </p:cNvSpPr>
          <p:nvPr>
            <p:ph sz="quarter" idx="11"/>
          </p:nvPr>
        </p:nvSpPr>
        <p:spPr>
          <a:xfrm>
            <a:off x="342900" y="1276709"/>
            <a:ext cx="4076700" cy="4971691"/>
          </a:xfrm>
        </p:spPr>
        <p:txBody>
          <a:bodyPr>
            <a:normAutofit/>
          </a:bodyPr>
          <a:lstStyle/>
          <a:p>
            <a:pPr marL="342000" indent="-342000">
              <a:lnSpc>
                <a:spcPct val="90000"/>
              </a:lnSpc>
              <a:buFont typeface="Arial" panose="020B0604020202020204" pitchFamily="34" charset="0"/>
              <a:buChar char="•"/>
            </a:pPr>
            <a:r>
              <a:rPr lang="en-US" sz="2400" noProof="0" dirty="0"/>
              <a:t>Managers evaluate the advantages, disadvantages, and potential effects of each goal and plan.</a:t>
            </a:r>
          </a:p>
          <a:p>
            <a:pPr marL="342000" lvl="0" indent="-342000">
              <a:lnSpc>
                <a:spcPct val="90000"/>
              </a:lnSpc>
              <a:buFont typeface="Arial" panose="020B0604020202020204" pitchFamily="34" charset="0"/>
              <a:buChar char="•"/>
            </a:pPr>
            <a:r>
              <a:rPr lang="en-US" sz="2400" noProof="0" dirty="0"/>
              <a:t>Managers prioritize those goals and eliminate some of them.</a:t>
            </a:r>
          </a:p>
          <a:p>
            <a:pPr marL="342000" indent="-342000">
              <a:lnSpc>
                <a:spcPct val="90000"/>
              </a:lnSpc>
              <a:spcAft>
                <a:spcPts val="2600"/>
              </a:spcAft>
              <a:buFont typeface="Arial" panose="020B0604020202020204" pitchFamily="34" charset="0"/>
              <a:buChar char="•"/>
            </a:pPr>
            <a:r>
              <a:rPr lang="en-US" sz="2400" noProof="0" dirty="0"/>
              <a:t>Managers consider carefully the implications of alternative plans for meeting high-priority goals.</a:t>
            </a:r>
          </a:p>
        </p:txBody>
      </p:sp>
      <p:pic>
        <p:nvPicPr>
          <p:cNvPr id="5" name="Graphic 4" descr="Building Brick Wall with solid fill">
            <a:extLst>
              <a:ext uri="{FF2B5EF4-FFF2-40B4-BE49-F238E27FC236}">
                <a16:creationId xmlns:a16="http://schemas.microsoft.com/office/drawing/2014/main" id="{8586B173-17E3-3510-EEC3-C130186FDC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4400" y="1714500"/>
            <a:ext cx="4076700" cy="4076700"/>
          </a:xfrm>
          <a:prstGeom prst="rect">
            <a:avLst/>
          </a:prstGeom>
        </p:spPr>
      </p:pic>
      <p:sp>
        <p:nvSpPr>
          <p:cNvPr id="12" name="Text Placeholder 4">
            <a:extLst>
              <a:ext uri="{FF2B5EF4-FFF2-40B4-BE49-F238E27FC236}">
                <a16:creationId xmlns:a16="http://schemas.microsoft.com/office/drawing/2014/main" id="{085F671B-2E7E-B744-2170-37204ABEAF89}"/>
              </a:ext>
            </a:extLst>
          </p:cNvPr>
          <p:cNvSpPr>
            <a:spLocks noGrp="1"/>
          </p:cNvSpPr>
          <p:nvPr>
            <p:ph type="body" sz="quarter" idx="12"/>
          </p:nvPr>
        </p:nvSpPr>
        <p:spPr>
          <a:xfrm>
            <a:off x="3369564" y="6324600"/>
            <a:ext cx="2404872" cy="190500"/>
          </a:xfrm>
        </p:spPr>
        <p:txBody>
          <a:bodyPr/>
          <a:lstStyle/>
          <a:p>
            <a:endParaRPr lang="en-US"/>
          </a:p>
        </p:txBody>
      </p:sp>
      <p:sp>
        <p:nvSpPr>
          <p:cNvPr id="14" name="Text Placeholder 5">
            <a:extLst>
              <a:ext uri="{FF2B5EF4-FFF2-40B4-BE49-F238E27FC236}">
                <a16:creationId xmlns:a16="http://schemas.microsoft.com/office/drawing/2014/main" id="{57FAB2A0-07BC-0E90-00C7-19F4B3042730}"/>
              </a:ext>
            </a:extLst>
          </p:cNvPr>
          <p:cNvSpPr>
            <a:spLocks noGrp="1"/>
          </p:cNvSpPr>
          <p:nvPr>
            <p:ph type="body" sz="quarter" idx="13"/>
          </p:nvPr>
        </p:nvSpPr>
        <p:spPr>
          <a:xfrm>
            <a:off x="1562099" y="6684963"/>
            <a:ext cx="6972301" cy="173037"/>
          </a:xfrm>
        </p:spPr>
        <p:txBody>
          <a:bodyPr/>
          <a:lstStyle/>
          <a:p>
            <a:endParaRPr lang="en-US"/>
          </a:p>
        </p:txBody>
      </p:sp>
      <p:sp>
        <p:nvSpPr>
          <p:cNvPr id="7" name="Slide Number Placeholder 6">
            <a:extLst>
              <a:ext uri="{FF2B5EF4-FFF2-40B4-BE49-F238E27FC236}">
                <a16:creationId xmlns:a16="http://schemas.microsoft.com/office/drawing/2014/main" id="{74C7D42B-4930-4339-A7EA-EBC2D328BB39}"/>
              </a:ext>
            </a:extLst>
          </p:cNvPr>
          <p:cNvSpPr>
            <a:spLocks noGrp="1"/>
          </p:cNvSpPr>
          <p:nvPr>
            <p:ph type="sldNum" sz="quarter" idx="10"/>
          </p:nvPr>
        </p:nvSpPr>
        <p:spPr>
          <a:xfrm>
            <a:off x="8626412" y="6673531"/>
            <a:ext cx="355840" cy="161396"/>
          </a:xfrm>
        </p:spPr>
        <p:txBody>
          <a:bodyPr anchor="ctr">
            <a:normAutofit/>
          </a:bodyPr>
          <a:lstStyle/>
          <a:p>
            <a:pPr marL="0" marR="0" lvl="0" indent="0" defTabSz="914400" rtl="0" eaLnBrk="1" fontAlgn="auto" latinLnBrk="0" hangingPunct="1">
              <a:lnSpc>
                <a:spcPct val="90000"/>
              </a:lnSpc>
              <a:spcBef>
                <a:spcPts val="0"/>
              </a:spcBef>
              <a:spcAft>
                <a:spcPts val="600"/>
              </a:spcAft>
              <a:buClrTx/>
              <a:buSzTx/>
              <a:buFontTx/>
              <a:buNone/>
              <a:tabLst/>
              <a:defRPr/>
            </a:pPr>
            <a:fld id="{68151E55-6873-49E2-B8D5-2F265E6F1973}" type="slidenum">
              <a:rPr kumimoji="0" lang="en-US" sz="500" b="0" i="0" u="none" strike="noStrike" kern="1200" cap="none" spc="0" normalizeH="0" baseline="0" noProof="0" smtClean="0">
                <a:ln>
                  <a:noFill/>
                </a:ln>
                <a:solidFill>
                  <a:srgbClr val="000000">
                    <a:lumMod val="65000"/>
                    <a:lumOff val="35000"/>
                  </a:srgbClr>
                </a:solidFill>
                <a:effectLst/>
                <a:uLnTx/>
                <a:uFillTx/>
              </a:rPr>
              <a:pPr marL="0" marR="0" lvl="0" indent="0" defTabSz="914400" rtl="0" eaLnBrk="1" fontAlgn="auto" latinLnBrk="0" hangingPunct="1">
                <a:lnSpc>
                  <a:spcPct val="90000"/>
                </a:lnSpc>
                <a:spcBef>
                  <a:spcPts val="0"/>
                </a:spcBef>
                <a:spcAft>
                  <a:spcPts val="600"/>
                </a:spcAft>
                <a:buClrTx/>
                <a:buSzTx/>
                <a:buFontTx/>
                <a:buNone/>
                <a:tabLst/>
                <a:defRPr/>
              </a:pPr>
              <a:t>7</a:t>
            </a:fld>
            <a:endParaRPr kumimoji="0" lang="en-US" sz="500" b="0" i="0" u="none" strike="noStrike" kern="1200" cap="none" spc="0" normalizeH="0" baseline="0" noProof="0">
              <a:ln>
                <a:noFill/>
              </a:ln>
              <a:solidFill>
                <a:srgbClr val="000000">
                  <a:lumMod val="65000"/>
                  <a:lumOff val="35000"/>
                </a:srgbClr>
              </a:solidFill>
              <a:effectLst/>
              <a:uLnTx/>
              <a:uFillTx/>
            </a:endParaRPr>
          </a:p>
        </p:txBody>
      </p:sp>
    </p:spTree>
    <p:extLst>
      <p:ext uri="{BB962C8B-B14F-4D97-AF65-F5344CB8AC3E}">
        <p14:creationId xmlns:p14="http://schemas.microsoft.com/office/powerpoint/2010/main" val="3589887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D420-F664-48CF-92CB-354A48676DB8}"/>
              </a:ext>
            </a:extLst>
          </p:cNvPr>
          <p:cNvSpPr>
            <a:spLocks noGrp="1"/>
          </p:cNvSpPr>
          <p:nvPr>
            <p:ph type="title"/>
          </p:nvPr>
        </p:nvSpPr>
        <p:spPr>
          <a:solidFill>
            <a:srgbClr val="FFFF00"/>
          </a:solidFill>
        </p:spPr>
        <p:txBody>
          <a:bodyPr/>
          <a:lstStyle/>
          <a:p>
            <a:r>
              <a:rPr lang="en-US" noProof="0" dirty="0"/>
              <a:t>Step 4: Goal and Plan Selection</a:t>
            </a:r>
          </a:p>
        </p:txBody>
      </p:sp>
      <p:sp>
        <p:nvSpPr>
          <p:cNvPr id="6" name="Content Placeholder 5">
            <a:extLst>
              <a:ext uri="{FF2B5EF4-FFF2-40B4-BE49-F238E27FC236}">
                <a16:creationId xmlns:a16="http://schemas.microsoft.com/office/drawing/2014/main" id="{21E897D7-3CFD-45F5-815A-B29A84CAF67E}"/>
              </a:ext>
            </a:extLst>
          </p:cNvPr>
          <p:cNvSpPr>
            <a:spLocks noGrp="1"/>
          </p:cNvSpPr>
          <p:nvPr>
            <p:ph sz="quarter" idx="11"/>
          </p:nvPr>
        </p:nvSpPr>
        <p:spPr>
          <a:xfrm>
            <a:off x="342900" y="1276709"/>
            <a:ext cx="8458200" cy="5082994"/>
          </a:xfrm>
        </p:spPr>
        <p:txBody>
          <a:bodyPr/>
          <a:lstStyle/>
          <a:p>
            <a:pPr marL="342000" lvl="0" indent="-342000">
              <a:buFont typeface="Arial" panose="020B0604020202020204" pitchFamily="34" charset="0"/>
              <a:buChar char="•"/>
            </a:pPr>
            <a:r>
              <a:rPr lang="en-US" noProof="0" dirty="0"/>
              <a:t>Managers will select the option that is most appropriate and feasible.</a:t>
            </a:r>
          </a:p>
          <a:p>
            <a:pPr marL="342000" lvl="0" indent="-342000">
              <a:buFont typeface="Arial" panose="020B0604020202020204" pitchFamily="34" charset="0"/>
              <a:buChar char="•"/>
            </a:pPr>
            <a:r>
              <a:rPr lang="en-US" noProof="0" dirty="0"/>
              <a:t>The evaluation process helps identify the priorities and trade-offs among the goals and plans.</a:t>
            </a:r>
          </a:p>
          <a:p>
            <a:pPr marL="342000" lvl="0" indent="-342000">
              <a:buFont typeface="Arial" panose="020B0604020202020204" pitchFamily="34" charset="0"/>
              <a:buChar char="•"/>
            </a:pPr>
            <a:r>
              <a:rPr lang="en-US" noProof="0" dirty="0"/>
              <a:t>Planning scenarios are generated.</a:t>
            </a:r>
          </a:p>
          <a:p>
            <a:pPr marL="342000" lvl="0" indent="-342000">
              <a:buFont typeface="Arial" panose="020B0604020202020204" pitchFamily="34" charset="0"/>
              <a:buChar char="•"/>
            </a:pPr>
            <a:r>
              <a:rPr lang="en-US" noProof="0" dirty="0"/>
              <a:t>Firm anticipates and manages problems and allows greater flexibility and responsiveness.</a:t>
            </a:r>
          </a:p>
        </p:txBody>
      </p:sp>
      <p:sp>
        <p:nvSpPr>
          <p:cNvPr id="7" name="Slide Number Placeholder 6">
            <a:extLst>
              <a:ext uri="{FF2B5EF4-FFF2-40B4-BE49-F238E27FC236}">
                <a16:creationId xmlns:a16="http://schemas.microsoft.com/office/drawing/2014/main" id="{48A65E6A-A07A-4122-A812-C70FCDB3C74E}"/>
              </a:ext>
            </a:extLst>
          </p:cNvPr>
          <p:cNvSpPr>
            <a:spLocks noGrp="1"/>
          </p:cNvSpPr>
          <p:nvPr>
            <p:ph type="sldNum" sz="quarter" idx="10"/>
          </p:nvPr>
        </p:nvSpPr>
        <p:spPr/>
        <p:txBody>
          <a:bodyPr/>
          <a:lstStyle/>
          <a:p>
            <a:fld id="{68151E55-6873-49E2-B8D5-2F265E6F1973}" type="slidenum">
              <a:rPr lang="en-US" smtClean="0"/>
              <a:t>8</a:t>
            </a:fld>
            <a:endParaRPr lang="en-US" dirty="0"/>
          </a:p>
        </p:txBody>
      </p:sp>
      <p:pic>
        <p:nvPicPr>
          <p:cNvPr id="4" name="Graphic 3" descr="Tic Tac Toe with solid fill">
            <a:extLst>
              <a:ext uri="{FF2B5EF4-FFF2-40B4-BE49-F238E27FC236}">
                <a16:creationId xmlns:a16="http://schemas.microsoft.com/office/drawing/2014/main" id="{14DA9134-C930-CDE3-DD36-767A370124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09847" y="4989786"/>
            <a:ext cx="2207173" cy="1634668"/>
          </a:xfrm>
          <a:prstGeom prst="rect">
            <a:avLst/>
          </a:prstGeom>
        </p:spPr>
      </p:pic>
    </p:spTree>
    <p:extLst>
      <p:ext uri="{BB962C8B-B14F-4D97-AF65-F5344CB8AC3E}">
        <p14:creationId xmlns:p14="http://schemas.microsoft.com/office/powerpoint/2010/main" val="1911871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rtlCol="0">
            <a:noAutofit/>
          </a:bodyPr>
          <a:lstStyle/>
          <a:p>
            <a:pPr algn="ctr" fontAlgn="auto">
              <a:spcAft>
                <a:spcPts val="0"/>
              </a:spcAft>
              <a:defRPr/>
            </a:pPr>
            <a:r>
              <a:rPr lang="en-US" noProof="0" dirty="0"/>
              <a:t>Step 5: Implementing</a:t>
            </a:r>
            <a:endParaRPr lang="en-US" sz="2800" noProof="0" dirty="0"/>
          </a:p>
        </p:txBody>
      </p:sp>
      <p:sp>
        <p:nvSpPr>
          <p:cNvPr id="30723" name="Content Placeholder 5"/>
          <p:cNvSpPr>
            <a:spLocks noGrp="1"/>
          </p:cNvSpPr>
          <p:nvPr>
            <p:ph sz="quarter" idx="11"/>
          </p:nvPr>
        </p:nvSpPr>
        <p:spPr>
          <a:xfrm>
            <a:off x="342900" y="1276709"/>
            <a:ext cx="8458200" cy="3492239"/>
          </a:xfrm>
        </p:spPr>
        <p:txBody>
          <a:bodyPr>
            <a:normAutofit/>
          </a:bodyPr>
          <a:lstStyle/>
          <a:p>
            <a:pPr marL="342000" lvl="0" indent="-342000">
              <a:buFont typeface="Arial" panose="020B0604020202020204" pitchFamily="34" charset="0"/>
              <a:buChar char="•"/>
            </a:pPr>
            <a:r>
              <a:rPr lang="en-US" noProof="0" dirty="0"/>
              <a:t>Managers and employees must understand the plan and have the resources and motivation to implement it.</a:t>
            </a:r>
          </a:p>
          <a:p>
            <a:pPr marL="342000" lvl="0" indent="-342000">
              <a:spcAft>
                <a:spcPts val="2400"/>
              </a:spcAft>
              <a:buFont typeface="Arial" panose="020B0604020202020204" pitchFamily="34" charset="0"/>
              <a:buChar char="•"/>
            </a:pPr>
            <a:r>
              <a:rPr lang="en-US" noProof="0" dirty="0"/>
              <a:t>Successful implementation requires a plan to be linked to other systems in the organization, particularly the budget and reward systems.</a:t>
            </a:r>
          </a:p>
        </p:txBody>
      </p:sp>
      <p:sp>
        <p:nvSpPr>
          <p:cNvPr id="4" name="Slide Number Placeholder 5">
            <a:extLst>
              <a:ext uri="{FF2B5EF4-FFF2-40B4-BE49-F238E27FC236}">
                <a16:creationId xmlns:a16="http://schemas.microsoft.com/office/drawing/2014/main" id="{3CE25C20-964C-4ACE-B1A8-FEF8DF45417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15" name="Graphic 14" descr="Loan with solid fill">
            <a:extLst>
              <a:ext uri="{FF2B5EF4-FFF2-40B4-BE49-F238E27FC236}">
                <a16:creationId xmlns:a16="http://schemas.microsoft.com/office/drawing/2014/main" id="{AF97C840-FAE0-7655-F288-4B840AA3EB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22028" y="4303986"/>
            <a:ext cx="3090041" cy="17279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solidFill>
            <a:srgbClr val="FFFF00"/>
          </a:solidFill>
        </p:spPr>
        <p:txBody>
          <a:bodyPr>
            <a:normAutofit/>
          </a:bodyPr>
          <a:lstStyle/>
          <a:p>
            <a:pPr algn="ctr"/>
            <a:r>
              <a:rPr lang="en-US" noProof="0" dirty="0"/>
              <a:t>Step 6: Monitoring and Controlling</a:t>
            </a:r>
            <a:endParaRPr lang="en-US" noProof="0" dirty="0">
              <a:solidFill>
                <a:srgbClr val="0070C0"/>
              </a:solidFill>
            </a:endParaRPr>
          </a:p>
        </p:txBody>
      </p:sp>
      <p:sp>
        <p:nvSpPr>
          <p:cNvPr id="2" name="Content Placeholder 1">
            <a:extLst>
              <a:ext uri="{FF2B5EF4-FFF2-40B4-BE49-F238E27FC236}">
                <a16:creationId xmlns:a16="http://schemas.microsoft.com/office/drawing/2014/main" id="{562F3C27-B3D7-4A4C-9887-42F9D512088A}"/>
              </a:ext>
            </a:extLst>
          </p:cNvPr>
          <p:cNvSpPr>
            <a:spLocks noGrp="1"/>
          </p:cNvSpPr>
          <p:nvPr>
            <p:ph sz="quarter" idx="11"/>
          </p:nvPr>
        </p:nvSpPr>
        <p:spPr/>
        <p:txBody>
          <a:bodyPr/>
          <a:lstStyle/>
          <a:p>
            <a:pPr>
              <a:defRPr/>
            </a:pPr>
            <a:r>
              <a:rPr lang="en-US" noProof="0" dirty="0"/>
              <a:t>Managers must:</a:t>
            </a:r>
          </a:p>
          <a:p>
            <a:pPr lvl="1">
              <a:defRPr/>
            </a:pPr>
            <a:r>
              <a:rPr lang="en-US" noProof="0" dirty="0"/>
              <a:t>Continually monitor the actual performance of their work units against the unit’s goals and plans.</a:t>
            </a:r>
          </a:p>
          <a:p>
            <a:pPr lvl="1">
              <a:defRPr/>
            </a:pPr>
            <a:r>
              <a:rPr lang="en-US" noProof="0" dirty="0"/>
              <a:t>Develop control systems to measure that performance and allow them to take corrective action.</a:t>
            </a:r>
          </a:p>
        </p:txBody>
      </p:sp>
      <p:sp>
        <p:nvSpPr>
          <p:cNvPr id="5" name="Slide Number Placeholder 5">
            <a:extLst>
              <a:ext uri="{FF2B5EF4-FFF2-40B4-BE49-F238E27FC236}">
                <a16:creationId xmlns:a16="http://schemas.microsoft.com/office/drawing/2014/main" id="{6A562DBC-CB85-470D-B2BD-7E8FB31B909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42900" y="233546"/>
            <a:ext cx="8458200" cy="1721378"/>
          </a:xfrm>
          <a:solidFill>
            <a:srgbClr val="FFFF00"/>
          </a:solidFill>
        </p:spPr>
        <p:txBody>
          <a:bodyPr>
            <a:noAutofit/>
          </a:bodyPr>
          <a:lstStyle/>
          <a:p>
            <a:pPr algn="ctr"/>
            <a:r>
              <a:rPr lang="en-US" sz="2400" noProof="0" dirty="0"/>
              <a:t>SPOTLIGHT ON…</a:t>
            </a:r>
            <a:br>
              <a:rPr lang="en-US" sz="2400" noProof="0" dirty="0"/>
            </a:br>
            <a:br>
              <a:rPr lang="en-US" sz="2400" noProof="0" dirty="0"/>
            </a:br>
            <a:r>
              <a:rPr lang="en-US" sz="2400" noProof="0" dirty="0"/>
              <a:t>Novo Nordisk Monitors Progress with Its Triple Bottom Line</a:t>
            </a:r>
            <a:endParaRPr lang="en-US" sz="2400" noProof="0" dirty="0">
              <a:solidFill>
                <a:srgbClr val="0070C0"/>
              </a:solidFill>
            </a:endParaRPr>
          </a:p>
        </p:txBody>
      </p:sp>
      <p:sp>
        <p:nvSpPr>
          <p:cNvPr id="3" name="Content Placeholder 2">
            <a:extLst>
              <a:ext uri="{FF2B5EF4-FFF2-40B4-BE49-F238E27FC236}">
                <a16:creationId xmlns:a16="http://schemas.microsoft.com/office/drawing/2014/main" id="{29247A51-3E2D-41FE-996C-E5D46C3E3CDE}"/>
              </a:ext>
            </a:extLst>
          </p:cNvPr>
          <p:cNvSpPr>
            <a:spLocks noGrp="1"/>
          </p:cNvSpPr>
          <p:nvPr>
            <p:ph sz="quarter" idx="11"/>
          </p:nvPr>
        </p:nvSpPr>
        <p:spPr>
          <a:xfrm>
            <a:off x="342900" y="2120061"/>
            <a:ext cx="8458200" cy="3099211"/>
          </a:xfrm>
        </p:spPr>
        <p:txBody>
          <a:bodyPr>
            <a:normAutofit/>
          </a:bodyPr>
          <a:lstStyle/>
          <a:p>
            <a:r>
              <a:rPr lang="en-US" sz="2600" noProof="0" dirty="0"/>
              <a:t>Novo Nordisk follows a Triple Bottom Line (T</a:t>
            </a:r>
            <a:r>
              <a:rPr lang="en-US" sz="100" noProof="0" dirty="0"/>
              <a:t> </a:t>
            </a:r>
            <a:r>
              <a:rPr lang="en-US" sz="2600" noProof="0" dirty="0"/>
              <a:t>B</a:t>
            </a:r>
            <a:r>
              <a:rPr lang="en-US" sz="100" noProof="0" dirty="0"/>
              <a:t> </a:t>
            </a:r>
            <a:r>
              <a:rPr lang="en-US" sz="2600" noProof="0" dirty="0"/>
              <a:t>L) strategy, meaning decisions are based on the belief that “a healthy economy, environment, and society are fundamental to long-term business success.” </a:t>
            </a:r>
          </a:p>
          <a:p>
            <a:r>
              <a:rPr lang="en-US" sz="2600" noProof="0" dirty="0"/>
              <a:t>To ensure that the T</a:t>
            </a:r>
            <a:r>
              <a:rPr lang="en-US" sz="100" noProof="0" dirty="0"/>
              <a:t> </a:t>
            </a:r>
            <a:r>
              <a:rPr lang="en-US" sz="2600" noProof="0" dirty="0"/>
              <a:t>B</a:t>
            </a:r>
            <a:r>
              <a:rPr lang="en-US" sz="100" noProof="0" dirty="0"/>
              <a:t> </a:t>
            </a:r>
            <a:r>
              <a:rPr lang="en-US" sz="2600" noProof="0" dirty="0"/>
              <a:t>L philosophy would stick, Novo Nordisk took the uncommon step of incorporating it into their company bylaws. </a:t>
            </a:r>
          </a:p>
        </p:txBody>
      </p:sp>
      <p:sp>
        <p:nvSpPr>
          <p:cNvPr id="4" name="Slide Number Placeholder 5">
            <a:extLst>
              <a:ext uri="{FF2B5EF4-FFF2-40B4-BE49-F238E27FC236}">
                <a16:creationId xmlns:a16="http://schemas.microsoft.com/office/drawing/2014/main" id="{E53A1361-E086-4CC7-98AA-8578180C796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9872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solidFill>
            <a:srgbClr val="FFFF00"/>
          </a:solidFill>
        </p:spPr>
        <p:txBody>
          <a:bodyPr>
            <a:normAutofit/>
          </a:bodyPr>
          <a:lstStyle/>
          <a:p>
            <a:pPr algn="ctr"/>
            <a:r>
              <a:rPr lang="en-US" noProof="0" dirty="0"/>
              <a:t>Strategic Planning</a:t>
            </a:r>
            <a:endParaRPr lang="en-US" noProof="0" dirty="0">
              <a:solidFill>
                <a:srgbClr val="0070C0"/>
              </a:solidFill>
            </a:endParaRPr>
          </a:p>
        </p:txBody>
      </p:sp>
      <p:sp>
        <p:nvSpPr>
          <p:cNvPr id="2" name="Content Placeholder 1"/>
          <p:cNvSpPr>
            <a:spLocks noGrp="1"/>
          </p:cNvSpPr>
          <p:nvPr>
            <p:ph sz="quarter" idx="11"/>
          </p:nvPr>
        </p:nvSpPr>
        <p:spPr>
          <a:xfrm>
            <a:off x="342900" y="1276709"/>
            <a:ext cx="8458200" cy="1604891"/>
          </a:xfrm>
        </p:spPr>
        <p:txBody>
          <a:bodyPr>
            <a:normAutofit/>
          </a:bodyPr>
          <a:lstStyle/>
          <a:p>
            <a:pPr lvl="0"/>
            <a:r>
              <a:rPr lang="en-US" b="1" noProof="0" dirty="0"/>
              <a:t>Strategic planning:</a:t>
            </a:r>
          </a:p>
          <a:p>
            <a:pPr marL="291600" lvl="0" indent="-291600">
              <a:buFont typeface="Arial" panose="020B0604020202020204" pitchFamily="34" charset="0"/>
              <a:buChar char="•"/>
            </a:pPr>
            <a:r>
              <a:rPr lang="en-US" sz="2400" noProof="0" dirty="0"/>
              <a:t>Set of procedures for making decisions about the organization’s long-term goals and strategies.</a:t>
            </a:r>
          </a:p>
        </p:txBody>
      </p:sp>
      <p:sp>
        <p:nvSpPr>
          <p:cNvPr id="5" name="Content Placeholder 4">
            <a:extLst>
              <a:ext uri="{FF2B5EF4-FFF2-40B4-BE49-F238E27FC236}">
                <a16:creationId xmlns:a16="http://schemas.microsoft.com/office/drawing/2014/main" id="{BCD22E66-813F-4367-89F5-6E25643ECF2C}"/>
              </a:ext>
            </a:extLst>
          </p:cNvPr>
          <p:cNvSpPr>
            <a:spLocks noGrp="1"/>
          </p:cNvSpPr>
          <p:nvPr>
            <p:ph sz="quarter" idx="14"/>
          </p:nvPr>
        </p:nvSpPr>
        <p:spPr>
          <a:xfrm>
            <a:off x="342900" y="3103644"/>
            <a:ext cx="7948345" cy="1401947"/>
          </a:xfrm>
        </p:spPr>
        <p:txBody>
          <a:bodyPr>
            <a:normAutofit/>
          </a:bodyPr>
          <a:lstStyle/>
          <a:p>
            <a:pPr lvl="0"/>
            <a:r>
              <a:rPr lang="en-US" b="1" noProof="0" dirty="0"/>
              <a:t>Strategic goals: </a:t>
            </a:r>
          </a:p>
          <a:p>
            <a:pPr marL="291600" lvl="0" indent="-291600">
              <a:buFont typeface="Arial" panose="020B0604020202020204" pitchFamily="34" charset="0"/>
              <a:buChar char="•"/>
            </a:pPr>
            <a:r>
              <a:rPr lang="en-US" sz="2400" noProof="0" dirty="0"/>
              <a:t>Major targets or end results that relate to the long-term survival, value, and growth of the organization.</a:t>
            </a:r>
          </a:p>
        </p:txBody>
      </p:sp>
      <p:sp>
        <p:nvSpPr>
          <p:cNvPr id="6" name="Content Placeholder 5">
            <a:extLst>
              <a:ext uri="{FF2B5EF4-FFF2-40B4-BE49-F238E27FC236}">
                <a16:creationId xmlns:a16="http://schemas.microsoft.com/office/drawing/2014/main" id="{208CB9FE-50E5-441D-AE08-58A559C4280D}"/>
              </a:ext>
            </a:extLst>
          </p:cNvPr>
          <p:cNvSpPr>
            <a:spLocks noGrp="1"/>
          </p:cNvSpPr>
          <p:nvPr>
            <p:ph sz="quarter" idx="15"/>
          </p:nvPr>
        </p:nvSpPr>
        <p:spPr>
          <a:xfrm>
            <a:off x="342900" y="4733770"/>
            <a:ext cx="8191500" cy="1604891"/>
          </a:xfrm>
        </p:spPr>
        <p:txBody>
          <a:bodyPr/>
          <a:lstStyle/>
          <a:p>
            <a:r>
              <a:rPr lang="en-US" b="1" noProof="0" dirty="0"/>
              <a:t>Strategy: </a:t>
            </a:r>
          </a:p>
          <a:p>
            <a:pPr marL="291600" indent="-291600">
              <a:buFont typeface="Arial" panose="020B0604020202020204" pitchFamily="34" charset="0"/>
              <a:buChar char="•"/>
            </a:pPr>
            <a:r>
              <a:rPr lang="en-US" sz="2400" noProof="0" dirty="0"/>
              <a:t>A pattern of actions and resource allocations designed to achieve organization goals.</a:t>
            </a:r>
          </a:p>
        </p:txBody>
      </p:sp>
      <p:sp>
        <p:nvSpPr>
          <p:cNvPr id="4" name="Slide Number Placeholder 5">
            <a:extLst>
              <a:ext uri="{FF2B5EF4-FFF2-40B4-BE49-F238E27FC236}">
                <a16:creationId xmlns:a16="http://schemas.microsoft.com/office/drawing/2014/main" id="{C4D39E24-3495-4FCF-90F5-40FC195F58C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5"/>
          <p:cNvSpPr>
            <a:spLocks noGrp="1"/>
          </p:cNvSpPr>
          <p:nvPr>
            <p:ph type="title"/>
          </p:nvPr>
        </p:nvSpPr>
        <p:spPr>
          <a:solidFill>
            <a:srgbClr val="FFFF00"/>
          </a:solidFill>
        </p:spPr>
        <p:txBody>
          <a:bodyPr>
            <a:normAutofit fontScale="90000"/>
          </a:bodyPr>
          <a:lstStyle/>
          <a:p>
            <a:pPr algn="ctr"/>
            <a:r>
              <a:rPr lang="en-US" sz="1000" noProof="0" dirty="0"/>
              <a:t>Exhibit 4.2 </a:t>
            </a:r>
            <a:r>
              <a:rPr lang="en-US" noProof="0" dirty="0"/>
              <a:t>Effective Strategies Answer Five Questions</a:t>
            </a:r>
            <a:endParaRPr lang="en-US" noProof="0" dirty="0">
              <a:solidFill>
                <a:srgbClr val="0070C0"/>
              </a:solidFill>
            </a:endParaRPr>
          </a:p>
        </p:txBody>
      </p:sp>
      <p:graphicFrame>
        <p:nvGraphicFramePr>
          <p:cNvPr id="7" name="Table 7">
            <a:extLst>
              <a:ext uri="{FF2B5EF4-FFF2-40B4-BE49-F238E27FC236}">
                <a16:creationId xmlns:a16="http://schemas.microsoft.com/office/drawing/2014/main" id="{0289691B-01D3-4BB2-A334-B6D648B4C61B}"/>
              </a:ext>
            </a:extLst>
          </p:cNvPr>
          <p:cNvGraphicFramePr>
            <a:graphicFrameLocks noGrp="1"/>
          </p:cNvGraphicFramePr>
          <p:nvPr>
            <p:extLst>
              <p:ext uri="{D42A27DB-BD31-4B8C-83A1-F6EECF244321}">
                <p14:modId xmlns:p14="http://schemas.microsoft.com/office/powerpoint/2010/main" val="876159428"/>
              </p:ext>
            </p:extLst>
          </p:nvPr>
        </p:nvGraphicFramePr>
        <p:xfrm>
          <a:off x="481263" y="1508464"/>
          <a:ext cx="8145149" cy="3378844"/>
        </p:xfrm>
        <a:graphic>
          <a:graphicData uri="http://schemas.openxmlformats.org/drawingml/2006/table">
            <a:tbl>
              <a:tblPr firstRow="1" bandRow="1">
                <a:tableStyleId>{5C22544A-7EE6-4342-B048-85BDC9FD1C3A}</a:tableStyleId>
              </a:tblPr>
              <a:tblGrid>
                <a:gridCol w="8145149">
                  <a:extLst>
                    <a:ext uri="{9D8B030D-6E8A-4147-A177-3AD203B41FA5}">
                      <a16:colId xmlns:a16="http://schemas.microsoft.com/office/drawing/2014/main" val="3816568221"/>
                    </a:ext>
                  </a:extLst>
                </a:gridCol>
              </a:tblGrid>
              <a:tr h="453411">
                <a:tc>
                  <a:txBody>
                    <a:bodyPr/>
                    <a:lstStyle/>
                    <a:p>
                      <a:r>
                        <a:rPr lang="en-US" sz="1800" dirty="0"/>
                        <a:t>Effective Strategies Answer Five Questions</a:t>
                      </a:r>
                      <a:endParaRPr lang="en-US" sz="1800" b="1" dirty="0"/>
                    </a:p>
                  </a:txBody>
                  <a:tcPr>
                    <a:solidFill>
                      <a:srgbClr val="B0141B"/>
                    </a:solidFill>
                  </a:tcPr>
                </a:tc>
                <a:extLst>
                  <a:ext uri="{0D108BD9-81ED-4DB2-BD59-A6C34878D82A}">
                    <a16:rowId xmlns:a16="http://schemas.microsoft.com/office/drawing/2014/main" val="2786008609"/>
                  </a:ext>
                </a:extLst>
              </a:tr>
              <a:tr h="453411">
                <a:tc>
                  <a:txBody>
                    <a:bodyPr/>
                    <a:lstStyle/>
                    <a:p>
                      <a:r>
                        <a:rPr lang="en-US" sz="1800" dirty="0"/>
                        <a:t>1. Where will we be active?</a:t>
                      </a:r>
                      <a:endParaRPr lang="en-US" sz="1800" b="0" dirty="0"/>
                    </a:p>
                  </a:txBody>
                  <a:tcPr anchor="ctr"/>
                </a:tc>
                <a:extLst>
                  <a:ext uri="{0D108BD9-81ED-4DB2-BD59-A6C34878D82A}">
                    <a16:rowId xmlns:a16="http://schemas.microsoft.com/office/drawing/2014/main" val="1678570690"/>
                  </a:ext>
                </a:extLst>
              </a:tr>
              <a:tr h="782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a:t>2. How will we get there (for example, by increasing sales or acquiring another company)?</a:t>
                      </a:r>
                      <a:endParaRPr lang="en-US" sz="18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2502658160"/>
                  </a:ext>
                </a:extLst>
              </a:tr>
              <a:tr h="782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a:t>3. How will we win in the market (for example, by keeping prices low or offering the best service)?</a:t>
                      </a:r>
                      <a:endParaRPr lang="en-US" sz="18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3978184533"/>
                  </a:ext>
                </a:extLst>
              </a:tr>
              <a:tr h="4534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a:t>4. How fast will we move and in what sequence will we make changes? </a:t>
                      </a:r>
                      <a:endParaRPr lang="en-US" sz="18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2880524414"/>
                  </a:ext>
                </a:extLst>
              </a:tr>
              <a:tr h="4534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a:t>5. How will we obtain financial returns (low costs or premium prices)? </a:t>
                      </a:r>
                      <a:endParaRPr lang="en-US" sz="18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3777773579"/>
                  </a:ext>
                </a:extLst>
              </a:tr>
            </a:tbl>
          </a:graphicData>
        </a:graphic>
      </p:graphicFrame>
      <p:sp>
        <p:nvSpPr>
          <p:cNvPr id="4" name="Slide Number Placeholder 5">
            <a:extLst>
              <a:ext uri="{FF2B5EF4-FFF2-40B4-BE49-F238E27FC236}">
                <a16:creationId xmlns:a16="http://schemas.microsoft.com/office/drawing/2014/main" id="{C48A23F7-37AE-46C7-9D14-8D2E1BFF57D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82A74-4DD3-4741-9EE4-3E05DDAB7E58}"/>
              </a:ext>
            </a:extLst>
          </p:cNvPr>
          <p:cNvSpPr>
            <a:spLocks noGrp="1"/>
          </p:cNvSpPr>
          <p:nvPr>
            <p:ph type="title"/>
          </p:nvPr>
        </p:nvSpPr>
        <p:spPr>
          <a:solidFill>
            <a:srgbClr val="FFFF00"/>
          </a:solidFill>
        </p:spPr>
        <p:txBody>
          <a:bodyPr>
            <a:normAutofit/>
          </a:bodyPr>
          <a:lstStyle/>
          <a:p>
            <a:pPr algn="ctr"/>
            <a:r>
              <a:rPr lang="en-US" sz="1000" noProof="0" dirty="0"/>
              <a:t>Exhibit 4.3 </a:t>
            </a:r>
            <a:r>
              <a:rPr lang="en-US" noProof="0" dirty="0"/>
              <a:t>Hierarchy of Goals and Plans</a:t>
            </a:r>
          </a:p>
        </p:txBody>
      </p:sp>
      <p:graphicFrame>
        <p:nvGraphicFramePr>
          <p:cNvPr id="5" name="Table 5">
            <a:extLst>
              <a:ext uri="{FF2B5EF4-FFF2-40B4-BE49-F238E27FC236}">
                <a16:creationId xmlns:a16="http://schemas.microsoft.com/office/drawing/2014/main" id="{C8F46A02-C3E0-4310-BC0E-7516205DBC2A}"/>
              </a:ext>
            </a:extLst>
          </p:cNvPr>
          <p:cNvGraphicFramePr>
            <a:graphicFrameLocks noGrp="1"/>
          </p:cNvGraphicFramePr>
          <p:nvPr>
            <p:extLst>
              <p:ext uri="{D42A27DB-BD31-4B8C-83A1-F6EECF244321}">
                <p14:modId xmlns:p14="http://schemas.microsoft.com/office/powerpoint/2010/main" val="3789527107"/>
              </p:ext>
            </p:extLst>
          </p:nvPr>
        </p:nvGraphicFramePr>
        <p:xfrm>
          <a:off x="352926" y="1653671"/>
          <a:ext cx="8502316" cy="2965624"/>
        </p:xfrm>
        <a:graphic>
          <a:graphicData uri="http://schemas.openxmlformats.org/drawingml/2006/table">
            <a:tbl>
              <a:tblPr firstRow="1" bandRow="1">
                <a:tableStyleId>{5C22544A-7EE6-4342-B048-85BDC9FD1C3A}</a:tableStyleId>
              </a:tblPr>
              <a:tblGrid>
                <a:gridCol w="2085474">
                  <a:extLst>
                    <a:ext uri="{9D8B030D-6E8A-4147-A177-3AD203B41FA5}">
                      <a16:colId xmlns:a16="http://schemas.microsoft.com/office/drawing/2014/main" val="1946934980"/>
                    </a:ext>
                  </a:extLst>
                </a:gridCol>
                <a:gridCol w="2149642">
                  <a:extLst>
                    <a:ext uri="{9D8B030D-6E8A-4147-A177-3AD203B41FA5}">
                      <a16:colId xmlns:a16="http://schemas.microsoft.com/office/drawing/2014/main" val="1470248842"/>
                    </a:ext>
                  </a:extLst>
                </a:gridCol>
                <a:gridCol w="2053390">
                  <a:extLst>
                    <a:ext uri="{9D8B030D-6E8A-4147-A177-3AD203B41FA5}">
                      <a16:colId xmlns:a16="http://schemas.microsoft.com/office/drawing/2014/main" val="1373827678"/>
                    </a:ext>
                  </a:extLst>
                </a:gridCol>
                <a:gridCol w="2213810">
                  <a:extLst>
                    <a:ext uri="{9D8B030D-6E8A-4147-A177-3AD203B41FA5}">
                      <a16:colId xmlns:a16="http://schemas.microsoft.com/office/drawing/2014/main" val="935698276"/>
                    </a:ext>
                  </a:extLst>
                </a:gridCol>
              </a:tblGrid>
              <a:tr h="741406">
                <a:tc>
                  <a:txBody>
                    <a:bodyPr/>
                    <a:lstStyle/>
                    <a:p>
                      <a:r>
                        <a:rPr lang="en-US" dirty="0"/>
                        <a:t>Goals and Plans</a:t>
                      </a:r>
                      <a:endParaRPr lang="en-US" dirty="0">
                        <a:solidFill>
                          <a:schemeClr val="tx1"/>
                        </a:solidFill>
                      </a:endParaRPr>
                    </a:p>
                  </a:txBody>
                  <a:tcPr>
                    <a:solidFill>
                      <a:srgbClr val="B0141B"/>
                    </a:solidFill>
                  </a:tcPr>
                </a:tc>
                <a:tc>
                  <a:txBody>
                    <a:bodyPr/>
                    <a:lstStyle/>
                    <a:p>
                      <a:pPr algn="ctr"/>
                      <a:r>
                        <a:rPr lang="en-US" dirty="0"/>
                        <a:t>Managerial Level</a:t>
                      </a:r>
                    </a:p>
                  </a:txBody>
                  <a:tcPr>
                    <a:solidFill>
                      <a:srgbClr val="B0141B"/>
                    </a:solidFill>
                  </a:tcPr>
                </a:tc>
                <a:tc>
                  <a:txBody>
                    <a:bodyPr/>
                    <a:lstStyle/>
                    <a:p>
                      <a:pPr algn="ctr"/>
                      <a:r>
                        <a:rPr lang="en-US" dirty="0"/>
                        <a:t>Level of Detail</a:t>
                      </a:r>
                    </a:p>
                  </a:txBody>
                  <a:tcPr>
                    <a:solidFill>
                      <a:srgbClr val="B0141B"/>
                    </a:solidFill>
                  </a:tcPr>
                </a:tc>
                <a:tc>
                  <a:txBody>
                    <a:bodyPr/>
                    <a:lstStyle/>
                    <a:p>
                      <a:pPr algn="ctr"/>
                      <a:r>
                        <a:rPr lang="en-US" dirty="0"/>
                        <a:t>Time Horizon</a:t>
                      </a:r>
                    </a:p>
                  </a:txBody>
                  <a:tcPr>
                    <a:solidFill>
                      <a:srgbClr val="B0141B"/>
                    </a:solidFill>
                  </a:tcPr>
                </a:tc>
                <a:extLst>
                  <a:ext uri="{0D108BD9-81ED-4DB2-BD59-A6C34878D82A}">
                    <a16:rowId xmlns:a16="http://schemas.microsoft.com/office/drawing/2014/main" val="1170267981"/>
                  </a:ext>
                </a:extLst>
              </a:tr>
              <a:tr h="741406">
                <a:tc>
                  <a:txBody>
                    <a:bodyPr/>
                    <a:lstStyle/>
                    <a:p>
                      <a:r>
                        <a:rPr lang="en-US" dirty="0"/>
                        <a:t>Strategic</a:t>
                      </a:r>
                      <a:endParaRPr lang="en-US" dirty="0">
                        <a:solidFill>
                          <a:schemeClr val="bg1"/>
                        </a:solidFill>
                      </a:endParaRPr>
                    </a:p>
                  </a:txBody>
                  <a:tcPr/>
                </a:tc>
                <a:tc>
                  <a:txBody>
                    <a:bodyPr/>
                    <a:lstStyle/>
                    <a:p>
                      <a:pPr algn="ctr"/>
                      <a:r>
                        <a:rPr lang="en-US" dirty="0"/>
                        <a:t>Top</a:t>
                      </a:r>
                    </a:p>
                  </a:txBody>
                  <a:tcPr/>
                </a:tc>
                <a:tc>
                  <a:txBody>
                    <a:bodyPr/>
                    <a:lstStyle/>
                    <a:p>
                      <a:pPr algn="ctr"/>
                      <a:r>
                        <a:rPr lang="en-US" dirty="0"/>
                        <a:t>Low</a:t>
                      </a:r>
                    </a:p>
                  </a:txBody>
                  <a:tcPr/>
                </a:tc>
                <a:tc>
                  <a:txBody>
                    <a:bodyPr/>
                    <a:lstStyle/>
                    <a:p>
                      <a:pPr algn="ctr"/>
                      <a:r>
                        <a:rPr lang="en-US" dirty="0"/>
                        <a:t>Long (3-7 years)</a:t>
                      </a:r>
                    </a:p>
                  </a:txBody>
                  <a:tcPr/>
                </a:tc>
                <a:extLst>
                  <a:ext uri="{0D108BD9-81ED-4DB2-BD59-A6C34878D82A}">
                    <a16:rowId xmlns:a16="http://schemas.microsoft.com/office/drawing/2014/main" val="3575836294"/>
                  </a:ext>
                </a:extLst>
              </a:tr>
              <a:tr h="741406">
                <a:tc>
                  <a:txBody>
                    <a:bodyPr/>
                    <a:lstStyle/>
                    <a:p>
                      <a:r>
                        <a:rPr lang="en-US" dirty="0"/>
                        <a:t>Tactical</a:t>
                      </a:r>
                      <a:endParaRPr lang="en-US" dirty="0">
                        <a:solidFill>
                          <a:schemeClr val="bg1"/>
                        </a:solidFill>
                      </a:endParaRPr>
                    </a:p>
                  </a:txBody>
                  <a:tcPr/>
                </a:tc>
                <a:tc>
                  <a:txBody>
                    <a:bodyPr/>
                    <a:lstStyle/>
                    <a:p>
                      <a:pPr algn="ctr"/>
                      <a:r>
                        <a:rPr lang="en-US" dirty="0"/>
                        <a:t>Middle</a:t>
                      </a:r>
                    </a:p>
                  </a:txBody>
                  <a:tcPr/>
                </a:tc>
                <a:tc>
                  <a:txBody>
                    <a:bodyPr/>
                    <a:lstStyle/>
                    <a:p>
                      <a:pPr algn="ctr"/>
                      <a:r>
                        <a:rPr lang="en-US" dirty="0"/>
                        <a:t>Medium</a:t>
                      </a:r>
                    </a:p>
                  </a:txBody>
                  <a:tcPr/>
                </a:tc>
                <a:tc>
                  <a:txBody>
                    <a:bodyPr/>
                    <a:lstStyle/>
                    <a:p>
                      <a:pPr algn="ctr"/>
                      <a:r>
                        <a:rPr lang="en-US" dirty="0"/>
                        <a:t>Medium (1-2 years)</a:t>
                      </a:r>
                    </a:p>
                  </a:txBody>
                  <a:tcPr/>
                </a:tc>
                <a:extLst>
                  <a:ext uri="{0D108BD9-81ED-4DB2-BD59-A6C34878D82A}">
                    <a16:rowId xmlns:a16="http://schemas.microsoft.com/office/drawing/2014/main" val="1394689637"/>
                  </a:ext>
                </a:extLst>
              </a:tr>
              <a:tr h="741406">
                <a:tc>
                  <a:txBody>
                    <a:bodyPr/>
                    <a:lstStyle/>
                    <a:p>
                      <a:r>
                        <a:rPr lang="en-US" dirty="0"/>
                        <a:t>Operational</a:t>
                      </a:r>
                      <a:endParaRPr lang="en-US" dirty="0">
                        <a:solidFill>
                          <a:schemeClr val="bg1"/>
                        </a:solidFill>
                      </a:endParaRPr>
                    </a:p>
                  </a:txBody>
                  <a:tcPr/>
                </a:tc>
                <a:tc>
                  <a:txBody>
                    <a:bodyPr/>
                    <a:lstStyle/>
                    <a:p>
                      <a:pPr algn="ctr"/>
                      <a:r>
                        <a:rPr lang="en-US" dirty="0"/>
                        <a:t>Frontline</a:t>
                      </a:r>
                    </a:p>
                  </a:txBody>
                  <a:tcPr/>
                </a:tc>
                <a:tc>
                  <a:txBody>
                    <a:bodyPr/>
                    <a:lstStyle/>
                    <a:p>
                      <a:pPr algn="ctr"/>
                      <a:r>
                        <a:rPr lang="en-US" dirty="0"/>
                        <a:t>High</a:t>
                      </a:r>
                    </a:p>
                  </a:txBody>
                  <a:tcPr/>
                </a:tc>
                <a:tc>
                  <a:txBody>
                    <a:bodyPr/>
                    <a:lstStyle/>
                    <a:p>
                      <a:pPr algn="ctr"/>
                      <a:r>
                        <a:rPr lang="en-US" dirty="0"/>
                        <a:t>Short (&lt;1 year)</a:t>
                      </a:r>
                    </a:p>
                  </a:txBody>
                  <a:tcPr/>
                </a:tc>
                <a:extLst>
                  <a:ext uri="{0D108BD9-81ED-4DB2-BD59-A6C34878D82A}">
                    <a16:rowId xmlns:a16="http://schemas.microsoft.com/office/drawing/2014/main" val="3729471175"/>
                  </a:ext>
                </a:extLst>
              </a:tr>
            </a:tbl>
          </a:graphicData>
        </a:graphic>
      </p:graphicFrame>
      <p:sp>
        <p:nvSpPr>
          <p:cNvPr id="6" name="Slide Number Placeholder 5">
            <a:extLst>
              <a:ext uri="{FF2B5EF4-FFF2-40B4-BE49-F238E27FC236}">
                <a16:creationId xmlns:a16="http://schemas.microsoft.com/office/drawing/2014/main" id="{CC572207-65FB-415A-A147-2FDAB12F91AF}"/>
              </a:ext>
            </a:extLst>
          </p:cNvPr>
          <p:cNvSpPr>
            <a:spLocks noGrp="1"/>
          </p:cNvSpPr>
          <p:nvPr>
            <p:ph type="sldNum" sz="quarter" idx="10"/>
          </p:nvPr>
        </p:nvSpPr>
        <p:spPr>
          <a:xfrm>
            <a:off x="8626412" y="6673531"/>
            <a:ext cx="355840" cy="16139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87294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solidFill>
            <a:srgbClr val="FFFF00"/>
          </a:solidFill>
        </p:spPr>
        <p:txBody>
          <a:bodyPr/>
          <a:lstStyle/>
          <a:p>
            <a:pPr algn="ctr"/>
            <a:r>
              <a:rPr lang="en-US" noProof="0" dirty="0"/>
              <a:t>Tactical and Operational Planning</a:t>
            </a:r>
            <a:endParaRPr lang="en-US" sz="1800" noProof="0" dirty="0"/>
          </a:p>
        </p:txBody>
      </p:sp>
      <p:sp>
        <p:nvSpPr>
          <p:cNvPr id="5" name="Content Placeholder 4">
            <a:extLst>
              <a:ext uri="{FF2B5EF4-FFF2-40B4-BE49-F238E27FC236}">
                <a16:creationId xmlns:a16="http://schemas.microsoft.com/office/drawing/2014/main" id="{52F6B9A5-040A-45B9-A81C-2BE879DAB714}"/>
              </a:ext>
            </a:extLst>
          </p:cNvPr>
          <p:cNvSpPr>
            <a:spLocks noGrp="1"/>
          </p:cNvSpPr>
          <p:nvPr>
            <p:ph sz="quarter" idx="11"/>
          </p:nvPr>
        </p:nvSpPr>
        <p:spPr>
          <a:xfrm>
            <a:off x="342900" y="1276709"/>
            <a:ext cx="4229100" cy="4971691"/>
          </a:xfrm>
        </p:spPr>
        <p:txBody>
          <a:bodyPr/>
          <a:lstStyle/>
          <a:p>
            <a:pPr>
              <a:defRPr/>
            </a:pPr>
            <a:r>
              <a:rPr lang="en-US" b="1" noProof="0" dirty="0"/>
              <a:t>Tactical planning:</a:t>
            </a:r>
          </a:p>
          <a:p>
            <a:pPr marL="291600" indent="-291600">
              <a:buFont typeface="Arial" panose="020B0604020202020204" pitchFamily="34" charset="0"/>
              <a:buChar char="•"/>
              <a:defRPr/>
            </a:pPr>
            <a:r>
              <a:rPr lang="en-US" sz="2400" noProof="0" dirty="0"/>
              <a:t>Set of procedures for translating broad strategic plans into specific goals and plans that are relevant to a distinct portion of the organization, such as a functional area like marketing.</a:t>
            </a:r>
          </a:p>
        </p:txBody>
      </p:sp>
      <p:sp>
        <p:nvSpPr>
          <p:cNvPr id="7" name="Content Placeholder 6">
            <a:extLst>
              <a:ext uri="{FF2B5EF4-FFF2-40B4-BE49-F238E27FC236}">
                <a16:creationId xmlns:a16="http://schemas.microsoft.com/office/drawing/2014/main" id="{E011CF62-5019-4EB4-A769-324C664F4A2B}"/>
              </a:ext>
            </a:extLst>
          </p:cNvPr>
          <p:cNvSpPr>
            <a:spLocks noGrp="1"/>
          </p:cNvSpPr>
          <p:nvPr>
            <p:ph sz="quarter" idx="14"/>
          </p:nvPr>
        </p:nvSpPr>
        <p:spPr/>
        <p:txBody>
          <a:bodyPr/>
          <a:lstStyle/>
          <a:p>
            <a:pPr>
              <a:defRPr/>
            </a:pPr>
            <a:r>
              <a:rPr lang="en-US" b="1" noProof="0" dirty="0"/>
              <a:t>Operational planning:</a:t>
            </a:r>
          </a:p>
          <a:p>
            <a:pPr marL="291600" indent="-291600">
              <a:buFont typeface="Arial" panose="020B0604020202020204" pitchFamily="34" charset="0"/>
              <a:buChar char="•"/>
              <a:defRPr/>
            </a:pPr>
            <a:r>
              <a:rPr lang="en-US" sz="2400" noProof="0" dirty="0"/>
              <a:t>The process of identifying the specific procedures and processes required at lower levels of the organization.</a:t>
            </a:r>
          </a:p>
        </p:txBody>
      </p:sp>
      <p:sp>
        <p:nvSpPr>
          <p:cNvPr id="4" name="Slide Number Placeholder 5">
            <a:extLst>
              <a:ext uri="{FF2B5EF4-FFF2-40B4-BE49-F238E27FC236}">
                <a16:creationId xmlns:a16="http://schemas.microsoft.com/office/drawing/2014/main" id="{CDB0CD8E-7B51-4ACC-9994-4D1A2D36DFB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3" name="Graphic 2" descr="Customer review outline">
            <a:extLst>
              <a:ext uri="{FF2B5EF4-FFF2-40B4-BE49-F238E27FC236}">
                <a16:creationId xmlns:a16="http://schemas.microsoft.com/office/drawing/2014/main" id="{3E75E6CF-0BED-8E84-1841-B62B6104FF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41378" y="4280338"/>
            <a:ext cx="3909849" cy="22544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BECD5-8DC1-45CE-A930-38DD27490059}"/>
              </a:ext>
            </a:extLst>
          </p:cNvPr>
          <p:cNvSpPr>
            <a:spLocks noGrp="1"/>
          </p:cNvSpPr>
          <p:nvPr>
            <p:ph type="title"/>
          </p:nvPr>
        </p:nvSpPr>
        <p:spPr>
          <a:solidFill>
            <a:srgbClr val="FFFF00"/>
          </a:solidFill>
        </p:spPr>
        <p:txBody>
          <a:bodyPr>
            <a:normAutofit fontScale="90000"/>
          </a:bodyPr>
          <a:lstStyle/>
          <a:p>
            <a:pPr algn="ctr"/>
            <a:r>
              <a:rPr lang="en-US" sz="1000" noProof="0" dirty="0"/>
              <a:t>Exhibit 4.4 </a:t>
            </a:r>
            <a:r>
              <a:rPr lang="en-US" noProof="0" dirty="0"/>
              <a:t>The Strategy Map: Creating Value by Aligning Goals</a:t>
            </a:r>
          </a:p>
        </p:txBody>
      </p:sp>
      <p:pic>
        <p:nvPicPr>
          <p:cNvPr id="8" name="Picture 7" descr="An example of a strategy map">
            <a:extLst>
              <a:ext uri="{FF2B5EF4-FFF2-40B4-BE49-F238E27FC236}">
                <a16:creationId xmlns:a16="http://schemas.microsoft.com/office/drawing/2014/main" id="{E015D346-9DCE-4BCC-A956-6F4469C9E6D1}"/>
              </a:ext>
            </a:extLst>
          </p:cNvPr>
          <p:cNvPicPr>
            <a:picLocks noChangeAspect="1"/>
          </p:cNvPicPr>
          <p:nvPr/>
        </p:nvPicPr>
        <p:blipFill>
          <a:blip r:embed="rId3"/>
          <a:stretch>
            <a:fillRect/>
          </a:stretch>
        </p:blipFill>
        <p:spPr>
          <a:xfrm>
            <a:off x="342900" y="1054665"/>
            <a:ext cx="8639352" cy="4956891"/>
          </a:xfrm>
          <a:prstGeom prst="rect">
            <a:avLst/>
          </a:prstGeom>
        </p:spPr>
      </p:pic>
      <p:sp>
        <p:nvSpPr>
          <p:cNvPr id="4" name="Content Placeholder 3">
            <a:extLst>
              <a:ext uri="{FF2B5EF4-FFF2-40B4-BE49-F238E27FC236}">
                <a16:creationId xmlns:a16="http://schemas.microsoft.com/office/drawing/2014/main" id="{6F2754E8-132B-43FE-B173-C9B0D81B1621}"/>
              </a:ext>
            </a:extLst>
          </p:cNvPr>
          <p:cNvSpPr>
            <a:spLocks noGrp="1"/>
          </p:cNvSpPr>
          <p:nvPr>
            <p:ph sz="quarter" idx="11"/>
          </p:nvPr>
        </p:nvSpPr>
        <p:spPr>
          <a:xfrm>
            <a:off x="524052" y="5933110"/>
            <a:ext cx="8458200" cy="821119"/>
          </a:xfrm>
        </p:spPr>
        <p:txBody>
          <a:bodyPr>
            <a:normAutofit/>
          </a:bodyPr>
          <a:lstStyle/>
          <a:p>
            <a:r>
              <a:rPr lang="en-US" sz="1400" noProof="0" dirty="0">
                <a:solidFill>
                  <a:schemeClr val="tx1"/>
                </a:solidFill>
              </a:rPr>
              <a:t>SOURCES: Adapted from R. Kaplan and D. Norton, “Plotting Success with Strategy Maps,” </a:t>
            </a:r>
            <a:r>
              <a:rPr lang="en-US" sz="1400" i="1" noProof="0" dirty="0">
                <a:solidFill>
                  <a:schemeClr val="tx1"/>
                </a:solidFill>
              </a:rPr>
              <a:t>Optimize, </a:t>
            </a:r>
            <a:r>
              <a:rPr lang="en-US" sz="1400" noProof="0" dirty="0">
                <a:solidFill>
                  <a:schemeClr val="tx1"/>
                </a:solidFill>
              </a:rPr>
              <a:t>February 2004, </a:t>
            </a:r>
            <a:r>
              <a:rPr lang="en-US" sz="1400" noProof="0" dirty="0">
                <a:solidFill>
                  <a:schemeClr val="tx1"/>
                </a:solidFill>
                <a:hlinkClick r:id="rId4"/>
              </a:rPr>
              <a:t>http://www.optimizemag.com</a:t>
            </a:r>
            <a:r>
              <a:rPr lang="en-US" sz="1400" noProof="0" dirty="0">
                <a:solidFill>
                  <a:schemeClr val="tx1"/>
                </a:solidFill>
              </a:rPr>
              <a:t>; R. Kaplan and D. Norton, “Having Trouble with Your Strategy? Then Map It,” </a:t>
            </a:r>
            <a:r>
              <a:rPr lang="en-US" sz="1400" i="1" noProof="0" dirty="0">
                <a:solidFill>
                  <a:schemeClr val="tx1"/>
                </a:solidFill>
              </a:rPr>
              <a:t>Harvard Business Review, </a:t>
            </a:r>
            <a:r>
              <a:rPr lang="en-US" sz="1400" noProof="0" dirty="0">
                <a:solidFill>
                  <a:schemeClr val="tx1"/>
                </a:solidFill>
              </a:rPr>
              <a:t>September–October 2000.</a:t>
            </a:r>
            <a:endParaRPr lang="en-US" sz="1400" noProof="0" dirty="0"/>
          </a:p>
        </p:txBody>
      </p:sp>
      <p:sp>
        <p:nvSpPr>
          <p:cNvPr id="7" name="Slide Number Placeholder 6">
            <a:extLst>
              <a:ext uri="{FF2B5EF4-FFF2-40B4-BE49-F238E27FC236}">
                <a16:creationId xmlns:a16="http://schemas.microsoft.com/office/drawing/2014/main" id="{45DC5753-8956-4A53-A381-ED32675A81DA}"/>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432036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solidFill>
            <a:srgbClr val="FFFF00"/>
          </a:solidFill>
        </p:spPr>
        <p:txBody>
          <a:bodyPr>
            <a:normAutofit fontScale="90000"/>
          </a:bodyPr>
          <a:lstStyle/>
          <a:p>
            <a:r>
              <a:rPr lang="en-US" sz="1000" noProof="0" dirty="0"/>
              <a:t>Exhibit 4.5 </a:t>
            </a:r>
            <a:r>
              <a:rPr lang="en-US" noProof="0" dirty="0"/>
              <a:t>The Strategic Management Process</a:t>
            </a:r>
          </a:p>
        </p:txBody>
      </p:sp>
      <p:sp>
        <p:nvSpPr>
          <p:cNvPr id="5" name="Content Placeholder 4">
            <a:extLst>
              <a:ext uri="{FF2B5EF4-FFF2-40B4-BE49-F238E27FC236}">
                <a16:creationId xmlns:a16="http://schemas.microsoft.com/office/drawing/2014/main" id="{D845FF39-3523-4B2B-A14C-7CD48B609D7D}"/>
              </a:ext>
            </a:extLst>
          </p:cNvPr>
          <p:cNvSpPr>
            <a:spLocks noGrp="1"/>
          </p:cNvSpPr>
          <p:nvPr>
            <p:ph sz="quarter" idx="11"/>
          </p:nvPr>
        </p:nvSpPr>
        <p:spPr>
          <a:xfrm>
            <a:off x="342900" y="1276709"/>
            <a:ext cx="8458200" cy="1332161"/>
          </a:xfrm>
        </p:spPr>
        <p:txBody>
          <a:bodyPr>
            <a:normAutofit/>
          </a:bodyPr>
          <a:lstStyle/>
          <a:p>
            <a:pPr>
              <a:defRPr/>
            </a:pPr>
            <a:r>
              <a:rPr lang="en-US" sz="2400" noProof="0" dirty="0"/>
              <a:t>A process that involves managers from all parts of the organization in the formulation and implementation of strategic goals and strategies.</a:t>
            </a:r>
          </a:p>
        </p:txBody>
      </p:sp>
      <p:pic>
        <p:nvPicPr>
          <p:cNvPr id="8" name="Picture 7" descr="The exhibit shows the strategic management process.">
            <a:extLst>
              <a:ext uri="{FF2B5EF4-FFF2-40B4-BE49-F238E27FC236}">
                <a16:creationId xmlns:a16="http://schemas.microsoft.com/office/drawing/2014/main" id="{1AF70624-E5AB-4CFB-A4F0-7A7987912472}"/>
              </a:ext>
            </a:extLst>
          </p:cNvPr>
          <p:cNvPicPr>
            <a:picLocks noChangeAspect="1"/>
          </p:cNvPicPr>
          <p:nvPr/>
        </p:nvPicPr>
        <p:blipFill>
          <a:blip r:embed="rId3"/>
          <a:stretch>
            <a:fillRect/>
          </a:stretch>
        </p:blipFill>
        <p:spPr>
          <a:xfrm>
            <a:off x="0" y="2608870"/>
            <a:ext cx="9144000" cy="4015584"/>
          </a:xfrm>
          <a:prstGeom prst="rect">
            <a:avLst/>
          </a:prstGeom>
        </p:spPr>
      </p:pic>
      <p:sp>
        <p:nvSpPr>
          <p:cNvPr id="4" name="Slide Number Placeholder 5">
            <a:extLst>
              <a:ext uri="{FF2B5EF4-FFF2-40B4-BE49-F238E27FC236}">
                <a16:creationId xmlns:a16="http://schemas.microsoft.com/office/drawing/2014/main" id="{15B0BA08-CB8C-4564-95FC-136D46D3723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solidFill>
            <a:srgbClr val="FFFF00"/>
          </a:solidFill>
        </p:spPr>
        <p:txBody>
          <a:bodyPr>
            <a:normAutofit fontScale="90000"/>
          </a:bodyPr>
          <a:lstStyle/>
          <a:p>
            <a:pPr algn="ctr"/>
            <a:r>
              <a:rPr lang="en-US" noProof="0" dirty="0"/>
              <a:t>Step 1:</a:t>
            </a:r>
            <a:br>
              <a:rPr lang="en-US" noProof="0" dirty="0"/>
            </a:br>
            <a:r>
              <a:rPr lang="en-US" noProof="0" dirty="0"/>
              <a:t> Establishing Mission, Vision, and Goals</a:t>
            </a:r>
            <a:endParaRPr lang="en-US" sz="900" noProof="0" dirty="0"/>
          </a:p>
        </p:txBody>
      </p:sp>
      <p:sp>
        <p:nvSpPr>
          <p:cNvPr id="6" name="Content Placeholder 5">
            <a:extLst>
              <a:ext uri="{FF2B5EF4-FFF2-40B4-BE49-F238E27FC236}">
                <a16:creationId xmlns:a16="http://schemas.microsoft.com/office/drawing/2014/main" id="{31BB2371-A07E-4C03-AADB-2B46CDC59041}"/>
              </a:ext>
            </a:extLst>
          </p:cNvPr>
          <p:cNvSpPr>
            <a:spLocks noGrp="1"/>
          </p:cNvSpPr>
          <p:nvPr>
            <p:ph sz="quarter" idx="11"/>
          </p:nvPr>
        </p:nvSpPr>
        <p:spPr>
          <a:xfrm>
            <a:off x="342900" y="1276709"/>
            <a:ext cx="8458200" cy="1237891"/>
          </a:xfrm>
        </p:spPr>
        <p:txBody>
          <a:bodyPr/>
          <a:lstStyle/>
          <a:p>
            <a:pPr>
              <a:defRPr/>
            </a:pPr>
            <a:r>
              <a:rPr lang="en-US" b="1" noProof="0" dirty="0"/>
              <a:t>Mission:</a:t>
            </a:r>
          </a:p>
          <a:p>
            <a:pPr lvl="1">
              <a:defRPr/>
            </a:pPr>
            <a:r>
              <a:rPr lang="en-US" noProof="0" dirty="0"/>
              <a:t>An organization’s basic purpose and scope of operations.</a:t>
            </a:r>
          </a:p>
        </p:txBody>
      </p:sp>
      <p:sp>
        <p:nvSpPr>
          <p:cNvPr id="8" name="Content Placeholder 7">
            <a:extLst>
              <a:ext uri="{FF2B5EF4-FFF2-40B4-BE49-F238E27FC236}">
                <a16:creationId xmlns:a16="http://schemas.microsoft.com/office/drawing/2014/main" id="{538D76ED-AFA6-45ED-B7A6-9838DEAB7375}"/>
              </a:ext>
            </a:extLst>
          </p:cNvPr>
          <p:cNvSpPr>
            <a:spLocks noGrp="1"/>
          </p:cNvSpPr>
          <p:nvPr>
            <p:ph sz="quarter" idx="14"/>
          </p:nvPr>
        </p:nvSpPr>
        <p:spPr>
          <a:xfrm>
            <a:off x="342900" y="2574471"/>
            <a:ext cx="8458200" cy="2819400"/>
          </a:xfrm>
        </p:spPr>
        <p:txBody>
          <a:bodyPr/>
          <a:lstStyle/>
          <a:p>
            <a:pPr>
              <a:defRPr/>
            </a:pPr>
            <a:r>
              <a:rPr lang="en-US" b="1" noProof="0" dirty="0"/>
              <a:t>Strategic Vision</a:t>
            </a:r>
          </a:p>
          <a:p>
            <a:pPr lvl="1">
              <a:defRPr/>
            </a:pPr>
            <a:r>
              <a:rPr lang="en-US" noProof="0" dirty="0"/>
              <a:t>The long-term direction and strategic intent of a company.</a:t>
            </a:r>
          </a:p>
          <a:p>
            <a:pPr lvl="1">
              <a:defRPr/>
            </a:pPr>
            <a:r>
              <a:rPr lang="en-US" noProof="0" dirty="0"/>
              <a:t>Provides a perspective on where the organization is headed and what it can become.</a:t>
            </a:r>
          </a:p>
        </p:txBody>
      </p:sp>
      <p:sp>
        <p:nvSpPr>
          <p:cNvPr id="5" name="Slide Number Placeholder 5">
            <a:extLst>
              <a:ext uri="{FF2B5EF4-FFF2-40B4-BE49-F238E27FC236}">
                <a16:creationId xmlns:a16="http://schemas.microsoft.com/office/drawing/2014/main" id="{E1965E1E-5122-4033-9A2E-9360B0DF906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342900" y="233546"/>
            <a:ext cx="8458200" cy="1516426"/>
          </a:xfrm>
          <a:solidFill>
            <a:srgbClr val="FFFF00"/>
          </a:solidFill>
        </p:spPr>
        <p:txBody>
          <a:bodyPr>
            <a:normAutofit fontScale="90000"/>
          </a:bodyPr>
          <a:lstStyle/>
          <a:p>
            <a:pPr algn="ctr"/>
            <a:r>
              <a:rPr lang="en-US" noProof="0" dirty="0"/>
              <a:t>Step 2: </a:t>
            </a:r>
            <a:br>
              <a:rPr lang="en-US" noProof="0" dirty="0"/>
            </a:br>
            <a:r>
              <a:rPr lang="en-US" noProof="0" dirty="0"/>
              <a:t>Analyzing External Opportunities and Threats</a:t>
            </a:r>
            <a:endParaRPr lang="en-US" sz="900" noProof="0" dirty="0"/>
          </a:p>
        </p:txBody>
      </p:sp>
      <p:sp>
        <p:nvSpPr>
          <p:cNvPr id="4" name="Content Placeholder 3"/>
          <p:cNvSpPr>
            <a:spLocks noGrp="1"/>
          </p:cNvSpPr>
          <p:nvPr>
            <p:ph sz="quarter" idx="11"/>
          </p:nvPr>
        </p:nvSpPr>
        <p:spPr>
          <a:xfrm>
            <a:off x="342900" y="2192833"/>
            <a:ext cx="8458200" cy="1832251"/>
          </a:xfrm>
        </p:spPr>
        <p:txBody>
          <a:bodyPr>
            <a:normAutofit/>
          </a:bodyPr>
          <a:lstStyle/>
          <a:p>
            <a:pPr>
              <a:defRPr/>
            </a:pPr>
            <a:r>
              <a:rPr lang="en-US" b="1" noProof="0" dirty="0"/>
              <a:t>Stakeholders</a:t>
            </a:r>
          </a:p>
          <a:p>
            <a:pPr lvl="1">
              <a:defRPr/>
            </a:pPr>
            <a:r>
              <a:rPr lang="en-US" b="1" noProof="0" dirty="0">
                <a:solidFill>
                  <a:srgbClr val="FF0000"/>
                </a:solidFill>
              </a:rPr>
              <a:t>Groups and individuals who affect and are affected by the achievement of the organization’s mission, goals, and strategies.</a:t>
            </a:r>
          </a:p>
        </p:txBody>
      </p:sp>
      <p:sp>
        <p:nvSpPr>
          <p:cNvPr id="3" name="Content Placeholder 2">
            <a:extLst>
              <a:ext uri="{FF2B5EF4-FFF2-40B4-BE49-F238E27FC236}">
                <a16:creationId xmlns:a16="http://schemas.microsoft.com/office/drawing/2014/main" id="{11F37D26-9BFE-4469-84B5-71CC0B0BE754}"/>
              </a:ext>
            </a:extLst>
          </p:cNvPr>
          <p:cNvSpPr>
            <a:spLocks noGrp="1"/>
          </p:cNvSpPr>
          <p:nvPr>
            <p:ph sz="quarter" idx="14"/>
          </p:nvPr>
        </p:nvSpPr>
        <p:spPr>
          <a:xfrm>
            <a:off x="342900" y="4331585"/>
            <a:ext cx="8458200" cy="1119320"/>
          </a:xfrm>
        </p:spPr>
        <p:txBody>
          <a:bodyPr/>
          <a:lstStyle/>
          <a:p>
            <a:r>
              <a:rPr lang="en-US" noProof="0" dirty="0"/>
              <a:t>Some view renewable resources as a threat; others as an opportunity.</a:t>
            </a:r>
          </a:p>
        </p:txBody>
      </p:sp>
      <p:sp>
        <p:nvSpPr>
          <p:cNvPr id="5" name="Slide Number Placeholder 5">
            <a:extLst>
              <a:ext uri="{FF2B5EF4-FFF2-40B4-BE49-F238E27FC236}">
                <a16:creationId xmlns:a16="http://schemas.microsoft.com/office/drawing/2014/main" id="{30C930C8-5E47-4435-AD01-E1D15B15B15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76423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B951B-CD45-4626-9416-5B89790EAE9C}"/>
              </a:ext>
            </a:extLst>
          </p:cNvPr>
          <p:cNvSpPr>
            <a:spLocks noGrp="1"/>
          </p:cNvSpPr>
          <p:nvPr>
            <p:ph type="title"/>
          </p:nvPr>
        </p:nvSpPr>
        <p:spPr>
          <a:xfrm>
            <a:off x="342900" y="233546"/>
            <a:ext cx="8639352" cy="821119"/>
          </a:xfrm>
        </p:spPr>
        <p:txBody>
          <a:bodyPr>
            <a:normAutofit fontScale="90000"/>
          </a:bodyPr>
          <a:lstStyle/>
          <a:p>
            <a:r>
              <a:rPr lang="en-US" noProof="0" dirty="0"/>
              <a:t>Components of an Environmental Analysis</a:t>
            </a:r>
            <a:endParaRPr lang="en-US" sz="2700" noProof="0" dirty="0"/>
          </a:p>
        </p:txBody>
      </p:sp>
      <p:graphicFrame>
        <p:nvGraphicFramePr>
          <p:cNvPr id="10" name="Table 4">
            <a:extLst>
              <a:ext uri="{FF2B5EF4-FFF2-40B4-BE49-F238E27FC236}">
                <a16:creationId xmlns:a16="http://schemas.microsoft.com/office/drawing/2014/main" id="{64797BDE-EBE1-4246-9A91-5A979D0A5500}"/>
              </a:ext>
            </a:extLst>
          </p:cNvPr>
          <p:cNvGraphicFramePr>
            <a:graphicFrameLocks noGrp="1"/>
          </p:cNvGraphicFramePr>
          <p:nvPr>
            <p:extLst>
              <p:ext uri="{D42A27DB-BD31-4B8C-83A1-F6EECF244321}">
                <p14:modId xmlns:p14="http://schemas.microsoft.com/office/powerpoint/2010/main" val="1907359332"/>
              </p:ext>
            </p:extLst>
          </p:nvPr>
        </p:nvGraphicFramePr>
        <p:xfrm>
          <a:off x="647700" y="1656708"/>
          <a:ext cx="7848600" cy="3657600"/>
        </p:xfrm>
        <a:graphic>
          <a:graphicData uri="http://schemas.openxmlformats.org/drawingml/2006/table">
            <a:tbl>
              <a:tblPr firstRow="1" bandRow="1">
                <a:tableStyleId>{5C22544A-7EE6-4342-B048-85BDC9FD1C3A}</a:tableStyleId>
              </a:tblPr>
              <a:tblGrid>
                <a:gridCol w="7848600">
                  <a:extLst>
                    <a:ext uri="{9D8B030D-6E8A-4147-A177-3AD203B41FA5}">
                      <a16:colId xmlns:a16="http://schemas.microsoft.com/office/drawing/2014/main" val="3700575497"/>
                    </a:ext>
                  </a:extLst>
                </a:gridCol>
              </a:tblGrid>
              <a:tr h="326204">
                <a:tc>
                  <a:txBody>
                    <a:bodyPr/>
                    <a:lstStyle/>
                    <a:p>
                      <a:pPr algn="ctr"/>
                      <a:r>
                        <a:rPr lang="en-US" sz="2400" dirty="0"/>
                        <a:t>COMPONENTS</a:t>
                      </a:r>
                      <a:endParaRPr lang="en-US" sz="2400" dirty="0">
                        <a:solidFill>
                          <a:schemeClr val="tx1"/>
                        </a:solidFill>
                      </a:endParaRPr>
                    </a:p>
                  </a:txBody>
                  <a:tcPr/>
                </a:tc>
                <a:extLst>
                  <a:ext uri="{0D108BD9-81ED-4DB2-BD59-A6C34878D82A}">
                    <a16:rowId xmlns:a16="http://schemas.microsoft.com/office/drawing/2014/main" val="555728412"/>
                  </a:ext>
                </a:extLst>
              </a:tr>
              <a:tr h="140756">
                <a:tc>
                  <a:txBody>
                    <a:bodyPr/>
                    <a:lstStyle/>
                    <a:p>
                      <a:pPr algn="ctr"/>
                      <a:r>
                        <a:rPr lang="en-US" sz="2400" dirty="0"/>
                        <a:t>Industry and Market Analysis</a:t>
                      </a:r>
                    </a:p>
                  </a:txBody>
                  <a:tcPr/>
                </a:tc>
                <a:extLst>
                  <a:ext uri="{0D108BD9-81ED-4DB2-BD59-A6C34878D82A}">
                    <a16:rowId xmlns:a16="http://schemas.microsoft.com/office/drawing/2014/main" val="1146909868"/>
                  </a:ext>
                </a:extLst>
              </a:tr>
              <a:tr h="211134">
                <a:tc>
                  <a:txBody>
                    <a:bodyPr/>
                    <a:lstStyle/>
                    <a:p>
                      <a:pPr algn="ctr"/>
                      <a:r>
                        <a:rPr lang="en-US" sz="2400" dirty="0"/>
                        <a:t>Competitor Analysis</a:t>
                      </a:r>
                    </a:p>
                  </a:txBody>
                  <a:tcPr/>
                </a:tc>
                <a:extLst>
                  <a:ext uri="{0D108BD9-81ED-4DB2-BD59-A6C34878D82A}">
                    <a16:rowId xmlns:a16="http://schemas.microsoft.com/office/drawing/2014/main" val="1536169348"/>
                  </a:ext>
                </a:extLst>
              </a:tr>
              <a:tr h="328259">
                <a:tc>
                  <a:txBody>
                    <a:bodyPr/>
                    <a:lstStyle/>
                    <a:p>
                      <a:pPr algn="ctr"/>
                      <a:r>
                        <a:rPr lang="en-US" sz="2400" dirty="0"/>
                        <a:t>Political and Regulatory Analysis</a:t>
                      </a:r>
                    </a:p>
                  </a:txBody>
                  <a:tcPr/>
                </a:tc>
                <a:extLst>
                  <a:ext uri="{0D108BD9-81ED-4DB2-BD59-A6C34878D82A}">
                    <a16:rowId xmlns:a16="http://schemas.microsoft.com/office/drawing/2014/main" val="2747885106"/>
                  </a:ext>
                </a:extLst>
              </a:tr>
              <a:tr h="178257">
                <a:tc>
                  <a:txBody>
                    <a:bodyPr/>
                    <a:lstStyle/>
                    <a:p>
                      <a:pPr algn="ctr"/>
                      <a:r>
                        <a:rPr lang="en-US" sz="2400" dirty="0"/>
                        <a:t>Social Analysis</a:t>
                      </a:r>
                    </a:p>
                  </a:txBody>
                  <a:tcPr/>
                </a:tc>
                <a:extLst>
                  <a:ext uri="{0D108BD9-81ED-4DB2-BD59-A6C34878D82A}">
                    <a16:rowId xmlns:a16="http://schemas.microsoft.com/office/drawing/2014/main" val="4013977593"/>
                  </a:ext>
                </a:extLst>
              </a:tr>
              <a:tr h="235278">
                <a:tc>
                  <a:txBody>
                    <a:bodyPr/>
                    <a:lstStyle/>
                    <a:p>
                      <a:pPr algn="ctr"/>
                      <a:r>
                        <a:rPr lang="en-US" sz="2400" dirty="0"/>
                        <a:t>Human Resources Analysis</a:t>
                      </a:r>
                    </a:p>
                  </a:txBody>
                  <a:tcPr/>
                </a:tc>
                <a:extLst>
                  <a:ext uri="{0D108BD9-81ED-4DB2-BD59-A6C34878D82A}">
                    <a16:rowId xmlns:a16="http://schemas.microsoft.com/office/drawing/2014/main" val="245524705"/>
                  </a:ext>
                </a:extLst>
              </a:tr>
              <a:tr h="268669">
                <a:tc>
                  <a:txBody>
                    <a:bodyPr/>
                    <a:lstStyle/>
                    <a:p>
                      <a:pPr algn="ctr"/>
                      <a:r>
                        <a:rPr lang="en-US" sz="2400" dirty="0"/>
                        <a:t>Macroeconomic Analysis</a:t>
                      </a:r>
                    </a:p>
                  </a:txBody>
                  <a:tcPr/>
                </a:tc>
                <a:extLst>
                  <a:ext uri="{0D108BD9-81ED-4DB2-BD59-A6C34878D82A}">
                    <a16:rowId xmlns:a16="http://schemas.microsoft.com/office/drawing/2014/main" val="3993265131"/>
                  </a:ext>
                </a:extLst>
              </a:tr>
              <a:tr h="375520">
                <a:tc>
                  <a:txBody>
                    <a:bodyPr/>
                    <a:lstStyle/>
                    <a:p>
                      <a:pPr algn="ctr"/>
                      <a:r>
                        <a:rPr lang="en-US" sz="2400" dirty="0"/>
                        <a:t>Technological Analysis</a:t>
                      </a:r>
                    </a:p>
                  </a:txBody>
                  <a:tcPr/>
                </a:tc>
                <a:extLst>
                  <a:ext uri="{0D108BD9-81ED-4DB2-BD59-A6C34878D82A}">
                    <a16:rowId xmlns:a16="http://schemas.microsoft.com/office/drawing/2014/main" val="463174229"/>
                  </a:ext>
                </a:extLst>
              </a:tr>
            </a:tbl>
          </a:graphicData>
        </a:graphic>
      </p:graphicFrame>
      <p:sp>
        <p:nvSpPr>
          <p:cNvPr id="7" name="Slide Number Placeholder 6">
            <a:extLst>
              <a:ext uri="{FF2B5EF4-FFF2-40B4-BE49-F238E27FC236}">
                <a16:creationId xmlns:a16="http://schemas.microsoft.com/office/drawing/2014/main" id="{20D22C2B-A46D-449F-BEE9-DAB3B7FB0826}"/>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4029906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2B0B-EE8B-496F-94E8-E1328004F0B8}"/>
              </a:ext>
            </a:extLst>
          </p:cNvPr>
          <p:cNvSpPr>
            <a:spLocks noGrp="1"/>
          </p:cNvSpPr>
          <p:nvPr>
            <p:ph type="title"/>
          </p:nvPr>
        </p:nvSpPr>
        <p:spPr>
          <a:xfrm>
            <a:off x="342900" y="233546"/>
            <a:ext cx="8458200" cy="1201654"/>
          </a:xfrm>
          <a:solidFill>
            <a:srgbClr val="FFFF00"/>
          </a:solidFill>
        </p:spPr>
        <p:txBody>
          <a:bodyPr>
            <a:normAutofit fontScale="90000"/>
          </a:bodyPr>
          <a:lstStyle/>
          <a:p>
            <a:pPr algn="ctr"/>
            <a:r>
              <a:rPr lang="en-US" noProof="0" dirty="0"/>
              <a:t>Step 3:</a:t>
            </a:r>
            <a:br>
              <a:rPr lang="en-US" noProof="0" dirty="0"/>
            </a:br>
            <a:r>
              <a:rPr lang="en-US" noProof="0" dirty="0"/>
              <a:t> Analyzing Internal Strengths and Weaknesses</a:t>
            </a:r>
          </a:p>
        </p:txBody>
      </p:sp>
      <p:sp>
        <p:nvSpPr>
          <p:cNvPr id="4" name="Content Placeholder 3">
            <a:extLst>
              <a:ext uri="{FF2B5EF4-FFF2-40B4-BE49-F238E27FC236}">
                <a16:creationId xmlns:a16="http://schemas.microsoft.com/office/drawing/2014/main" id="{4678EBE1-AA94-46DB-9CB6-A4C489EAFFCF}"/>
              </a:ext>
            </a:extLst>
          </p:cNvPr>
          <p:cNvSpPr>
            <a:spLocks noGrp="1"/>
          </p:cNvSpPr>
          <p:nvPr>
            <p:ph sz="quarter" idx="11"/>
          </p:nvPr>
        </p:nvSpPr>
        <p:spPr>
          <a:xfrm>
            <a:off x="342900" y="1860331"/>
            <a:ext cx="8458200" cy="4388069"/>
          </a:xfrm>
        </p:spPr>
        <p:txBody>
          <a:bodyPr/>
          <a:lstStyle/>
          <a:p>
            <a:r>
              <a:rPr lang="en-US" noProof="0" dirty="0"/>
              <a:t>Internal resource analysis:</a:t>
            </a:r>
          </a:p>
          <a:p>
            <a:pPr marL="2857500" lvl="5" indent="-342900"/>
            <a:r>
              <a:rPr lang="en-US" sz="3600" b="1" noProof="0" dirty="0">
                <a:solidFill>
                  <a:srgbClr val="FF0000"/>
                </a:solidFill>
              </a:rPr>
              <a:t>Financial analysis.</a:t>
            </a:r>
          </a:p>
          <a:p>
            <a:pPr marL="2857500" lvl="5" indent="-342900"/>
            <a:r>
              <a:rPr lang="en-US" sz="3600" b="1" noProof="0" dirty="0">
                <a:solidFill>
                  <a:srgbClr val="FF0000"/>
                </a:solidFill>
              </a:rPr>
              <a:t>Marketing audit.</a:t>
            </a:r>
          </a:p>
          <a:p>
            <a:pPr marL="2857500" lvl="5" indent="-342900"/>
            <a:r>
              <a:rPr lang="en-US" sz="3600" b="1" noProof="0" dirty="0">
                <a:solidFill>
                  <a:srgbClr val="FF0000"/>
                </a:solidFill>
              </a:rPr>
              <a:t>Operations analysis.</a:t>
            </a:r>
          </a:p>
          <a:p>
            <a:pPr marL="2857500" lvl="5" indent="-342900"/>
            <a:r>
              <a:rPr lang="en-US" sz="3600" b="1" noProof="0" dirty="0">
                <a:solidFill>
                  <a:srgbClr val="FF0000"/>
                </a:solidFill>
              </a:rPr>
              <a:t>Other internal resource analysis.</a:t>
            </a:r>
          </a:p>
          <a:p>
            <a:pPr marL="2857500" lvl="5" indent="-342900"/>
            <a:r>
              <a:rPr lang="en-US" sz="3600" b="1" noProof="0" dirty="0">
                <a:solidFill>
                  <a:srgbClr val="FF0000"/>
                </a:solidFill>
              </a:rPr>
              <a:t>Human resources assessment.</a:t>
            </a:r>
          </a:p>
        </p:txBody>
      </p:sp>
      <p:sp>
        <p:nvSpPr>
          <p:cNvPr id="6" name="Slide Number Placeholder 5">
            <a:extLst>
              <a:ext uri="{FF2B5EF4-FFF2-40B4-BE49-F238E27FC236}">
                <a16:creationId xmlns:a16="http://schemas.microsoft.com/office/drawing/2014/main" id="{BFBE6933-E7D8-4E2F-A16C-CCA19D3E6640}"/>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712379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solidFill>
            <a:srgbClr val="FFFF00"/>
          </a:solidFill>
        </p:spPr>
        <p:txBody>
          <a:bodyPr>
            <a:normAutofit/>
          </a:bodyPr>
          <a:lstStyle/>
          <a:p>
            <a:pPr algn="ctr"/>
            <a:r>
              <a:rPr lang="en-US" noProof="0" dirty="0"/>
              <a:t>Resources and Core Capabilities</a:t>
            </a:r>
          </a:p>
        </p:txBody>
      </p:sp>
      <p:sp>
        <p:nvSpPr>
          <p:cNvPr id="40963" name="Content Placeholder 7"/>
          <p:cNvSpPr>
            <a:spLocks noGrp="1"/>
          </p:cNvSpPr>
          <p:nvPr>
            <p:ph sz="quarter" idx="11"/>
          </p:nvPr>
        </p:nvSpPr>
        <p:spPr>
          <a:xfrm>
            <a:off x="342900" y="1276709"/>
            <a:ext cx="8458200" cy="1905001"/>
          </a:xfrm>
        </p:spPr>
        <p:txBody>
          <a:bodyPr>
            <a:normAutofit/>
          </a:bodyPr>
          <a:lstStyle/>
          <a:p>
            <a:pPr>
              <a:spcBef>
                <a:spcPts val="600"/>
              </a:spcBef>
            </a:pPr>
            <a:r>
              <a:rPr lang="en-US" b="1" noProof="0" dirty="0"/>
              <a:t>Resources:</a:t>
            </a:r>
          </a:p>
          <a:p>
            <a:pPr>
              <a:spcBef>
                <a:spcPts val="600"/>
              </a:spcBef>
            </a:pPr>
            <a:r>
              <a:rPr lang="en-US" sz="2400" noProof="0" dirty="0"/>
              <a:t>Inputs to a system that can enhance performance.</a:t>
            </a:r>
          </a:p>
          <a:p>
            <a:pPr lvl="1"/>
            <a:r>
              <a:rPr lang="en-US" sz="2000" noProof="0" dirty="0"/>
              <a:t>Tangible assets: real estate, raw materials.</a:t>
            </a:r>
          </a:p>
          <a:p>
            <a:pPr lvl="1"/>
            <a:r>
              <a:rPr lang="en-US" sz="2000" noProof="0" dirty="0"/>
              <a:t>Intangible assets: reputation, culture, patents.</a:t>
            </a:r>
          </a:p>
        </p:txBody>
      </p:sp>
      <p:sp>
        <p:nvSpPr>
          <p:cNvPr id="3" name="Content Placeholder 2">
            <a:extLst>
              <a:ext uri="{FF2B5EF4-FFF2-40B4-BE49-F238E27FC236}">
                <a16:creationId xmlns:a16="http://schemas.microsoft.com/office/drawing/2014/main" id="{D5629528-8157-4002-AABF-96FDFEF9F2F1}"/>
              </a:ext>
            </a:extLst>
          </p:cNvPr>
          <p:cNvSpPr>
            <a:spLocks noGrp="1"/>
          </p:cNvSpPr>
          <p:nvPr>
            <p:ph sz="quarter" idx="14"/>
          </p:nvPr>
        </p:nvSpPr>
        <p:spPr>
          <a:xfrm>
            <a:off x="342900" y="3560096"/>
            <a:ext cx="8458200" cy="1392046"/>
          </a:xfrm>
        </p:spPr>
        <p:txBody>
          <a:bodyPr/>
          <a:lstStyle/>
          <a:p>
            <a:r>
              <a:rPr lang="en-US" b="1" noProof="0" dirty="0"/>
              <a:t>Core Capability:</a:t>
            </a:r>
          </a:p>
          <a:p>
            <a:pPr marL="291600" indent="-291600">
              <a:buFont typeface="Arial" panose="020B0604020202020204" pitchFamily="34" charset="0"/>
              <a:buChar char="•"/>
            </a:pPr>
            <a:r>
              <a:rPr lang="en-US" sz="2000" noProof="0" dirty="0"/>
              <a:t>Unique skill and/or knowledge an organization possesses that gives it an edge over competitors.</a:t>
            </a:r>
          </a:p>
        </p:txBody>
      </p:sp>
      <p:sp>
        <p:nvSpPr>
          <p:cNvPr id="4" name="Slide Number Placeholder 5">
            <a:extLst>
              <a:ext uri="{FF2B5EF4-FFF2-40B4-BE49-F238E27FC236}">
                <a16:creationId xmlns:a16="http://schemas.microsoft.com/office/drawing/2014/main" id="{836CC43B-2DC2-41BA-B13D-1442B65AD3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solidFill>
            <a:srgbClr val="FFFF00"/>
          </a:solidFill>
          <a:effectLst/>
        </p:spPr>
        <p:txBody>
          <a:bodyPr>
            <a:normAutofit/>
          </a:bodyPr>
          <a:lstStyle/>
          <a:p>
            <a:r>
              <a:rPr lang="en-US" sz="900" noProof="0" dirty="0"/>
              <a:t>Exhibit 4.8 </a:t>
            </a:r>
            <a:r>
              <a:rPr lang="en-US" sz="3200" noProof="0" dirty="0"/>
              <a:t>Resources and Core Capability</a:t>
            </a:r>
            <a:endParaRPr lang="en-US" sz="3000" noProof="0" dirty="0">
              <a:solidFill>
                <a:srgbClr val="0070C0"/>
              </a:solidFill>
            </a:endParaRPr>
          </a:p>
        </p:txBody>
      </p:sp>
      <p:pic>
        <p:nvPicPr>
          <p:cNvPr id="7" name="Picture 6" descr="The graphic shows the relationships between resources and core capabilities.">
            <a:extLst>
              <a:ext uri="{FF2B5EF4-FFF2-40B4-BE49-F238E27FC236}">
                <a16:creationId xmlns:a16="http://schemas.microsoft.com/office/drawing/2014/main" id="{C74483BF-E410-4A3F-9E53-EF8BE61EAEE1}"/>
              </a:ext>
            </a:extLst>
          </p:cNvPr>
          <p:cNvPicPr>
            <a:picLocks noChangeAspect="1"/>
          </p:cNvPicPr>
          <p:nvPr/>
        </p:nvPicPr>
        <p:blipFill>
          <a:blip r:embed="rId3"/>
          <a:stretch>
            <a:fillRect/>
          </a:stretch>
        </p:blipFill>
        <p:spPr>
          <a:xfrm>
            <a:off x="2353642" y="1386598"/>
            <a:ext cx="4436715" cy="4375227"/>
          </a:xfrm>
          <a:prstGeom prst="rect">
            <a:avLst/>
          </a:prstGeom>
        </p:spPr>
      </p:pic>
      <p:sp>
        <p:nvSpPr>
          <p:cNvPr id="6" name="Slide Number Placeholder 5">
            <a:extLst>
              <a:ext uri="{FF2B5EF4-FFF2-40B4-BE49-F238E27FC236}">
                <a16:creationId xmlns:a16="http://schemas.microsoft.com/office/drawing/2014/main" id="{88CC598E-E8BF-49D2-AC0A-EDE89AFD9DD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EFA6DC5-1F6D-4E97-92D6-41BE6DB24AB6}"/>
              </a:ext>
            </a:extLst>
          </p:cNvPr>
          <p:cNvSpPr>
            <a:spLocks noGrp="1"/>
          </p:cNvSpPr>
          <p:nvPr>
            <p:ph type="title"/>
          </p:nvPr>
        </p:nvSpPr>
        <p:spPr>
          <a:xfrm>
            <a:off x="342900" y="233546"/>
            <a:ext cx="3456590" cy="821119"/>
          </a:xfrm>
          <a:solidFill>
            <a:srgbClr val="FFFF00"/>
          </a:solidFill>
        </p:spPr>
        <p:txBody>
          <a:bodyPr/>
          <a:lstStyle/>
          <a:p>
            <a:r>
              <a:rPr lang="en-US" noProof="0" dirty="0"/>
              <a:t>Benchmarking</a:t>
            </a:r>
          </a:p>
        </p:txBody>
      </p:sp>
      <p:sp>
        <p:nvSpPr>
          <p:cNvPr id="9" name="Content Placeholder 8">
            <a:extLst>
              <a:ext uri="{FF2B5EF4-FFF2-40B4-BE49-F238E27FC236}">
                <a16:creationId xmlns:a16="http://schemas.microsoft.com/office/drawing/2014/main" id="{0F3B34BF-AB3C-4B79-B296-DB522D4D215B}"/>
              </a:ext>
            </a:extLst>
          </p:cNvPr>
          <p:cNvSpPr>
            <a:spLocks noGrp="1"/>
          </p:cNvSpPr>
          <p:nvPr>
            <p:ph sz="quarter" idx="11"/>
          </p:nvPr>
        </p:nvSpPr>
        <p:spPr>
          <a:xfrm>
            <a:off x="342900" y="1276710"/>
            <a:ext cx="8458200" cy="1417504"/>
          </a:xfrm>
        </p:spPr>
        <p:txBody>
          <a:bodyPr/>
          <a:lstStyle/>
          <a:p>
            <a:pPr indent="-285750">
              <a:defRPr/>
            </a:pPr>
            <a:r>
              <a:rPr lang="en-US" noProof="0" dirty="0"/>
              <a:t>Benchmarking:</a:t>
            </a:r>
          </a:p>
          <a:p>
            <a:pPr lvl="1">
              <a:defRPr/>
            </a:pPr>
            <a:r>
              <a:rPr lang="en-US" noProof="0" dirty="0"/>
              <a:t>Process of assessing how well one company’s basic functions and skills compare with those of an another.</a:t>
            </a:r>
          </a:p>
        </p:txBody>
      </p:sp>
      <p:sp>
        <p:nvSpPr>
          <p:cNvPr id="3" name="Content Placeholder 2">
            <a:extLst>
              <a:ext uri="{FF2B5EF4-FFF2-40B4-BE49-F238E27FC236}">
                <a16:creationId xmlns:a16="http://schemas.microsoft.com/office/drawing/2014/main" id="{5BA11312-8B91-4213-91CB-FF9635752979}"/>
              </a:ext>
            </a:extLst>
          </p:cNvPr>
          <p:cNvSpPr>
            <a:spLocks noGrp="1"/>
          </p:cNvSpPr>
          <p:nvPr>
            <p:ph sz="quarter" idx="14"/>
          </p:nvPr>
        </p:nvSpPr>
        <p:spPr>
          <a:xfrm>
            <a:off x="342900" y="2931399"/>
            <a:ext cx="8458200" cy="2974097"/>
          </a:xfrm>
        </p:spPr>
        <p:txBody>
          <a:bodyPr/>
          <a:lstStyle/>
          <a:p>
            <a:pPr indent="-285750">
              <a:defRPr/>
            </a:pPr>
            <a:r>
              <a:rPr lang="en-US" noProof="0" dirty="0"/>
              <a:t>Goals of benchmarking:</a:t>
            </a:r>
          </a:p>
          <a:p>
            <a:pPr lvl="1">
              <a:defRPr/>
            </a:pPr>
            <a:r>
              <a:rPr lang="en-US" noProof="0" dirty="0"/>
              <a:t>Understand the “best practices” of other firms.</a:t>
            </a:r>
          </a:p>
          <a:p>
            <a:pPr lvl="1">
              <a:defRPr/>
            </a:pPr>
            <a:r>
              <a:rPr lang="en-US" noProof="0" dirty="0"/>
              <a:t>Undertake actions to achieve both better performance and lower costs.</a:t>
            </a:r>
          </a:p>
        </p:txBody>
      </p:sp>
      <p:sp>
        <p:nvSpPr>
          <p:cNvPr id="4" name="Slide Number Placeholder 5">
            <a:extLst>
              <a:ext uri="{FF2B5EF4-FFF2-40B4-BE49-F238E27FC236}">
                <a16:creationId xmlns:a16="http://schemas.microsoft.com/office/drawing/2014/main" id="{31688A49-81A0-4D7B-A62A-149D7EE32D6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54601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342900" y="233546"/>
            <a:ext cx="8458200" cy="1532192"/>
          </a:xfrm>
          <a:solidFill>
            <a:srgbClr val="FFFF00"/>
          </a:solidFill>
        </p:spPr>
        <p:txBody>
          <a:bodyPr>
            <a:normAutofit fontScale="90000"/>
          </a:bodyPr>
          <a:lstStyle/>
          <a:p>
            <a:r>
              <a:rPr lang="en-US" noProof="0" dirty="0"/>
              <a:t>Step 4: </a:t>
            </a:r>
            <a:br>
              <a:rPr lang="en-US" noProof="0" dirty="0"/>
            </a:br>
            <a:br>
              <a:rPr lang="en-US" noProof="0" dirty="0"/>
            </a:br>
            <a:r>
              <a:rPr lang="en-US" noProof="0" dirty="0"/>
              <a:t>SWOT Analysis and Strategy Formulation</a:t>
            </a:r>
          </a:p>
        </p:txBody>
      </p:sp>
      <p:sp>
        <p:nvSpPr>
          <p:cNvPr id="16" name="Content Placeholder 15">
            <a:extLst>
              <a:ext uri="{FF2B5EF4-FFF2-40B4-BE49-F238E27FC236}">
                <a16:creationId xmlns:a16="http://schemas.microsoft.com/office/drawing/2014/main" id="{EF4D3D3C-3061-43A3-A7C9-3B5ACEBFAF9F}"/>
              </a:ext>
            </a:extLst>
          </p:cNvPr>
          <p:cNvSpPr>
            <a:spLocks noGrp="1"/>
          </p:cNvSpPr>
          <p:nvPr>
            <p:ph sz="quarter" idx="11"/>
          </p:nvPr>
        </p:nvSpPr>
        <p:spPr>
          <a:xfrm>
            <a:off x="342900" y="2538248"/>
            <a:ext cx="8458200" cy="3710152"/>
          </a:xfrm>
        </p:spPr>
        <p:txBody>
          <a:bodyPr/>
          <a:lstStyle/>
          <a:p>
            <a:r>
              <a:rPr lang="en-US" b="1" noProof="0" dirty="0"/>
              <a:t>SWOT analysis:</a:t>
            </a:r>
          </a:p>
          <a:p>
            <a:pPr marL="291600" indent="-291600">
              <a:buFont typeface="Arial" panose="020B0604020202020204" pitchFamily="34" charset="0"/>
              <a:buChar char="•"/>
            </a:pPr>
            <a:r>
              <a:rPr lang="en-US" sz="2400" noProof="0" dirty="0"/>
              <a:t>A comparison of strengths, weaknesses, opportunities, and threats that helps executives formulate strategy.</a:t>
            </a:r>
          </a:p>
          <a:p>
            <a:pPr marL="622800" lvl="1" indent="-320400"/>
            <a:r>
              <a:rPr lang="en-US" sz="2000" noProof="0" dirty="0"/>
              <a:t>Strengths and weaknesses refer to internal sources.</a:t>
            </a:r>
          </a:p>
          <a:p>
            <a:pPr marL="622800" lvl="1" indent="-320400"/>
            <a:r>
              <a:rPr lang="en-US" sz="2000" noProof="0" dirty="0"/>
              <a:t>Opportunities and threats refer to external sources and arise in the macroenvironment and competitive environment.</a:t>
            </a:r>
          </a:p>
        </p:txBody>
      </p:sp>
      <p:sp>
        <p:nvSpPr>
          <p:cNvPr id="4" name="Slide Number Placeholder 5">
            <a:extLst>
              <a:ext uri="{FF2B5EF4-FFF2-40B4-BE49-F238E27FC236}">
                <a16:creationId xmlns:a16="http://schemas.microsoft.com/office/drawing/2014/main" id="{D5C01449-25E1-4E8A-B5BC-AB6A7901374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69611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fontScale="90000"/>
          </a:bodyPr>
          <a:lstStyle/>
          <a:p>
            <a:r>
              <a:rPr lang="en-US" sz="1000" noProof="0" dirty="0"/>
              <a:t>Exhibit 4.9 </a:t>
            </a:r>
            <a:r>
              <a:rPr lang="en-US" noProof="0" dirty="0"/>
              <a:t>Sample SWOT Analysis:</a:t>
            </a:r>
            <a:br>
              <a:rPr lang="en-US" dirty="0"/>
            </a:br>
            <a:r>
              <a:rPr lang="en-US" dirty="0"/>
              <a:t>                                    </a:t>
            </a:r>
            <a:r>
              <a:rPr lang="en-US" noProof="0" dirty="0"/>
              <a:t> Next Day Flyers</a:t>
            </a:r>
          </a:p>
        </p:txBody>
      </p:sp>
      <p:pic>
        <p:nvPicPr>
          <p:cNvPr id="13" name="Picture 12" descr="An example of a SWOT analysis for Next Day Flyers. ">
            <a:extLst>
              <a:ext uri="{FF2B5EF4-FFF2-40B4-BE49-F238E27FC236}">
                <a16:creationId xmlns:a16="http://schemas.microsoft.com/office/drawing/2014/main" id="{CE40461D-75B1-4D71-94C7-69E0C4DD732B}"/>
              </a:ext>
            </a:extLst>
          </p:cNvPr>
          <p:cNvPicPr>
            <a:picLocks noChangeAspect="1"/>
          </p:cNvPicPr>
          <p:nvPr/>
        </p:nvPicPr>
        <p:blipFill>
          <a:blip r:embed="rId3"/>
          <a:stretch>
            <a:fillRect/>
          </a:stretch>
        </p:blipFill>
        <p:spPr>
          <a:xfrm>
            <a:off x="204952" y="1349694"/>
            <a:ext cx="8596147" cy="4434309"/>
          </a:xfrm>
          <a:prstGeom prst="rect">
            <a:avLst/>
          </a:prstGeom>
        </p:spPr>
      </p:pic>
      <p:sp>
        <p:nvSpPr>
          <p:cNvPr id="14" name="Content Placeholder 13">
            <a:extLst>
              <a:ext uri="{FF2B5EF4-FFF2-40B4-BE49-F238E27FC236}">
                <a16:creationId xmlns:a16="http://schemas.microsoft.com/office/drawing/2014/main" id="{C81C36CC-E4C9-449C-95DD-C6E75400F000}"/>
              </a:ext>
            </a:extLst>
          </p:cNvPr>
          <p:cNvSpPr>
            <a:spLocks noGrp="1"/>
          </p:cNvSpPr>
          <p:nvPr>
            <p:ph sz="quarter" idx="11"/>
          </p:nvPr>
        </p:nvSpPr>
        <p:spPr>
          <a:xfrm>
            <a:off x="342900" y="5759291"/>
            <a:ext cx="8458200" cy="914240"/>
          </a:xfrm>
        </p:spPr>
        <p:txBody>
          <a:bodyPr>
            <a:normAutofit/>
          </a:bodyPr>
          <a:lstStyle/>
          <a:p>
            <a:r>
              <a:rPr lang="en-US" sz="1600" noProof="0" dirty="0">
                <a:solidFill>
                  <a:schemeClr val="tx1"/>
                </a:solidFill>
              </a:rPr>
              <a:t>SOURCES: Based on information from R. Myers, “That Sounds Like a Plan,” </a:t>
            </a:r>
            <a:r>
              <a:rPr lang="en-US" sz="1600" i="1" noProof="0" dirty="0">
                <a:solidFill>
                  <a:schemeClr val="tx1"/>
                </a:solidFill>
              </a:rPr>
              <a:t>Inc. </a:t>
            </a:r>
            <a:r>
              <a:rPr lang="en-US" sz="1600" noProof="0" dirty="0">
                <a:solidFill>
                  <a:schemeClr val="tx1"/>
                </a:solidFill>
              </a:rPr>
              <a:t>36 (2014), pp. 90–92; and Next Day Flyers company website, “About Next Day Flyers,” http://www.nextdayflyers.com. </a:t>
            </a:r>
          </a:p>
        </p:txBody>
      </p:sp>
      <p:sp>
        <p:nvSpPr>
          <p:cNvPr id="4" name="Slide Number Placeholder 5">
            <a:extLst>
              <a:ext uri="{FF2B5EF4-FFF2-40B4-BE49-F238E27FC236}">
                <a16:creationId xmlns:a16="http://schemas.microsoft.com/office/drawing/2014/main" id="{5CF2EAB8-6F8C-4AA6-A32F-8A021BDF9B4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7033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5"/>
          <p:cNvSpPr>
            <a:spLocks noGrp="1"/>
          </p:cNvSpPr>
          <p:nvPr>
            <p:ph type="title"/>
          </p:nvPr>
        </p:nvSpPr>
        <p:spPr>
          <a:xfrm>
            <a:off x="342900" y="233546"/>
            <a:ext cx="4481348" cy="821119"/>
          </a:xfrm>
          <a:solidFill>
            <a:srgbClr val="FFFF00"/>
          </a:solidFill>
        </p:spPr>
        <p:txBody>
          <a:bodyPr/>
          <a:lstStyle/>
          <a:p>
            <a:r>
              <a:rPr lang="en-US" noProof="0" dirty="0"/>
              <a:t>Corporate Strategy </a:t>
            </a:r>
            <a:r>
              <a:rPr lang="en-US" sz="900" noProof="0" dirty="0"/>
              <a:t>1</a:t>
            </a:r>
            <a:endParaRPr lang="en-US" noProof="0" dirty="0"/>
          </a:p>
        </p:txBody>
      </p:sp>
      <p:sp>
        <p:nvSpPr>
          <p:cNvPr id="2" name="Content Placeholder 1">
            <a:extLst>
              <a:ext uri="{FF2B5EF4-FFF2-40B4-BE49-F238E27FC236}">
                <a16:creationId xmlns:a16="http://schemas.microsoft.com/office/drawing/2014/main" id="{9778FCBE-13D9-4399-A583-75DD083E098C}"/>
              </a:ext>
            </a:extLst>
          </p:cNvPr>
          <p:cNvSpPr>
            <a:spLocks noGrp="1"/>
          </p:cNvSpPr>
          <p:nvPr>
            <p:ph sz="quarter" idx="11"/>
          </p:nvPr>
        </p:nvSpPr>
        <p:spPr>
          <a:xfrm>
            <a:off x="342900" y="1276710"/>
            <a:ext cx="8458200" cy="1842048"/>
          </a:xfrm>
        </p:spPr>
        <p:txBody>
          <a:bodyPr>
            <a:normAutofit/>
          </a:bodyPr>
          <a:lstStyle/>
          <a:p>
            <a:r>
              <a:rPr lang="en-US" b="1" noProof="0" dirty="0"/>
              <a:t>Corporate strategy:</a:t>
            </a:r>
          </a:p>
          <a:p>
            <a:r>
              <a:rPr lang="en-US" sz="2400" noProof="0" dirty="0"/>
              <a:t>Identifies the set of businesses, markets, or industries in   which the organization competes and the distribution of resources among those businesses.</a:t>
            </a:r>
          </a:p>
        </p:txBody>
      </p:sp>
      <p:sp>
        <p:nvSpPr>
          <p:cNvPr id="9" name="Content Placeholder 8">
            <a:extLst>
              <a:ext uri="{FF2B5EF4-FFF2-40B4-BE49-F238E27FC236}">
                <a16:creationId xmlns:a16="http://schemas.microsoft.com/office/drawing/2014/main" id="{014B1F2A-14BE-4492-95B4-AF433EEE7380}"/>
              </a:ext>
            </a:extLst>
          </p:cNvPr>
          <p:cNvSpPr>
            <a:spLocks noGrp="1"/>
          </p:cNvSpPr>
          <p:nvPr>
            <p:ph sz="quarter" idx="14"/>
          </p:nvPr>
        </p:nvSpPr>
        <p:spPr>
          <a:xfrm>
            <a:off x="342900" y="3299227"/>
            <a:ext cx="8458200" cy="2667855"/>
          </a:xfrm>
        </p:spPr>
        <p:txBody>
          <a:bodyPr/>
          <a:lstStyle/>
          <a:p>
            <a:r>
              <a:rPr lang="en-US" noProof="0" dirty="0"/>
              <a:t>Corporate strategy alternatives:</a:t>
            </a:r>
          </a:p>
          <a:p>
            <a:pPr lvl="1"/>
            <a:r>
              <a:rPr lang="en-US" noProof="0" dirty="0"/>
              <a:t>Concentration.</a:t>
            </a:r>
          </a:p>
          <a:p>
            <a:pPr lvl="1"/>
            <a:r>
              <a:rPr lang="en-US" noProof="0" dirty="0">
                <a:solidFill>
                  <a:prstClr val="black"/>
                </a:solidFill>
              </a:rPr>
              <a:t>Vertical integration.</a:t>
            </a:r>
          </a:p>
          <a:p>
            <a:pPr lvl="1"/>
            <a:r>
              <a:rPr lang="en-US" noProof="0" dirty="0">
                <a:solidFill>
                  <a:prstClr val="black"/>
                </a:solidFill>
              </a:rPr>
              <a:t>Concentric diversification.</a:t>
            </a:r>
          </a:p>
          <a:p>
            <a:pPr lvl="1"/>
            <a:r>
              <a:rPr lang="en-US" noProof="0" dirty="0"/>
              <a:t>Conglomerate diversification.</a:t>
            </a:r>
          </a:p>
        </p:txBody>
      </p:sp>
      <p:sp>
        <p:nvSpPr>
          <p:cNvPr id="5" name="Slide Number Placeholder 5">
            <a:extLst>
              <a:ext uri="{FF2B5EF4-FFF2-40B4-BE49-F238E27FC236}">
                <a16:creationId xmlns:a16="http://schemas.microsoft.com/office/drawing/2014/main" id="{046F5DE7-28BB-48D8-84EC-9FE5BAD97CD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4" name="Graphic 3" descr="@ with solid fill">
            <a:extLst>
              <a:ext uri="{FF2B5EF4-FFF2-40B4-BE49-F238E27FC236}">
                <a16:creationId xmlns:a16="http://schemas.microsoft.com/office/drawing/2014/main" id="{1457143F-8F29-D38E-CD3E-094BFF7441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22882" y="2809077"/>
            <a:ext cx="1860331" cy="1860331"/>
          </a:xfrm>
          <a:prstGeom prst="rect">
            <a:avLst/>
          </a:prstGeom>
        </p:spPr>
      </p:pic>
    </p:spTree>
    <p:extLst>
      <p:ext uri="{BB962C8B-B14F-4D97-AF65-F5344CB8AC3E}">
        <p14:creationId xmlns:p14="http://schemas.microsoft.com/office/powerpoint/2010/main" val="209492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solidFill>
            <a:srgbClr val="FFFF00"/>
          </a:solidFill>
        </p:spPr>
        <p:txBody>
          <a:bodyPr>
            <a:normAutofit/>
          </a:bodyPr>
          <a:lstStyle/>
          <a:p>
            <a:r>
              <a:rPr lang="en-US" sz="1000" noProof="0" dirty="0"/>
              <a:t>Exhibit 4.10 </a:t>
            </a:r>
            <a:r>
              <a:rPr lang="en-US" noProof="0" dirty="0"/>
              <a:t>Summary of Corporate Strategies</a:t>
            </a:r>
          </a:p>
        </p:txBody>
      </p:sp>
      <p:pic>
        <p:nvPicPr>
          <p:cNvPr id="8" name="Picture 7" descr="The exhibit visualizes the summary of corporate strategies.">
            <a:extLst>
              <a:ext uri="{FF2B5EF4-FFF2-40B4-BE49-F238E27FC236}">
                <a16:creationId xmlns:a16="http://schemas.microsoft.com/office/drawing/2014/main" id="{A40BBBF9-ABD3-4F10-93F7-A03BD4841936}"/>
              </a:ext>
            </a:extLst>
          </p:cNvPr>
          <p:cNvPicPr>
            <a:picLocks noChangeAspect="1"/>
          </p:cNvPicPr>
          <p:nvPr/>
        </p:nvPicPr>
        <p:blipFill>
          <a:blip r:embed="rId3"/>
          <a:stretch>
            <a:fillRect/>
          </a:stretch>
        </p:blipFill>
        <p:spPr>
          <a:xfrm>
            <a:off x="624993" y="1054665"/>
            <a:ext cx="7932115" cy="5456493"/>
          </a:xfrm>
          <a:prstGeom prst="rect">
            <a:avLst/>
          </a:prstGeom>
        </p:spPr>
      </p:pic>
      <p:sp>
        <p:nvSpPr>
          <p:cNvPr id="7" name="Slide Number Placeholder 5">
            <a:extLst>
              <a:ext uri="{FF2B5EF4-FFF2-40B4-BE49-F238E27FC236}">
                <a16:creationId xmlns:a16="http://schemas.microsoft.com/office/drawing/2014/main" id="{47AF72F8-356D-4861-9668-C869D0FE60E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FD41117-6635-47AD-8140-CA96D18E16B7}"/>
              </a:ext>
            </a:extLst>
          </p:cNvPr>
          <p:cNvSpPr>
            <a:spLocks noGrp="1"/>
          </p:cNvSpPr>
          <p:nvPr>
            <p:ph type="title"/>
          </p:nvPr>
        </p:nvSpPr>
        <p:spPr>
          <a:xfrm>
            <a:off x="342900" y="192490"/>
            <a:ext cx="4686300" cy="903231"/>
          </a:xfrm>
          <a:solidFill>
            <a:srgbClr val="FFFF00"/>
          </a:solidFill>
        </p:spPr>
        <p:txBody>
          <a:bodyPr>
            <a:noAutofit/>
          </a:bodyPr>
          <a:lstStyle/>
          <a:p>
            <a:r>
              <a:rPr lang="en-US" noProof="0" dirty="0"/>
              <a:t>Corporate Strategy </a:t>
            </a:r>
            <a:r>
              <a:rPr lang="en-US" sz="800" noProof="0" dirty="0"/>
              <a:t>2</a:t>
            </a:r>
            <a:endParaRPr lang="en-US" sz="3400" noProof="0" dirty="0"/>
          </a:p>
        </p:txBody>
      </p:sp>
      <p:sp>
        <p:nvSpPr>
          <p:cNvPr id="3" name="Content Placeholder 2">
            <a:extLst>
              <a:ext uri="{FF2B5EF4-FFF2-40B4-BE49-F238E27FC236}">
                <a16:creationId xmlns:a16="http://schemas.microsoft.com/office/drawing/2014/main" id="{0CF247CB-D25D-42E8-8743-FCD3B90613B4}"/>
              </a:ext>
            </a:extLst>
          </p:cNvPr>
          <p:cNvSpPr>
            <a:spLocks noGrp="1"/>
          </p:cNvSpPr>
          <p:nvPr>
            <p:ph sz="quarter" idx="11"/>
          </p:nvPr>
        </p:nvSpPr>
        <p:spPr/>
        <p:txBody>
          <a:bodyPr>
            <a:normAutofit/>
          </a:bodyPr>
          <a:lstStyle/>
          <a:p>
            <a:r>
              <a:rPr lang="en-US" sz="2600" noProof="0" dirty="0"/>
              <a:t>The Boston Consulting Group (BCG) matrix is used to analyze corporate strategy categorizes firms into four quadrants:</a:t>
            </a:r>
          </a:p>
          <a:p>
            <a:pPr marL="457200" indent="-457200">
              <a:buFont typeface="+mj-lt"/>
              <a:buAutoNum type="arabicPeriod"/>
            </a:pPr>
            <a:r>
              <a:rPr lang="en-US" sz="2600" noProof="0" dirty="0"/>
              <a:t>Question marks: high-growth, weak-competitive-position.</a:t>
            </a:r>
          </a:p>
          <a:p>
            <a:pPr marL="457200" indent="-457200">
              <a:buFont typeface="+mj-lt"/>
              <a:buAutoNum type="arabicPeriod"/>
            </a:pPr>
            <a:r>
              <a:rPr lang="en-US" sz="2600" noProof="0" dirty="0"/>
              <a:t>Stars: high-growth, strong-competitive-position.</a:t>
            </a:r>
          </a:p>
          <a:p>
            <a:pPr marL="457200" indent="-457200">
              <a:buFont typeface="+mj-lt"/>
              <a:buAutoNum type="arabicPeriod"/>
            </a:pPr>
            <a:r>
              <a:rPr lang="en-US" sz="2600" noProof="0" dirty="0"/>
              <a:t>Cash cows: low-growth, strong-competitive-position.</a:t>
            </a:r>
          </a:p>
          <a:p>
            <a:pPr marL="457200" indent="-457200">
              <a:buFont typeface="+mj-lt"/>
              <a:buAutoNum type="arabicPeriod"/>
            </a:pPr>
            <a:r>
              <a:rPr lang="en-US" sz="2600" noProof="0" dirty="0"/>
              <a:t>Dogs: low-growth, weak-competitive-position.</a:t>
            </a:r>
          </a:p>
        </p:txBody>
      </p:sp>
      <p:sp>
        <p:nvSpPr>
          <p:cNvPr id="4" name="Slide Number Placeholder 5">
            <a:extLst>
              <a:ext uri="{FF2B5EF4-FFF2-40B4-BE49-F238E27FC236}">
                <a16:creationId xmlns:a16="http://schemas.microsoft.com/office/drawing/2014/main" id="{F604A740-7006-4191-B535-91257F71690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51031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solidFill>
            <a:srgbClr val="FFFF00"/>
          </a:solidFill>
        </p:spPr>
        <p:txBody>
          <a:bodyPr>
            <a:normAutofit fontScale="90000"/>
          </a:bodyPr>
          <a:lstStyle/>
          <a:p>
            <a:pPr algn="ctr"/>
            <a:r>
              <a:rPr lang="en-US" sz="1000" noProof="0" dirty="0"/>
              <a:t>Exhibit 4.11 </a:t>
            </a:r>
            <a:r>
              <a:rPr lang="en-US" noProof="0" dirty="0"/>
              <a:t>Mapping GE’s Business Units and Product Lines to the BCG Matrix</a:t>
            </a:r>
            <a:endParaRPr lang="en-US" sz="1000" noProof="0" dirty="0"/>
          </a:p>
        </p:txBody>
      </p:sp>
      <p:pic>
        <p:nvPicPr>
          <p:cNvPr id="13" name="Picture 12" descr="An example of the Boston Consulting Group matrix used to analyze corporate strategy for G E. &#10;">
            <a:extLst>
              <a:ext uri="{FF2B5EF4-FFF2-40B4-BE49-F238E27FC236}">
                <a16:creationId xmlns:a16="http://schemas.microsoft.com/office/drawing/2014/main" id="{E56F1D14-B900-430D-B1E6-8CD0EC2C317C}"/>
              </a:ext>
            </a:extLst>
          </p:cNvPr>
          <p:cNvPicPr>
            <a:picLocks noChangeAspect="1"/>
          </p:cNvPicPr>
          <p:nvPr/>
        </p:nvPicPr>
        <p:blipFill>
          <a:blip r:embed="rId3"/>
          <a:stretch>
            <a:fillRect/>
          </a:stretch>
        </p:blipFill>
        <p:spPr>
          <a:xfrm>
            <a:off x="551792" y="1054665"/>
            <a:ext cx="8249307" cy="5605839"/>
          </a:xfrm>
          <a:prstGeom prst="rect">
            <a:avLst/>
          </a:prstGeom>
        </p:spPr>
      </p:pic>
      <p:sp>
        <p:nvSpPr>
          <p:cNvPr id="4" name="Slide Number Placeholder 5">
            <a:extLst>
              <a:ext uri="{FF2B5EF4-FFF2-40B4-BE49-F238E27FC236}">
                <a16:creationId xmlns:a16="http://schemas.microsoft.com/office/drawing/2014/main" id="{4AF1F2D1-2CC8-43E0-8714-1A7B45B9845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342900" y="233546"/>
            <a:ext cx="4229100" cy="821119"/>
          </a:xfrm>
          <a:solidFill>
            <a:srgbClr val="FFFF00"/>
          </a:solidFill>
        </p:spPr>
        <p:txBody>
          <a:bodyPr>
            <a:normAutofit/>
          </a:bodyPr>
          <a:lstStyle/>
          <a:p>
            <a:r>
              <a:rPr lang="en-US" noProof="0" dirty="0"/>
              <a:t>Business Strategy</a:t>
            </a:r>
            <a:endParaRPr lang="en-US" sz="900" noProof="0" dirty="0"/>
          </a:p>
        </p:txBody>
      </p:sp>
      <p:sp>
        <p:nvSpPr>
          <p:cNvPr id="44035" name="Content Placeholder 6"/>
          <p:cNvSpPr>
            <a:spLocks noGrp="1"/>
          </p:cNvSpPr>
          <p:nvPr>
            <p:ph sz="quarter" idx="11"/>
          </p:nvPr>
        </p:nvSpPr>
        <p:spPr>
          <a:xfrm>
            <a:off x="342900" y="1276710"/>
            <a:ext cx="8458200" cy="2066132"/>
          </a:xfrm>
          <a:ln>
            <a:solidFill>
              <a:schemeClr val="accent1"/>
            </a:solidFill>
          </a:ln>
        </p:spPr>
        <p:txBody>
          <a:bodyPr rtlCol="0">
            <a:normAutofit/>
          </a:bodyPr>
          <a:lstStyle/>
          <a:p>
            <a:pPr>
              <a:defRPr/>
            </a:pPr>
            <a:r>
              <a:rPr lang="en-US" b="1" noProof="0" dirty="0">
                <a:solidFill>
                  <a:srgbClr val="FF0000"/>
                </a:solidFill>
              </a:rPr>
              <a:t>Low-cost strategy</a:t>
            </a:r>
            <a:r>
              <a:rPr lang="en-US" b="1" noProof="0" dirty="0"/>
              <a:t>:</a:t>
            </a:r>
          </a:p>
          <a:p>
            <a:pPr marL="342900" indent="-342900">
              <a:buFont typeface="Arial" panose="020B0604020202020204" pitchFamily="34" charset="0"/>
              <a:buChar char="•"/>
              <a:defRPr/>
            </a:pPr>
            <a:r>
              <a:rPr lang="en-US" sz="2600" noProof="0" dirty="0"/>
              <a:t>A strategy an organization uses to build competitive advantage by being efficient and offering a standard no-frills product.</a:t>
            </a:r>
          </a:p>
        </p:txBody>
      </p:sp>
      <p:sp>
        <p:nvSpPr>
          <p:cNvPr id="3" name="Content Placeholder 2">
            <a:extLst>
              <a:ext uri="{FF2B5EF4-FFF2-40B4-BE49-F238E27FC236}">
                <a16:creationId xmlns:a16="http://schemas.microsoft.com/office/drawing/2014/main" id="{66322F0A-89CA-484B-BAED-6DEFDEB7AAE0}"/>
              </a:ext>
            </a:extLst>
          </p:cNvPr>
          <p:cNvSpPr>
            <a:spLocks noGrp="1"/>
          </p:cNvSpPr>
          <p:nvPr>
            <p:ph sz="quarter" idx="14"/>
          </p:nvPr>
        </p:nvSpPr>
        <p:spPr>
          <a:xfrm>
            <a:off x="342900" y="3406138"/>
            <a:ext cx="8458200" cy="2066132"/>
          </a:xfrm>
          <a:ln>
            <a:solidFill>
              <a:schemeClr val="accent1"/>
            </a:solidFill>
          </a:ln>
        </p:spPr>
        <p:txBody>
          <a:bodyPr>
            <a:normAutofit fontScale="92500"/>
          </a:bodyPr>
          <a:lstStyle/>
          <a:p>
            <a:pPr>
              <a:defRPr/>
            </a:pPr>
            <a:r>
              <a:rPr lang="en-US" sz="3000" b="1" noProof="0" dirty="0">
                <a:solidFill>
                  <a:srgbClr val="FF0000"/>
                </a:solidFill>
              </a:rPr>
              <a:t>Differentiation strategy</a:t>
            </a:r>
            <a:r>
              <a:rPr lang="en-US" sz="3000" b="1" noProof="0" dirty="0"/>
              <a:t>:</a:t>
            </a:r>
          </a:p>
          <a:p>
            <a:pPr marL="342900" indent="-342900">
              <a:buFont typeface="Arial" panose="020B0604020202020204" pitchFamily="34" charset="0"/>
              <a:buChar char="•"/>
              <a:defRPr/>
            </a:pPr>
            <a:r>
              <a:rPr lang="en-US" noProof="0" dirty="0"/>
              <a:t>A strategy an organization uses to build competitive advantage by being unique in its industry or market segment along one or more dimensions.</a:t>
            </a:r>
          </a:p>
        </p:txBody>
      </p:sp>
      <p:sp>
        <p:nvSpPr>
          <p:cNvPr id="4" name="Slide Number Placeholder 5">
            <a:extLst>
              <a:ext uri="{FF2B5EF4-FFF2-40B4-BE49-F238E27FC236}">
                <a16:creationId xmlns:a16="http://schemas.microsoft.com/office/drawing/2014/main" id="{4A9A65E1-4473-4463-A727-FBA8F59B8C1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1541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342900" y="233546"/>
            <a:ext cx="4449817" cy="821119"/>
          </a:xfrm>
          <a:solidFill>
            <a:srgbClr val="FFFF00"/>
          </a:solidFill>
        </p:spPr>
        <p:txBody>
          <a:bodyPr>
            <a:normAutofit fontScale="90000"/>
          </a:bodyPr>
          <a:lstStyle/>
          <a:p>
            <a:r>
              <a:rPr lang="en-US" noProof="0" dirty="0"/>
              <a:t>Functional Strategy</a:t>
            </a:r>
            <a:endParaRPr lang="en-US" sz="3600" noProof="0" dirty="0"/>
          </a:p>
        </p:txBody>
      </p:sp>
      <p:sp>
        <p:nvSpPr>
          <p:cNvPr id="8" name="Content Placeholder 7">
            <a:extLst>
              <a:ext uri="{FF2B5EF4-FFF2-40B4-BE49-F238E27FC236}">
                <a16:creationId xmlns:a16="http://schemas.microsoft.com/office/drawing/2014/main" id="{0740DD2F-A66F-468B-BE4D-9DB6DAF66C62}"/>
              </a:ext>
            </a:extLst>
          </p:cNvPr>
          <p:cNvSpPr>
            <a:spLocks noGrp="1"/>
          </p:cNvSpPr>
          <p:nvPr>
            <p:ph sz="quarter" idx="11"/>
          </p:nvPr>
        </p:nvSpPr>
        <p:spPr>
          <a:xfrm>
            <a:off x="342900" y="1276709"/>
            <a:ext cx="8458200" cy="4982201"/>
          </a:xfrm>
        </p:spPr>
        <p:txBody>
          <a:bodyPr>
            <a:normAutofit/>
          </a:bodyPr>
          <a:lstStyle/>
          <a:p>
            <a:pPr>
              <a:defRPr/>
            </a:pPr>
            <a:r>
              <a:rPr lang="en-US" noProof="0" dirty="0"/>
              <a:t>Implemented by each functional area of the organization to support the business strategy. </a:t>
            </a:r>
          </a:p>
          <a:p>
            <a:pPr>
              <a:defRPr/>
            </a:pPr>
            <a:r>
              <a:rPr lang="en-US" noProof="0" dirty="0"/>
              <a:t>The typical functional areas include:</a:t>
            </a:r>
          </a:p>
          <a:p>
            <a:pPr marL="3720600" lvl="7">
              <a:defRPr/>
            </a:pPr>
            <a:r>
              <a:rPr lang="en-US" sz="3200" noProof="0" dirty="0"/>
              <a:t>Production.</a:t>
            </a:r>
          </a:p>
          <a:p>
            <a:pPr marL="3720600" lvl="7">
              <a:defRPr/>
            </a:pPr>
            <a:r>
              <a:rPr lang="en-US" sz="3200" noProof="0" dirty="0"/>
              <a:t>Human resources.</a:t>
            </a:r>
          </a:p>
          <a:p>
            <a:pPr marL="3720600" lvl="7">
              <a:defRPr/>
            </a:pPr>
            <a:r>
              <a:rPr lang="en-US" sz="3200" noProof="0" dirty="0"/>
              <a:t>Marketing and sales.</a:t>
            </a:r>
          </a:p>
          <a:p>
            <a:pPr marL="3720600" lvl="7">
              <a:defRPr/>
            </a:pPr>
            <a:r>
              <a:rPr lang="en-US" sz="3200" noProof="0" dirty="0"/>
              <a:t>Research and development.</a:t>
            </a:r>
          </a:p>
          <a:p>
            <a:pPr marL="3720600" lvl="7">
              <a:defRPr/>
            </a:pPr>
            <a:r>
              <a:rPr lang="en-US" sz="3200" noProof="0" dirty="0"/>
              <a:t>Finance.</a:t>
            </a:r>
          </a:p>
          <a:p>
            <a:pPr marL="3720600" lvl="7">
              <a:defRPr/>
            </a:pPr>
            <a:r>
              <a:rPr lang="en-US" sz="3200" noProof="0" dirty="0"/>
              <a:t>Distribution</a:t>
            </a:r>
            <a:r>
              <a:rPr lang="en-US" sz="1400" noProof="0" dirty="0"/>
              <a:t>.</a:t>
            </a:r>
          </a:p>
        </p:txBody>
      </p:sp>
      <p:sp>
        <p:nvSpPr>
          <p:cNvPr id="10" name="Slide Number Placeholder 5">
            <a:extLst>
              <a:ext uri="{FF2B5EF4-FFF2-40B4-BE49-F238E27FC236}">
                <a16:creationId xmlns:a16="http://schemas.microsoft.com/office/drawing/2014/main" id="{0CE28075-EC72-4AEC-B9D7-BED683BF7EE1}"/>
              </a:ext>
            </a:extLst>
          </p:cNvPr>
          <p:cNvSpPr txBox="1">
            <a:spLocks/>
          </p:cNvSpPr>
          <p:nvPr/>
        </p:nvSpPr>
        <p:spPr>
          <a:xfrm>
            <a:off x="8626412" y="6673531"/>
            <a:ext cx="355840" cy="161396"/>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r" fontAlgn="auto">
              <a:spcBef>
                <a:spcPts val="0"/>
              </a:spcBef>
              <a:spcAft>
                <a:spcPts val="0"/>
              </a:spcAft>
              <a:defRPr/>
            </a:pPr>
            <a:fld id="{68151E55-6873-49E2-B8D5-2F265E6F1973}" type="slidenum">
              <a:rPr lang="en-US" sz="800" smtClean="0">
                <a:solidFill>
                  <a:srgbClr val="000000">
                    <a:lumMod val="65000"/>
                    <a:lumOff val="35000"/>
                  </a:srgbClr>
                </a:solidFill>
                <a:latin typeface="Arial" panose="020B0604020202020204"/>
                <a:cs typeface="+mn-cs"/>
              </a:rPr>
              <a:pPr algn="r" fontAlgn="auto">
                <a:spcBef>
                  <a:spcPts val="0"/>
                </a:spcBef>
                <a:spcAft>
                  <a:spcPts val="0"/>
                </a:spcAft>
                <a:defRPr/>
              </a:pPr>
              <a:t>32</a:t>
            </a:fld>
            <a:endParaRPr lang="en-US" sz="800" dirty="0">
              <a:solidFill>
                <a:srgbClr val="000000">
                  <a:lumMod val="65000"/>
                  <a:lumOff val="35000"/>
                </a:srgbClr>
              </a:solidFill>
              <a:latin typeface="Arial" panose="020B0604020202020204"/>
              <a:cs typeface="+mn-cs"/>
            </a:endParaRPr>
          </a:p>
        </p:txBody>
      </p:sp>
    </p:spTree>
    <p:extLst>
      <p:ext uri="{BB962C8B-B14F-4D97-AF65-F5344CB8AC3E}">
        <p14:creationId xmlns:p14="http://schemas.microsoft.com/office/powerpoint/2010/main" val="355627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342900" y="192490"/>
            <a:ext cx="8458200" cy="903231"/>
          </a:xfrm>
          <a:solidFill>
            <a:srgbClr val="FFFF00"/>
          </a:solidFill>
        </p:spPr>
        <p:txBody>
          <a:bodyPr>
            <a:noAutofit/>
          </a:bodyPr>
          <a:lstStyle/>
          <a:p>
            <a:r>
              <a:rPr lang="en-US" sz="3200" noProof="0" dirty="0"/>
              <a:t>Step 5: Strategy Implementation</a:t>
            </a:r>
            <a:endParaRPr lang="en-US" sz="3400" noProof="0" dirty="0"/>
          </a:p>
        </p:txBody>
      </p:sp>
      <p:sp>
        <p:nvSpPr>
          <p:cNvPr id="9" name="Content Placeholder 8">
            <a:extLst>
              <a:ext uri="{FF2B5EF4-FFF2-40B4-BE49-F238E27FC236}">
                <a16:creationId xmlns:a16="http://schemas.microsoft.com/office/drawing/2014/main" id="{A40577DA-EDAC-4858-B4DF-AD0D39DAD441}"/>
              </a:ext>
            </a:extLst>
          </p:cNvPr>
          <p:cNvSpPr>
            <a:spLocks noGrp="1"/>
          </p:cNvSpPr>
          <p:nvPr>
            <p:ph sz="quarter" idx="11"/>
          </p:nvPr>
        </p:nvSpPr>
        <p:spPr>
          <a:xfrm>
            <a:off x="342900" y="1213647"/>
            <a:ext cx="8458199" cy="3007771"/>
          </a:xfrm>
        </p:spPr>
        <p:txBody>
          <a:bodyPr>
            <a:noAutofit/>
          </a:bodyPr>
          <a:lstStyle/>
          <a:p>
            <a:pPr marL="457200" lvl="0" indent="-457200">
              <a:buFont typeface="+mj-lt"/>
              <a:buAutoNum type="arabicPeriod"/>
            </a:pPr>
            <a:r>
              <a:rPr lang="en-US" sz="4400" b="1" noProof="0" dirty="0">
                <a:solidFill>
                  <a:srgbClr val="FF0000"/>
                </a:solidFill>
              </a:rPr>
              <a:t>  </a:t>
            </a:r>
            <a:r>
              <a:rPr lang="en-US" sz="3200" b="1" noProof="0" dirty="0">
                <a:solidFill>
                  <a:srgbClr val="FF0000"/>
                </a:solidFill>
              </a:rPr>
              <a:t>Define strategic tasks. </a:t>
            </a:r>
          </a:p>
          <a:p>
            <a:pPr marL="457200" lvl="0" indent="-457200">
              <a:buFont typeface="+mj-lt"/>
              <a:buAutoNum type="arabicPeriod"/>
            </a:pPr>
            <a:r>
              <a:rPr lang="en-US" sz="3200" b="1" noProof="0" dirty="0">
                <a:solidFill>
                  <a:srgbClr val="FF0000"/>
                </a:solidFill>
              </a:rPr>
              <a:t>   Assess organization capabilities.</a:t>
            </a:r>
          </a:p>
          <a:p>
            <a:pPr marL="457200" lvl="0" indent="-457200">
              <a:buFont typeface="+mj-lt"/>
              <a:buAutoNum type="arabicPeriod"/>
            </a:pPr>
            <a:r>
              <a:rPr lang="en-US" sz="3200" b="1" noProof="0" dirty="0">
                <a:solidFill>
                  <a:srgbClr val="FF0000"/>
                </a:solidFill>
              </a:rPr>
              <a:t>   Develop an implementation agenda.</a:t>
            </a:r>
          </a:p>
          <a:p>
            <a:pPr marL="457200" lvl="0" indent="-457200">
              <a:buFont typeface="+mj-lt"/>
              <a:buAutoNum type="arabicPeriod"/>
            </a:pPr>
            <a:r>
              <a:rPr lang="en-US" sz="3200" b="1" noProof="0" dirty="0">
                <a:solidFill>
                  <a:srgbClr val="FF0000"/>
                </a:solidFill>
              </a:rPr>
              <a:t>   Implement.</a:t>
            </a:r>
          </a:p>
        </p:txBody>
      </p:sp>
      <p:sp>
        <p:nvSpPr>
          <p:cNvPr id="4" name="Slide Number Placeholder 5">
            <a:extLst>
              <a:ext uri="{FF2B5EF4-FFF2-40B4-BE49-F238E27FC236}">
                <a16:creationId xmlns:a16="http://schemas.microsoft.com/office/drawing/2014/main" id="{A89EF3D2-F508-4BB5-9D57-4E00ADBF06A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3" name="Graphic 2" descr="Wireless router with solid fill">
            <a:extLst>
              <a:ext uri="{FF2B5EF4-FFF2-40B4-BE49-F238E27FC236}">
                <a16:creationId xmlns:a16="http://schemas.microsoft.com/office/drawing/2014/main" id="{C29D0796-6FB7-2F6C-0F37-3CD51CC852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2288" y="4075873"/>
            <a:ext cx="2065283" cy="2065283"/>
          </a:xfrm>
          <a:prstGeom prst="rect">
            <a:avLst/>
          </a:prstGeom>
        </p:spPr>
      </p:pic>
      <p:pic>
        <p:nvPicPr>
          <p:cNvPr id="6" name="Graphic 5" descr="Labor with solid fill">
            <a:extLst>
              <a:ext uri="{FF2B5EF4-FFF2-40B4-BE49-F238E27FC236}">
                <a16:creationId xmlns:a16="http://schemas.microsoft.com/office/drawing/2014/main" id="{DC2DD732-A823-D123-03EB-FE2BE765885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6014" y="1141190"/>
            <a:ext cx="914400" cy="914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A9B417-A7DA-47F6-8979-F23FBC685D68}"/>
              </a:ext>
            </a:extLst>
          </p:cNvPr>
          <p:cNvSpPr>
            <a:spLocks noGrp="1"/>
          </p:cNvSpPr>
          <p:nvPr>
            <p:ph type="title"/>
          </p:nvPr>
        </p:nvSpPr>
        <p:spPr/>
        <p:txBody>
          <a:bodyPr>
            <a:normAutofit fontScale="90000"/>
          </a:bodyPr>
          <a:lstStyle/>
          <a:p>
            <a:r>
              <a:rPr lang="en-US" noProof="0" dirty="0"/>
              <a:t>Exhibit 4.12 The Six Barriers to Strategy Implementation</a:t>
            </a:r>
          </a:p>
        </p:txBody>
      </p:sp>
      <p:graphicFrame>
        <p:nvGraphicFramePr>
          <p:cNvPr id="6" name="Table 6">
            <a:extLst>
              <a:ext uri="{FF2B5EF4-FFF2-40B4-BE49-F238E27FC236}">
                <a16:creationId xmlns:a16="http://schemas.microsoft.com/office/drawing/2014/main" id="{706902F8-4CBF-431C-982A-79852361AD44}"/>
              </a:ext>
            </a:extLst>
          </p:cNvPr>
          <p:cNvGraphicFramePr>
            <a:graphicFrameLocks noGrp="1"/>
          </p:cNvGraphicFramePr>
          <p:nvPr>
            <p:extLst>
              <p:ext uri="{D42A27DB-BD31-4B8C-83A1-F6EECF244321}">
                <p14:modId xmlns:p14="http://schemas.microsoft.com/office/powerpoint/2010/main" val="2587315511"/>
              </p:ext>
            </p:extLst>
          </p:nvPr>
        </p:nvGraphicFramePr>
        <p:xfrm>
          <a:off x="577514" y="1637630"/>
          <a:ext cx="7603958" cy="2773680"/>
        </p:xfrm>
        <a:graphic>
          <a:graphicData uri="http://schemas.openxmlformats.org/drawingml/2006/table">
            <a:tbl>
              <a:tblPr firstRow="1" bandRow="1">
                <a:tableStyleId>{5C22544A-7EE6-4342-B048-85BDC9FD1C3A}</a:tableStyleId>
              </a:tblPr>
              <a:tblGrid>
                <a:gridCol w="7603958">
                  <a:extLst>
                    <a:ext uri="{9D8B030D-6E8A-4147-A177-3AD203B41FA5}">
                      <a16:colId xmlns:a16="http://schemas.microsoft.com/office/drawing/2014/main" val="865613226"/>
                    </a:ext>
                  </a:extLst>
                </a:gridCol>
              </a:tblGrid>
              <a:tr h="370840">
                <a:tc>
                  <a:txBody>
                    <a:bodyPr/>
                    <a:lstStyle/>
                    <a:p>
                      <a:r>
                        <a:rPr lang="en-US" sz="2000" dirty="0"/>
                        <a:t>Six Barriers to Strategy Implementation</a:t>
                      </a:r>
                      <a:endParaRPr lang="en-US" sz="2000" b="1" dirty="0"/>
                    </a:p>
                  </a:txBody>
                  <a:tcPr/>
                </a:tc>
                <a:extLst>
                  <a:ext uri="{0D108BD9-81ED-4DB2-BD59-A6C34878D82A}">
                    <a16:rowId xmlns:a16="http://schemas.microsoft.com/office/drawing/2014/main" val="1353850529"/>
                  </a:ext>
                </a:extLst>
              </a:tr>
              <a:tr h="370840">
                <a:tc>
                  <a:txBody>
                    <a:bodyPr/>
                    <a:lstStyle/>
                    <a:p>
                      <a:r>
                        <a:rPr lang="en-US" sz="2000" dirty="0"/>
                        <a:t>Top-down or laissez-faire senior management style.</a:t>
                      </a:r>
                      <a:endParaRPr lang="en-US" sz="2000" b="0" dirty="0"/>
                    </a:p>
                  </a:txBody>
                  <a:tcPr anchor="ctr"/>
                </a:tc>
                <a:extLst>
                  <a:ext uri="{0D108BD9-81ED-4DB2-BD59-A6C34878D82A}">
                    <a16:rowId xmlns:a16="http://schemas.microsoft.com/office/drawing/2014/main" val="3520690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Unclear strategy </a:t>
                      </a:r>
                      <a:r>
                        <a:rPr lang="en-US" sz="2000" u="none" strike="noStrike" kern="1200" baseline="0" dirty="0"/>
                        <a:t>and conflicting priorities.</a:t>
                      </a:r>
                      <a:endParaRPr lang="en-US" sz="2000" dirty="0"/>
                    </a:p>
                  </a:txBody>
                  <a:tcPr anchor="ctr"/>
                </a:tc>
                <a:extLst>
                  <a:ext uri="{0D108BD9-81ED-4DB2-BD59-A6C34878D82A}">
                    <a16:rowId xmlns:a16="http://schemas.microsoft.com/office/drawing/2014/main" val="27886282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u="none" strike="noStrike" kern="1200" baseline="0" dirty="0"/>
                        <a:t>An ineffective senior management team. </a:t>
                      </a:r>
                      <a:endParaRPr lang="en-US" sz="20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4139253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u="none" strike="noStrike" kern="1200" baseline="0" dirty="0"/>
                        <a:t>Poor vertical communication.</a:t>
                      </a:r>
                      <a:endParaRPr lang="en-US" sz="20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25020911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u="none" strike="noStrike" kern="1200" baseline="0" dirty="0"/>
                        <a:t>Poor coordination across functions, businesses, or borders.</a:t>
                      </a:r>
                      <a:endParaRPr lang="en-US" sz="20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1297308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u="none" strike="noStrike" kern="1200" baseline="0" dirty="0"/>
                        <a:t>Inadequate down-the-line leadership skills and development.</a:t>
                      </a:r>
                      <a:endParaRPr lang="en-US" sz="2000" b="0" i="0" u="none" strike="noStrike" kern="1200" baseline="0" dirty="0">
                        <a:solidFill>
                          <a:schemeClr val="tx1"/>
                        </a:solidFill>
                        <a:latin typeface="+mn-lt"/>
                        <a:ea typeface="+mn-ea"/>
                        <a:cs typeface="+mn-cs"/>
                      </a:endParaRPr>
                    </a:p>
                  </a:txBody>
                  <a:tcPr anchor="ctr"/>
                </a:tc>
                <a:extLst>
                  <a:ext uri="{0D108BD9-81ED-4DB2-BD59-A6C34878D82A}">
                    <a16:rowId xmlns:a16="http://schemas.microsoft.com/office/drawing/2014/main" val="4152111715"/>
                  </a:ext>
                </a:extLst>
              </a:tr>
            </a:tbl>
          </a:graphicData>
        </a:graphic>
      </p:graphicFrame>
      <p:sp>
        <p:nvSpPr>
          <p:cNvPr id="4" name="Slide Number Placeholder 5">
            <a:extLst>
              <a:ext uri="{FF2B5EF4-FFF2-40B4-BE49-F238E27FC236}">
                <a16:creationId xmlns:a16="http://schemas.microsoft.com/office/drawing/2014/main" id="{94C83D69-EFDA-485D-99F3-DCEA98A82F3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53939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42900" y="233546"/>
            <a:ext cx="5064672" cy="821119"/>
          </a:xfrm>
          <a:solidFill>
            <a:srgbClr val="FFFF00"/>
          </a:solidFill>
        </p:spPr>
        <p:txBody>
          <a:bodyPr rtlCol="0">
            <a:noAutofit/>
          </a:bodyPr>
          <a:lstStyle/>
          <a:p>
            <a:pPr fontAlgn="auto">
              <a:spcAft>
                <a:spcPts val="0"/>
              </a:spcAft>
              <a:defRPr/>
            </a:pPr>
            <a:r>
              <a:rPr lang="en-US" sz="3200" noProof="0" dirty="0"/>
              <a:t>Step 6: Strategic Control</a:t>
            </a:r>
            <a:endParaRPr lang="en-US" sz="2800" noProof="0" dirty="0">
              <a:solidFill>
                <a:srgbClr val="0070C0"/>
              </a:solidFill>
            </a:endParaRPr>
          </a:p>
        </p:txBody>
      </p:sp>
      <p:sp>
        <p:nvSpPr>
          <p:cNvPr id="15" name="Content Placeholder 14">
            <a:extLst>
              <a:ext uri="{FF2B5EF4-FFF2-40B4-BE49-F238E27FC236}">
                <a16:creationId xmlns:a16="http://schemas.microsoft.com/office/drawing/2014/main" id="{ED163CBF-5883-48D7-B0D7-4276E366614A}"/>
              </a:ext>
            </a:extLst>
          </p:cNvPr>
          <p:cNvSpPr>
            <a:spLocks noGrp="1"/>
          </p:cNvSpPr>
          <p:nvPr>
            <p:ph sz="quarter" idx="11"/>
          </p:nvPr>
        </p:nvSpPr>
        <p:spPr>
          <a:xfrm>
            <a:off x="342900" y="2147851"/>
            <a:ext cx="8458200" cy="4100549"/>
          </a:xfrm>
        </p:spPr>
        <p:txBody>
          <a:bodyPr/>
          <a:lstStyle/>
          <a:p>
            <a:pPr>
              <a:defRPr/>
            </a:pPr>
            <a:r>
              <a:rPr lang="en-US" b="1" noProof="0" dirty="0"/>
              <a:t>Strategic control system:</a:t>
            </a:r>
          </a:p>
          <a:p>
            <a:pPr marL="291600" indent="-291600">
              <a:buFont typeface="Arial" panose="020B0604020202020204" pitchFamily="34" charset="0"/>
              <a:buChar char="•"/>
              <a:defRPr/>
            </a:pPr>
            <a:r>
              <a:rPr lang="en-US" sz="2400" noProof="0" dirty="0"/>
              <a:t>A system designed to support managers in evaluating the organization’s progress regarding its strategy and, when discrepancies exist, taking corrective action.</a:t>
            </a:r>
          </a:p>
        </p:txBody>
      </p:sp>
      <p:sp>
        <p:nvSpPr>
          <p:cNvPr id="4" name="Slide Number Placeholder 5">
            <a:extLst>
              <a:ext uri="{FF2B5EF4-FFF2-40B4-BE49-F238E27FC236}">
                <a16:creationId xmlns:a16="http://schemas.microsoft.com/office/drawing/2014/main" id="{D84C5F76-04D2-4030-88E6-9941F0CCB02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pic>
        <p:nvPicPr>
          <p:cNvPr id="3" name="Picture 2" descr="Elderly woman with hands on waist">
            <a:extLst>
              <a:ext uri="{FF2B5EF4-FFF2-40B4-BE49-F238E27FC236}">
                <a16:creationId xmlns:a16="http://schemas.microsoft.com/office/drawing/2014/main" id="{D90420CA-4CA0-1C0B-6025-184746B61590}"/>
              </a:ext>
            </a:extLst>
          </p:cNvPr>
          <p:cNvPicPr>
            <a:picLocks noChangeAspect="1"/>
          </p:cNvPicPr>
          <p:nvPr/>
        </p:nvPicPr>
        <p:blipFill>
          <a:blip r:embed="rId3"/>
          <a:stretch>
            <a:fillRect/>
          </a:stretch>
        </p:blipFill>
        <p:spPr>
          <a:xfrm>
            <a:off x="2184239" y="4003169"/>
            <a:ext cx="3223333" cy="262128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78B2-DDCF-416B-B8FC-1E5A7BA113C1}"/>
              </a:ext>
            </a:extLst>
          </p:cNvPr>
          <p:cNvSpPr>
            <a:spLocks noGrp="1"/>
          </p:cNvSpPr>
          <p:nvPr>
            <p:ph type="title"/>
          </p:nvPr>
        </p:nvSpPr>
        <p:spPr/>
        <p:txBody>
          <a:bodyPr/>
          <a:lstStyle/>
          <a:p>
            <a:r>
              <a:rPr lang="en-US" noProof="0" dirty="0"/>
              <a:t>In Review</a:t>
            </a:r>
          </a:p>
        </p:txBody>
      </p:sp>
      <p:sp>
        <p:nvSpPr>
          <p:cNvPr id="3" name="Content Placeholder 2">
            <a:extLst>
              <a:ext uri="{FF2B5EF4-FFF2-40B4-BE49-F238E27FC236}">
                <a16:creationId xmlns:a16="http://schemas.microsoft.com/office/drawing/2014/main" id="{66279577-8000-42CD-BFB5-3C4359E06A94}"/>
              </a:ext>
            </a:extLst>
          </p:cNvPr>
          <p:cNvSpPr>
            <a:spLocks noGrp="1"/>
          </p:cNvSpPr>
          <p:nvPr>
            <p:ph sz="quarter" idx="11"/>
          </p:nvPr>
        </p:nvSpPr>
        <p:spPr>
          <a:xfrm>
            <a:off x="342900" y="1276710"/>
            <a:ext cx="8458200" cy="5185736"/>
          </a:xfrm>
        </p:spPr>
        <p:txBody>
          <a:bodyPr>
            <a:normAutofit fontScale="77500" lnSpcReduction="20000"/>
          </a:bodyPr>
          <a:lstStyle/>
          <a:p>
            <a:pPr marL="514350" indent="-514350">
              <a:lnSpc>
                <a:spcPct val="120000"/>
              </a:lnSpc>
              <a:buClr>
                <a:srgbClr val="FF0000"/>
              </a:buClr>
              <a:buFont typeface="+mj-lt"/>
              <a:buAutoNum type="arabicPeriod"/>
            </a:pPr>
            <a:r>
              <a:rPr lang="en-US" noProof="0" dirty="0"/>
              <a:t>Summarize the basic steps in any planning process. </a:t>
            </a:r>
          </a:p>
          <a:p>
            <a:pPr marL="514350" indent="-514350">
              <a:lnSpc>
                <a:spcPct val="120000"/>
              </a:lnSpc>
              <a:buClr>
                <a:srgbClr val="FF0000"/>
              </a:buClr>
              <a:buFont typeface="+mj-lt"/>
              <a:buAutoNum type="arabicPeriod"/>
            </a:pPr>
            <a:r>
              <a:rPr lang="en-US" noProof="0" dirty="0"/>
              <a:t>Describe how to integrate strategic planning with tactical and operational planning. </a:t>
            </a:r>
          </a:p>
          <a:p>
            <a:pPr marL="514350" indent="-514350">
              <a:lnSpc>
                <a:spcPct val="120000"/>
              </a:lnSpc>
              <a:buClr>
                <a:srgbClr val="FF0000"/>
              </a:buClr>
              <a:buFont typeface="+mj-lt"/>
              <a:buAutoNum type="arabicPeriod"/>
            </a:pPr>
            <a:r>
              <a:rPr lang="en-US" noProof="0" dirty="0"/>
              <a:t>Identify elements of the external environment and internal resources of the firm to analyze before formulating a strategy. </a:t>
            </a:r>
          </a:p>
          <a:p>
            <a:pPr marL="514350" indent="-514350">
              <a:lnSpc>
                <a:spcPct val="120000"/>
              </a:lnSpc>
              <a:buClr>
                <a:srgbClr val="FF0000"/>
              </a:buClr>
              <a:buFont typeface="+mj-lt"/>
              <a:buAutoNum type="arabicPeriod"/>
            </a:pPr>
            <a:r>
              <a:rPr lang="en-US" noProof="0" dirty="0"/>
              <a:t>Define core capabilities and explain how they provide the foundation for business strategy.</a:t>
            </a:r>
          </a:p>
          <a:p>
            <a:pPr marL="514350" indent="-514350">
              <a:lnSpc>
                <a:spcPct val="120000"/>
              </a:lnSpc>
              <a:buClr>
                <a:srgbClr val="FF0000"/>
              </a:buClr>
              <a:buFont typeface="+mj-lt"/>
              <a:buAutoNum type="arabicPeriod"/>
              <a:defRPr/>
            </a:pPr>
            <a:r>
              <a:rPr lang="en-US" noProof="0" dirty="0"/>
              <a:t>Summarize the types of choices available for corporate strategy. </a:t>
            </a:r>
          </a:p>
          <a:p>
            <a:pPr marL="514350" indent="-514350">
              <a:lnSpc>
                <a:spcPct val="120000"/>
              </a:lnSpc>
              <a:buClr>
                <a:srgbClr val="FF0000"/>
              </a:buClr>
              <a:buFont typeface="+mj-lt"/>
              <a:buAutoNum type="arabicPeriod"/>
              <a:defRPr/>
            </a:pPr>
            <a:r>
              <a:rPr lang="en-US" noProof="0" dirty="0"/>
              <a:t>Discuss how companies can achieve competitive advantage through business strategy. </a:t>
            </a:r>
          </a:p>
          <a:p>
            <a:pPr marL="514350" indent="-514350">
              <a:lnSpc>
                <a:spcPct val="120000"/>
              </a:lnSpc>
              <a:buClr>
                <a:srgbClr val="FF0000"/>
              </a:buClr>
              <a:buFont typeface="+mj-lt"/>
              <a:buAutoNum type="arabicPeriod"/>
              <a:defRPr/>
            </a:pPr>
            <a:r>
              <a:rPr lang="en-US" noProof="0" dirty="0"/>
              <a:t>Describe the keys to effective strategy implementation.</a:t>
            </a:r>
            <a:endParaRPr lang="en-US" sz="3200" noProof="0" dirty="0"/>
          </a:p>
        </p:txBody>
      </p:sp>
      <p:sp>
        <p:nvSpPr>
          <p:cNvPr id="6" name="Slide Number Placeholder 5">
            <a:extLst>
              <a:ext uri="{FF2B5EF4-FFF2-40B4-BE49-F238E27FC236}">
                <a16:creationId xmlns:a16="http://schemas.microsoft.com/office/drawing/2014/main" id="{7F1C6930-99CC-4A36-B76D-D61BD85A89CC}"/>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2322405180"/>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MainContentSlideMaster">
  <a:themeElements>
    <a:clrScheme name="Custom 20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5.xml><?xml version="1.0" encoding="utf-8"?>
<a:theme xmlns:a="http://schemas.openxmlformats.org/drawingml/2006/main" name="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6.xml><?xml version="1.0" encoding="utf-8"?>
<a:theme xmlns:a="http://schemas.openxmlformats.org/drawingml/2006/main" name="1_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7.xml><?xml version="1.0" encoding="utf-8"?>
<a:theme xmlns:a="http://schemas.openxmlformats.org/drawingml/2006/main" name="1_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Template>
  <TotalTime>4985</TotalTime>
  <Words>3396</Words>
  <Application>Microsoft Office PowerPoint</Application>
  <PresentationFormat>On-screen Show (4:3)</PresentationFormat>
  <Paragraphs>318</Paragraphs>
  <Slides>36</Slides>
  <Notes>36</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36</vt:i4>
      </vt:variant>
    </vt:vector>
  </HeadingPairs>
  <TitlesOfParts>
    <vt:vector size="46" baseType="lpstr">
      <vt:lpstr>ＭＳ Ｐゴシック</vt:lpstr>
      <vt:lpstr>Arial</vt:lpstr>
      <vt:lpstr>Calibri</vt:lpstr>
      <vt:lpstr>Title Slides Master</vt:lpstr>
      <vt:lpstr>MainContentSlideMaster</vt:lpstr>
      <vt:lpstr>ClosingMaster</vt:lpstr>
      <vt:lpstr>DividerSlideMaster</vt:lpstr>
      <vt:lpstr>ImageDescriptionAppendixSlideMaster</vt:lpstr>
      <vt:lpstr>1_ImageDescriptionAppendixSlideMaster</vt:lpstr>
      <vt:lpstr>1_Title Slides Master</vt:lpstr>
      <vt:lpstr>PowerPoint Presentation</vt:lpstr>
      <vt:lpstr>Learning Objectives</vt:lpstr>
      <vt:lpstr>Exhibit 4.1 Decision-Making Stages and Formal Planning Steps</vt:lpstr>
      <vt:lpstr>The Basic Planning Process</vt:lpstr>
      <vt:lpstr>Step 1: Situational Analysis</vt:lpstr>
      <vt:lpstr>Step 2: Alternative Goals and Plans</vt:lpstr>
      <vt:lpstr>Step 3: Goal and Plan Evaluation</vt:lpstr>
      <vt:lpstr>Step 4: Goal and Plan Selection</vt:lpstr>
      <vt:lpstr>Step 5: Implementing</vt:lpstr>
      <vt:lpstr>Step 6: Monitoring and Controlling</vt:lpstr>
      <vt:lpstr>SPOTLIGHT ON…  Novo Nordisk Monitors Progress with Its Triple Bottom Line</vt:lpstr>
      <vt:lpstr>Strategic Planning</vt:lpstr>
      <vt:lpstr>Exhibit 4.2 Effective Strategies Answer Five Questions</vt:lpstr>
      <vt:lpstr>Exhibit 4.3 Hierarchy of Goals and Plans</vt:lpstr>
      <vt:lpstr>Tactical and Operational Planning</vt:lpstr>
      <vt:lpstr>Exhibit 4.4 The Strategy Map: Creating Value by Aligning Goals</vt:lpstr>
      <vt:lpstr>Exhibit 4.5 The Strategic Management Process</vt:lpstr>
      <vt:lpstr>Step 1:  Establishing Mission, Vision, and Goals</vt:lpstr>
      <vt:lpstr>Step 2:  Analyzing External Opportunities and Threats</vt:lpstr>
      <vt:lpstr>Components of an Environmental Analysis</vt:lpstr>
      <vt:lpstr>Step 3:  Analyzing Internal Strengths and Weaknesses</vt:lpstr>
      <vt:lpstr>Resources and Core Capabilities</vt:lpstr>
      <vt:lpstr>Exhibit 4.8 Resources and Core Capability</vt:lpstr>
      <vt:lpstr>Benchmarking</vt:lpstr>
      <vt:lpstr>Step 4:   SWOT Analysis and Strategy Formulation</vt:lpstr>
      <vt:lpstr>Exhibit 4.9 Sample SWOT Analysis:                                      Next Day Flyers</vt:lpstr>
      <vt:lpstr>Corporate Strategy 1</vt:lpstr>
      <vt:lpstr>Exhibit 4.10 Summary of Corporate Strategies</vt:lpstr>
      <vt:lpstr>Corporate Strategy 2</vt:lpstr>
      <vt:lpstr>Exhibit 4.11 Mapping GE’s Business Units and Product Lines to the BCG Matrix</vt:lpstr>
      <vt:lpstr>Business Strategy</vt:lpstr>
      <vt:lpstr>Functional Strategy</vt:lpstr>
      <vt:lpstr>Step 5: Strategy Implementation</vt:lpstr>
      <vt:lpstr>Exhibit 4.12 The Six Barriers to Strategy Implementation</vt:lpstr>
      <vt:lpstr>Step 6: Strategic Control</vt:lpstr>
      <vt:lpstr>In Review</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P Moran</dc:creator>
  <cp:keywords/>
  <cp:lastModifiedBy>P Moran</cp:lastModifiedBy>
  <cp:revision>324</cp:revision>
  <dcterms:created xsi:type="dcterms:W3CDTF">2021-07-01T13:49:16Z</dcterms:created>
  <dcterms:modified xsi:type="dcterms:W3CDTF">2025-04-25T05:57:32Z</dcterms:modified>
</cp:coreProperties>
</file>