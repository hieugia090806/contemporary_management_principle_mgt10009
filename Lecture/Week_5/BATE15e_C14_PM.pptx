
<file path=[Content_Types].xml><?xml version="1.0" encoding="utf-8"?>
<Types xmlns="http://schemas.openxmlformats.org/package/2006/content-types">
  <Default Extension="emf" ContentType="image/x-emf"/>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6" r:id="rId6"/>
  </p:sldMasterIdLst>
  <p:notesMasterIdLst>
    <p:notesMasterId r:id="rId33"/>
  </p:notesMasterIdLst>
  <p:sldIdLst>
    <p:sldId id="568" r:id="rId7"/>
    <p:sldId id="506" r:id="rId8"/>
    <p:sldId id="757" r:id="rId9"/>
    <p:sldId id="823" r:id="rId10"/>
    <p:sldId id="824" r:id="rId11"/>
    <p:sldId id="825" r:id="rId12"/>
    <p:sldId id="826" r:id="rId13"/>
    <p:sldId id="827" r:id="rId14"/>
    <p:sldId id="828" r:id="rId15"/>
    <p:sldId id="829" r:id="rId16"/>
    <p:sldId id="711" r:id="rId17"/>
    <p:sldId id="830" r:id="rId18"/>
    <p:sldId id="831" r:id="rId19"/>
    <p:sldId id="832" r:id="rId20"/>
    <p:sldId id="833" r:id="rId21"/>
    <p:sldId id="834" r:id="rId22"/>
    <p:sldId id="835" r:id="rId23"/>
    <p:sldId id="836" r:id="rId24"/>
    <p:sldId id="837" r:id="rId25"/>
    <p:sldId id="838" r:id="rId26"/>
    <p:sldId id="839" r:id="rId27"/>
    <p:sldId id="840" r:id="rId28"/>
    <p:sldId id="841" r:id="rId29"/>
    <p:sldId id="842" r:id="rId30"/>
    <p:sldId id="843" r:id="rId31"/>
    <p:sldId id="84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68"/>
            <p14:sldId id="506"/>
            <p14:sldId id="757"/>
            <p14:sldId id="823"/>
            <p14:sldId id="824"/>
            <p14:sldId id="825"/>
            <p14:sldId id="826"/>
            <p14:sldId id="827"/>
            <p14:sldId id="828"/>
            <p14:sldId id="829"/>
            <p14:sldId id="711"/>
            <p14:sldId id="830"/>
            <p14:sldId id="831"/>
            <p14:sldId id="832"/>
            <p14:sldId id="833"/>
            <p14:sldId id="834"/>
            <p14:sldId id="835"/>
            <p14:sldId id="836"/>
            <p14:sldId id="837"/>
            <p14:sldId id="838"/>
            <p14:sldId id="839"/>
            <p14:sldId id="840"/>
            <p14:sldId id="841"/>
            <p14:sldId id="842"/>
            <p14:sldId id="843"/>
            <p14:sldId id="844"/>
          </p14:sldIdLst>
        </p14:section>
        <p14:section name="Appendix: Image Descriptions for Unsighted Students" id="{9E859B0B-078E-463E-89A6-21C20DD280C4}">
          <p14:sldIdLst/>
        </p14:section>
      </p14:sectionLst>
    </p:ext>
    <p:ext uri="{EFAFB233-063F-42B5-8137-9DF3F51BA10A}">
      <p15:sldGuideLst xmlns:p15="http://schemas.microsoft.com/office/powerpoint/2012/main">
        <p15:guide id="2" pos="456" userDrawn="1">
          <p15:clr>
            <a:srgbClr val="A4A3A4"/>
          </p15:clr>
        </p15:guide>
        <p15:guide id="3" orient="horz" pos="2256" userDrawn="1">
          <p15:clr>
            <a:srgbClr val="A4A3A4"/>
          </p15:clr>
        </p15:guide>
        <p15:guide id="4" pos="56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41B"/>
    <a:srgbClr val="C0161E"/>
    <a:srgbClr val="069598"/>
    <a:srgbClr val="F4CCCC"/>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32BAD3-3059-4B44-9574-10ACED2DB813}" v="11" dt="2025-03-15T04:58:16.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6" autoAdjust="0"/>
    <p:restoredTop sz="90718" autoAdjust="0"/>
  </p:normalViewPr>
  <p:slideViewPr>
    <p:cSldViewPr snapToGrid="0" showGuides="1">
      <p:cViewPr>
        <p:scale>
          <a:sx n="80" d="100"/>
          <a:sy n="80" d="100"/>
        </p:scale>
        <p:origin x="2766" y="540"/>
      </p:cViewPr>
      <p:guideLst>
        <p:guide pos="456"/>
        <p:guide orient="horz" pos="2256"/>
        <p:guide pos="5664"/>
      </p:guideLst>
    </p:cSldViewPr>
  </p:slideViewPr>
  <p:outlineViewPr>
    <p:cViewPr>
      <p:scale>
        <a:sx n="33" d="100"/>
        <a:sy n="33" d="100"/>
      </p:scale>
      <p:origin x="0" y="-33798"/>
    </p:cViewPr>
  </p:outlineViewPr>
  <p:notesTextViewPr>
    <p:cViewPr>
      <p:scale>
        <a:sx n="125" d="100"/>
        <a:sy n="125" d="100"/>
      </p:scale>
      <p:origin x="0" y="0"/>
    </p:cViewPr>
  </p:notesTextViewPr>
  <p:sorterViewPr>
    <p:cViewPr>
      <p:scale>
        <a:sx n="100" d="100"/>
        <a:sy n="100" d="100"/>
      </p:scale>
      <p:origin x="0" y="-30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oran" userId="204e4a19ae7aee6c" providerId="LiveId" clId="{8C32BAD3-3059-4B44-9574-10ACED2DB813}"/>
    <pc:docChg chg="undo custSel delSld modSld modSection">
      <pc:chgData name="P Moran" userId="204e4a19ae7aee6c" providerId="LiveId" clId="{8C32BAD3-3059-4B44-9574-10ACED2DB813}" dt="2025-03-15T05:02:55.272" v="1881" actId="47"/>
      <pc:docMkLst>
        <pc:docMk/>
      </pc:docMkLst>
      <pc:sldChg chg="del">
        <pc:chgData name="P Moran" userId="204e4a19ae7aee6c" providerId="LiveId" clId="{8C32BAD3-3059-4B44-9574-10ACED2DB813}" dt="2025-03-15T05:02:41.584" v="1879" actId="47"/>
        <pc:sldMkLst>
          <pc:docMk/>
          <pc:sldMk cId="4245016543" sldId="258"/>
        </pc:sldMkLst>
      </pc:sldChg>
      <pc:sldChg chg="del">
        <pc:chgData name="P Moran" userId="204e4a19ae7aee6c" providerId="LiveId" clId="{8C32BAD3-3059-4B44-9574-10ACED2DB813}" dt="2025-03-15T05:02:21.721" v="1878" actId="47"/>
        <pc:sldMkLst>
          <pc:docMk/>
          <pc:sldMk cId="1080484485" sldId="260"/>
        </pc:sldMkLst>
      </pc:sldChg>
      <pc:sldChg chg="del">
        <pc:chgData name="P Moran" userId="204e4a19ae7aee6c" providerId="LiveId" clId="{8C32BAD3-3059-4B44-9574-10ACED2DB813}" dt="2025-03-15T02:58:47.525" v="0" actId="47"/>
        <pc:sldMkLst>
          <pc:docMk/>
          <pc:sldMk cId="259528086" sldId="404"/>
        </pc:sldMkLst>
      </pc:sldChg>
      <pc:sldChg chg="modSp mod">
        <pc:chgData name="P Moran" userId="204e4a19ae7aee6c" providerId="LiveId" clId="{8C32BAD3-3059-4B44-9574-10ACED2DB813}" dt="2025-03-15T04:16:27.196" v="916" actId="207"/>
        <pc:sldMkLst>
          <pc:docMk/>
          <pc:sldMk cId="1879684892" sldId="711"/>
        </pc:sldMkLst>
        <pc:spChg chg="mod">
          <ac:chgData name="P Moran" userId="204e4a19ae7aee6c" providerId="LiveId" clId="{8C32BAD3-3059-4B44-9574-10ACED2DB813}" dt="2025-03-15T04:16:00.889" v="910" actId="27636"/>
          <ac:spMkLst>
            <pc:docMk/>
            <pc:sldMk cId="1879684892" sldId="711"/>
            <ac:spMk id="2" creationId="{94C9B556-F28B-4161-87E4-BB737E7C228F}"/>
          </ac:spMkLst>
        </pc:spChg>
        <pc:spChg chg="mod">
          <ac:chgData name="P Moran" userId="204e4a19ae7aee6c" providerId="LiveId" clId="{8C32BAD3-3059-4B44-9574-10ACED2DB813}" dt="2025-03-15T04:16:11.518" v="913" actId="113"/>
          <ac:spMkLst>
            <pc:docMk/>
            <pc:sldMk cId="1879684892" sldId="711"/>
            <ac:spMk id="9" creationId="{993C3812-A81D-411B-93CB-EFE857DDBE0C}"/>
          </ac:spMkLst>
        </pc:spChg>
        <pc:spChg chg="mod">
          <ac:chgData name="P Moran" userId="204e4a19ae7aee6c" providerId="LiveId" clId="{8C32BAD3-3059-4B44-9574-10ACED2DB813}" dt="2025-03-15T04:16:17.349" v="914" actId="207"/>
          <ac:spMkLst>
            <pc:docMk/>
            <pc:sldMk cId="1879684892" sldId="711"/>
            <ac:spMk id="11" creationId="{D2E1D037-3246-4E34-BEA8-207C797D02F0}"/>
          </ac:spMkLst>
        </pc:spChg>
        <pc:spChg chg="mod">
          <ac:chgData name="P Moran" userId="204e4a19ae7aee6c" providerId="LiveId" clId="{8C32BAD3-3059-4B44-9574-10ACED2DB813}" dt="2025-03-15T04:16:21.349" v="915" actId="207"/>
          <ac:spMkLst>
            <pc:docMk/>
            <pc:sldMk cId="1879684892" sldId="711"/>
            <ac:spMk id="12" creationId="{174AA047-3D7A-4CA1-A53C-4A5A26567EB6}"/>
          </ac:spMkLst>
        </pc:spChg>
        <pc:spChg chg="mod">
          <ac:chgData name="P Moran" userId="204e4a19ae7aee6c" providerId="LiveId" clId="{8C32BAD3-3059-4B44-9574-10ACED2DB813}" dt="2025-03-15T04:16:27.196" v="916" actId="207"/>
          <ac:spMkLst>
            <pc:docMk/>
            <pc:sldMk cId="1879684892" sldId="711"/>
            <ac:spMk id="13" creationId="{1788B2F0-4DB7-47F8-98D4-DBDD367088D6}"/>
          </ac:spMkLst>
        </pc:spChg>
      </pc:sldChg>
      <pc:sldChg chg="modSp mod">
        <pc:chgData name="P Moran" userId="204e4a19ae7aee6c" providerId="LiveId" clId="{8C32BAD3-3059-4B44-9574-10ACED2DB813}" dt="2025-03-15T03:06:48.417" v="212" actId="122"/>
        <pc:sldMkLst>
          <pc:docMk/>
          <pc:sldMk cId="473777503" sldId="757"/>
        </pc:sldMkLst>
        <pc:spChg chg="mod">
          <ac:chgData name="P Moran" userId="204e4a19ae7aee6c" providerId="LiveId" clId="{8C32BAD3-3059-4B44-9574-10ACED2DB813}" dt="2025-03-15T03:00:22.790" v="3" actId="207"/>
          <ac:spMkLst>
            <pc:docMk/>
            <pc:sldMk cId="473777503" sldId="757"/>
            <ac:spMk id="2" creationId="{B4B3DF24-955F-4806-B85B-DB3D3C34D106}"/>
          </ac:spMkLst>
        </pc:spChg>
        <pc:spChg chg="mod">
          <ac:chgData name="P Moran" userId="204e4a19ae7aee6c" providerId="LiveId" clId="{8C32BAD3-3059-4B44-9574-10ACED2DB813}" dt="2025-03-15T03:06:48.417" v="212" actId="122"/>
          <ac:spMkLst>
            <pc:docMk/>
            <pc:sldMk cId="473777503" sldId="757"/>
            <ac:spMk id="3" creationId="{9DBEFC25-5793-46C1-BE3D-314E3734C9B4}"/>
          </ac:spMkLst>
        </pc:spChg>
      </pc:sldChg>
      <pc:sldChg chg="del">
        <pc:chgData name="P Moran" userId="204e4a19ae7aee6c" providerId="LiveId" clId="{8C32BAD3-3059-4B44-9574-10ACED2DB813}" dt="2025-03-15T05:02:52.240" v="1880" actId="47"/>
        <pc:sldMkLst>
          <pc:docMk/>
          <pc:sldMk cId="3079628812" sldId="819"/>
        </pc:sldMkLst>
      </pc:sldChg>
      <pc:sldChg chg="addSp delSp modSp mod">
        <pc:chgData name="P Moran" userId="204e4a19ae7aee6c" providerId="LiveId" clId="{8C32BAD3-3059-4B44-9574-10ACED2DB813}" dt="2025-03-15T03:10:09.794" v="255" actId="20577"/>
        <pc:sldMkLst>
          <pc:docMk/>
          <pc:sldMk cId="437068987" sldId="823"/>
        </pc:sldMkLst>
        <pc:spChg chg="mod">
          <ac:chgData name="P Moran" userId="204e4a19ae7aee6c" providerId="LiveId" clId="{8C32BAD3-3059-4B44-9574-10ACED2DB813}" dt="2025-03-15T03:07:01.468" v="214" actId="122"/>
          <ac:spMkLst>
            <pc:docMk/>
            <pc:sldMk cId="437068987" sldId="823"/>
            <ac:spMk id="2" creationId="{1C2A167A-2932-4CBD-855C-66661DD8E47B}"/>
          </ac:spMkLst>
        </pc:spChg>
        <pc:spChg chg="mod">
          <ac:chgData name="P Moran" userId="204e4a19ae7aee6c" providerId="LiveId" clId="{8C32BAD3-3059-4B44-9574-10ACED2DB813}" dt="2025-03-15T03:10:09.794" v="255" actId="20577"/>
          <ac:spMkLst>
            <pc:docMk/>
            <pc:sldMk cId="437068987" sldId="823"/>
            <ac:spMk id="3" creationId="{86338122-224C-4F53-AAE2-4C292136944D}"/>
          </ac:spMkLst>
        </pc:spChg>
        <pc:spChg chg="mod">
          <ac:chgData name="P Moran" userId="204e4a19ae7aee6c" providerId="LiveId" clId="{8C32BAD3-3059-4B44-9574-10ACED2DB813}" dt="2025-03-15T03:07:55.258" v="231" actId="1076"/>
          <ac:spMkLst>
            <pc:docMk/>
            <pc:sldMk cId="437068987" sldId="823"/>
            <ac:spMk id="4" creationId="{E1B81EB1-09D3-4C6A-855E-7F06F6F0B919}"/>
          </ac:spMkLst>
        </pc:spChg>
        <pc:spChg chg="del mod">
          <ac:chgData name="P Moran" userId="204e4a19ae7aee6c" providerId="LiveId" clId="{8C32BAD3-3059-4B44-9574-10ACED2DB813}" dt="2025-03-15T03:08:53.953" v="240" actId="478"/>
          <ac:spMkLst>
            <pc:docMk/>
            <pc:sldMk cId="437068987" sldId="823"/>
            <ac:spMk id="5" creationId="{1E7D658F-5422-4577-A1D0-4325B9724E89}"/>
          </ac:spMkLst>
        </pc:spChg>
        <pc:spChg chg="del mod">
          <ac:chgData name="P Moran" userId="204e4a19ae7aee6c" providerId="LiveId" clId="{8C32BAD3-3059-4B44-9574-10ACED2DB813}" dt="2025-03-15T03:09:32.676" v="248" actId="478"/>
          <ac:spMkLst>
            <pc:docMk/>
            <pc:sldMk cId="437068987" sldId="823"/>
            <ac:spMk id="6" creationId="{FF81BF24-6E23-4F0E-A853-A16A2757E868}"/>
          </ac:spMkLst>
        </pc:spChg>
        <pc:spChg chg="add del mod">
          <ac:chgData name="P Moran" userId="204e4a19ae7aee6c" providerId="LiveId" clId="{8C32BAD3-3059-4B44-9574-10ACED2DB813}" dt="2025-03-15T03:09:07.959" v="242" actId="478"/>
          <ac:spMkLst>
            <pc:docMk/>
            <pc:sldMk cId="437068987" sldId="823"/>
            <ac:spMk id="8" creationId="{EEFD3C4D-A3DB-9577-398E-FA7D3C6D9DA2}"/>
          </ac:spMkLst>
        </pc:spChg>
        <pc:spChg chg="add del mod">
          <ac:chgData name="P Moran" userId="204e4a19ae7aee6c" providerId="LiveId" clId="{8C32BAD3-3059-4B44-9574-10ACED2DB813}" dt="2025-03-15T03:09:39.572" v="250" actId="478"/>
          <ac:spMkLst>
            <pc:docMk/>
            <pc:sldMk cId="437068987" sldId="823"/>
            <ac:spMk id="10" creationId="{2EF8E267-B284-3526-9201-E36119B44EE7}"/>
          </ac:spMkLst>
        </pc:spChg>
      </pc:sldChg>
      <pc:sldChg chg="modSp mod">
        <pc:chgData name="P Moran" userId="204e4a19ae7aee6c" providerId="LiveId" clId="{8C32BAD3-3059-4B44-9574-10ACED2DB813}" dt="2025-03-15T03:13:29.375" v="405" actId="6549"/>
        <pc:sldMkLst>
          <pc:docMk/>
          <pc:sldMk cId="2335429594" sldId="824"/>
        </pc:sldMkLst>
        <pc:spChg chg="mod">
          <ac:chgData name="P Moran" userId="204e4a19ae7aee6c" providerId="LiveId" clId="{8C32BAD3-3059-4B44-9574-10ACED2DB813}" dt="2025-03-15T03:10:31.451" v="258" actId="207"/>
          <ac:spMkLst>
            <pc:docMk/>
            <pc:sldMk cId="2335429594" sldId="824"/>
            <ac:spMk id="2" creationId="{1C2A167A-2932-4CBD-855C-66661DD8E47B}"/>
          </ac:spMkLst>
        </pc:spChg>
        <pc:spChg chg="mod">
          <ac:chgData name="P Moran" userId="204e4a19ae7aee6c" providerId="LiveId" clId="{8C32BAD3-3059-4B44-9574-10ACED2DB813}" dt="2025-03-15T03:11:42.715" v="293" actId="6549"/>
          <ac:spMkLst>
            <pc:docMk/>
            <pc:sldMk cId="2335429594" sldId="824"/>
            <ac:spMk id="3" creationId="{86338122-224C-4F53-AAE2-4C292136944D}"/>
          </ac:spMkLst>
        </pc:spChg>
        <pc:spChg chg="mod">
          <ac:chgData name="P Moran" userId="204e4a19ae7aee6c" providerId="LiveId" clId="{8C32BAD3-3059-4B44-9574-10ACED2DB813}" dt="2025-03-15T03:12:28.161" v="339" actId="6549"/>
          <ac:spMkLst>
            <pc:docMk/>
            <pc:sldMk cId="2335429594" sldId="824"/>
            <ac:spMk id="4" creationId="{E1B81EB1-09D3-4C6A-855E-7F06F6F0B919}"/>
          </ac:spMkLst>
        </pc:spChg>
        <pc:spChg chg="mod">
          <ac:chgData name="P Moran" userId="204e4a19ae7aee6c" providerId="LiveId" clId="{8C32BAD3-3059-4B44-9574-10ACED2DB813}" dt="2025-03-15T03:13:00.873" v="346" actId="14100"/>
          <ac:spMkLst>
            <pc:docMk/>
            <pc:sldMk cId="2335429594" sldId="824"/>
            <ac:spMk id="5" creationId="{1E7D658F-5422-4577-A1D0-4325B9724E89}"/>
          </ac:spMkLst>
        </pc:spChg>
        <pc:spChg chg="mod">
          <ac:chgData name="P Moran" userId="204e4a19ae7aee6c" providerId="LiveId" clId="{8C32BAD3-3059-4B44-9574-10ACED2DB813}" dt="2025-03-15T03:13:29.375" v="405" actId="6549"/>
          <ac:spMkLst>
            <pc:docMk/>
            <pc:sldMk cId="2335429594" sldId="824"/>
            <ac:spMk id="6" creationId="{FF81BF24-6E23-4F0E-A853-A16A2757E868}"/>
          </ac:spMkLst>
        </pc:spChg>
      </pc:sldChg>
      <pc:sldChg chg="modSp mod">
        <pc:chgData name="P Moran" userId="204e4a19ae7aee6c" providerId="LiveId" clId="{8C32BAD3-3059-4B44-9574-10ACED2DB813}" dt="2025-03-15T03:13:49.065" v="407" actId="122"/>
        <pc:sldMkLst>
          <pc:docMk/>
          <pc:sldMk cId="873956078" sldId="825"/>
        </pc:sldMkLst>
        <pc:spChg chg="mod">
          <ac:chgData name="P Moran" userId="204e4a19ae7aee6c" providerId="LiveId" clId="{8C32BAD3-3059-4B44-9574-10ACED2DB813}" dt="2025-03-15T03:13:49.065" v="407" actId="122"/>
          <ac:spMkLst>
            <pc:docMk/>
            <pc:sldMk cId="873956078" sldId="825"/>
            <ac:spMk id="2" creationId="{1C2A167A-2932-4CBD-855C-66661DD8E47B}"/>
          </ac:spMkLst>
        </pc:spChg>
      </pc:sldChg>
      <pc:sldChg chg="modSp mod">
        <pc:chgData name="P Moran" userId="204e4a19ae7aee6c" providerId="LiveId" clId="{8C32BAD3-3059-4B44-9574-10ACED2DB813}" dt="2025-03-15T03:38:31.385" v="410" actId="255"/>
        <pc:sldMkLst>
          <pc:docMk/>
          <pc:sldMk cId="2914174177" sldId="826"/>
        </pc:sldMkLst>
        <pc:spChg chg="mod">
          <ac:chgData name="P Moran" userId="204e4a19ae7aee6c" providerId="LiveId" clId="{8C32BAD3-3059-4B44-9574-10ACED2DB813}" dt="2025-03-15T03:38:31.385" v="410" actId="255"/>
          <ac:spMkLst>
            <pc:docMk/>
            <pc:sldMk cId="2914174177" sldId="826"/>
            <ac:spMk id="2" creationId="{06CD9BB6-A72C-4823-80A6-D67A7E5C4D22}"/>
          </ac:spMkLst>
        </pc:spChg>
      </pc:sldChg>
      <pc:sldChg chg="modSp mod">
        <pc:chgData name="P Moran" userId="204e4a19ae7aee6c" providerId="LiveId" clId="{8C32BAD3-3059-4B44-9574-10ACED2DB813}" dt="2025-03-15T03:38:47.775" v="412" actId="122"/>
        <pc:sldMkLst>
          <pc:docMk/>
          <pc:sldMk cId="2556459112" sldId="827"/>
        </pc:sldMkLst>
        <pc:spChg chg="mod">
          <ac:chgData name="P Moran" userId="204e4a19ae7aee6c" providerId="LiveId" clId="{8C32BAD3-3059-4B44-9574-10ACED2DB813}" dt="2025-03-15T03:38:47.775" v="412" actId="122"/>
          <ac:spMkLst>
            <pc:docMk/>
            <pc:sldMk cId="2556459112" sldId="827"/>
            <ac:spMk id="2" creationId="{FE97CA21-DFBD-4651-84AE-D53E6775EFD5}"/>
          </ac:spMkLst>
        </pc:spChg>
      </pc:sldChg>
      <pc:sldChg chg="modSp mod">
        <pc:chgData name="P Moran" userId="204e4a19ae7aee6c" providerId="LiveId" clId="{8C32BAD3-3059-4B44-9574-10ACED2DB813}" dt="2025-03-15T04:11:26.171" v="760" actId="6549"/>
        <pc:sldMkLst>
          <pc:docMk/>
          <pc:sldMk cId="2843940788" sldId="828"/>
        </pc:sldMkLst>
        <pc:spChg chg="mod">
          <ac:chgData name="P Moran" userId="204e4a19ae7aee6c" providerId="LiveId" clId="{8C32BAD3-3059-4B44-9574-10ACED2DB813}" dt="2025-03-15T04:05:25.524" v="415" actId="207"/>
          <ac:spMkLst>
            <pc:docMk/>
            <pc:sldMk cId="2843940788" sldId="828"/>
            <ac:spMk id="2" creationId="{E5D5B293-61F9-494C-9E43-89DD555A5710}"/>
          </ac:spMkLst>
        </pc:spChg>
        <pc:spChg chg="mod">
          <ac:chgData name="P Moran" userId="204e4a19ae7aee6c" providerId="LiveId" clId="{8C32BAD3-3059-4B44-9574-10ACED2DB813}" dt="2025-03-15T04:09:35.944" v="606" actId="207"/>
          <ac:spMkLst>
            <pc:docMk/>
            <pc:sldMk cId="2843940788" sldId="828"/>
            <ac:spMk id="3" creationId="{41442F1B-D042-443A-B1CA-A7DE5D244B78}"/>
          </ac:spMkLst>
        </pc:spChg>
        <pc:spChg chg="mod">
          <ac:chgData name="P Moran" userId="204e4a19ae7aee6c" providerId="LiveId" clId="{8C32BAD3-3059-4B44-9574-10ACED2DB813}" dt="2025-03-15T04:11:26.171" v="760" actId="6549"/>
          <ac:spMkLst>
            <pc:docMk/>
            <pc:sldMk cId="2843940788" sldId="828"/>
            <ac:spMk id="4" creationId="{6E3CFF63-F96F-4D56-A016-333FCAB19289}"/>
          </ac:spMkLst>
        </pc:spChg>
      </pc:sldChg>
      <pc:sldChg chg="modSp mod">
        <pc:chgData name="P Moran" userId="204e4a19ae7aee6c" providerId="LiveId" clId="{8C32BAD3-3059-4B44-9574-10ACED2DB813}" dt="2025-03-15T04:15:41.123" v="907" actId="12"/>
        <pc:sldMkLst>
          <pc:docMk/>
          <pc:sldMk cId="527778805" sldId="829"/>
        </pc:sldMkLst>
        <pc:spChg chg="mod">
          <ac:chgData name="P Moran" userId="204e4a19ae7aee6c" providerId="LiveId" clId="{8C32BAD3-3059-4B44-9574-10ACED2DB813}" dt="2025-03-15T04:11:57.419" v="767" actId="207"/>
          <ac:spMkLst>
            <pc:docMk/>
            <pc:sldMk cId="527778805" sldId="829"/>
            <ac:spMk id="2" creationId="{BF5D00E3-85EB-42C7-A6AE-E42B27B94B68}"/>
          </ac:spMkLst>
        </pc:spChg>
        <pc:spChg chg="mod">
          <ac:chgData name="P Moran" userId="204e4a19ae7aee6c" providerId="LiveId" clId="{8C32BAD3-3059-4B44-9574-10ACED2DB813}" dt="2025-03-15T04:14:51.492" v="870" actId="1076"/>
          <ac:spMkLst>
            <pc:docMk/>
            <pc:sldMk cId="527778805" sldId="829"/>
            <ac:spMk id="3" creationId="{43BD97F7-63A3-428D-A119-A2BCDC88D64D}"/>
          </ac:spMkLst>
        </pc:spChg>
        <pc:spChg chg="mod">
          <ac:chgData name="P Moran" userId="204e4a19ae7aee6c" providerId="LiveId" clId="{8C32BAD3-3059-4B44-9574-10ACED2DB813}" dt="2025-03-15T04:14:54.509" v="871" actId="1076"/>
          <ac:spMkLst>
            <pc:docMk/>
            <pc:sldMk cId="527778805" sldId="829"/>
            <ac:spMk id="4" creationId="{07219671-8997-4781-A906-B9591CBDB5F0}"/>
          </ac:spMkLst>
        </pc:spChg>
        <pc:spChg chg="mod">
          <ac:chgData name="P Moran" userId="204e4a19ae7aee6c" providerId="LiveId" clId="{8C32BAD3-3059-4B44-9574-10ACED2DB813}" dt="2025-03-15T04:15:41.123" v="907" actId="12"/>
          <ac:spMkLst>
            <pc:docMk/>
            <pc:sldMk cId="527778805" sldId="829"/>
            <ac:spMk id="5" creationId="{3AF3D5A5-C503-4C37-A6CF-0978266E0ACF}"/>
          </ac:spMkLst>
        </pc:spChg>
      </pc:sldChg>
      <pc:sldChg chg="modSp mod">
        <pc:chgData name="P Moran" userId="204e4a19ae7aee6c" providerId="LiveId" clId="{8C32BAD3-3059-4B44-9574-10ACED2DB813}" dt="2025-03-15T04:18:06.524" v="936" actId="14100"/>
        <pc:sldMkLst>
          <pc:docMk/>
          <pc:sldMk cId="3098838764" sldId="830"/>
        </pc:sldMkLst>
        <pc:spChg chg="mod">
          <ac:chgData name="P Moran" userId="204e4a19ae7aee6c" providerId="LiveId" clId="{8C32BAD3-3059-4B44-9574-10ACED2DB813}" dt="2025-03-15T04:16:43.582" v="918" actId="122"/>
          <ac:spMkLst>
            <pc:docMk/>
            <pc:sldMk cId="3098838764" sldId="830"/>
            <ac:spMk id="2" creationId="{203D7C28-32CC-45A5-B635-B3351ACFF9F7}"/>
          </ac:spMkLst>
        </pc:spChg>
        <pc:spChg chg="mod">
          <ac:chgData name="P Moran" userId="204e4a19ae7aee6c" providerId="LiveId" clId="{8C32BAD3-3059-4B44-9574-10ACED2DB813}" dt="2025-03-15T04:18:06.524" v="936" actId="14100"/>
          <ac:spMkLst>
            <pc:docMk/>
            <pc:sldMk cId="3098838764" sldId="830"/>
            <ac:spMk id="3" creationId="{AAE77287-1487-49E0-9617-1AD23EFFA8A6}"/>
          </ac:spMkLst>
        </pc:spChg>
      </pc:sldChg>
      <pc:sldChg chg="addSp modSp mod">
        <pc:chgData name="P Moran" userId="204e4a19ae7aee6c" providerId="LiveId" clId="{8C32BAD3-3059-4B44-9574-10ACED2DB813}" dt="2025-03-15T04:21:13.842" v="946" actId="14100"/>
        <pc:sldMkLst>
          <pc:docMk/>
          <pc:sldMk cId="3346317695" sldId="831"/>
        </pc:sldMkLst>
        <pc:spChg chg="mod">
          <ac:chgData name="P Moran" userId="204e4a19ae7aee6c" providerId="LiveId" clId="{8C32BAD3-3059-4B44-9574-10ACED2DB813}" dt="2025-03-15T04:18:24.693" v="938" actId="122"/>
          <ac:spMkLst>
            <pc:docMk/>
            <pc:sldMk cId="3346317695" sldId="831"/>
            <ac:spMk id="8" creationId="{3F1C8ED5-0069-4F8B-88A7-99500436EB22}"/>
          </ac:spMkLst>
        </pc:spChg>
        <pc:spChg chg="mod">
          <ac:chgData name="P Moran" userId="204e4a19ae7aee6c" providerId="LiveId" clId="{8C32BAD3-3059-4B44-9574-10ACED2DB813}" dt="2025-03-15T04:18:36.884" v="941" actId="255"/>
          <ac:spMkLst>
            <pc:docMk/>
            <pc:sldMk cId="3346317695" sldId="831"/>
            <ac:spMk id="11" creationId="{AB46F05D-A67D-4EB5-B76B-A86FA21B6CD3}"/>
          </ac:spMkLst>
        </pc:spChg>
        <pc:picChg chg="add mod">
          <ac:chgData name="P Moran" userId="204e4a19ae7aee6c" providerId="LiveId" clId="{8C32BAD3-3059-4B44-9574-10ACED2DB813}" dt="2025-03-15T04:21:13.842" v="946" actId="14100"/>
          <ac:picMkLst>
            <pc:docMk/>
            <pc:sldMk cId="3346317695" sldId="831"/>
            <ac:picMk id="3" creationId="{B587AAB2-751A-B2C3-73FC-EAFD696E16AE}"/>
          </ac:picMkLst>
        </pc:picChg>
      </pc:sldChg>
      <pc:sldChg chg="addSp modSp mod">
        <pc:chgData name="P Moran" userId="204e4a19ae7aee6c" providerId="LiveId" clId="{8C32BAD3-3059-4B44-9574-10ACED2DB813}" dt="2025-03-15T04:23:38.389" v="973" actId="14100"/>
        <pc:sldMkLst>
          <pc:docMk/>
          <pc:sldMk cId="1078018458" sldId="832"/>
        </pc:sldMkLst>
        <pc:spChg chg="mod">
          <ac:chgData name="P Moran" userId="204e4a19ae7aee6c" providerId="LiveId" clId="{8C32BAD3-3059-4B44-9574-10ACED2DB813}" dt="2025-03-15T04:21:23.958" v="948" actId="122"/>
          <ac:spMkLst>
            <pc:docMk/>
            <pc:sldMk cId="1078018458" sldId="832"/>
            <ac:spMk id="2" creationId="{B38C6F9D-60E0-46C3-92ED-D4D25BAC49C5}"/>
          </ac:spMkLst>
        </pc:spChg>
        <pc:spChg chg="mod">
          <ac:chgData name="P Moran" userId="204e4a19ae7aee6c" providerId="LiveId" clId="{8C32BAD3-3059-4B44-9574-10ACED2DB813}" dt="2025-03-15T04:22:44.365" v="969" actId="6549"/>
          <ac:spMkLst>
            <pc:docMk/>
            <pc:sldMk cId="1078018458" sldId="832"/>
            <ac:spMk id="3" creationId="{AEBB79BC-7D52-4BA7-B1D6-AA0418C083E8}"/>
          </ac:spMkLst>
        </pc:spChg>
        <pc:picChg chg="add mod">
          <ac:chgData name="P Moran" userId="204e4a19ae7aee6c" providerId="LiveId" clId="{8C32BAD3-3059-4B44-9574-10ACED2DB813}" dt="2025-03-15T04:23:38.389" v="973" actId="14100"/>
          <ac:picMkLst>
            <pc:docMk/>
            <pc:sldMk cId="1078018458" sldId="832"/>
            <ac:picMk id="5" creationId="{74FE6EE1-9B48-4075-5F7F-50B6C1104BEF}"/>
          </ac:picMkLst>
        </pc:picChg>
      </pc:sldChg>
      <pc:sldChg chg="modSp mod">
        <pc:chgData name="P Moran" userId="204e4a19ae7aee6c" providerId="LiveId" clId="{8C32BAD3-3059-4B44-9574-10ACED2DB813}" dt="2025-03-15T04:25:09.871" v="1006" actId="14100"/>
        <pc:sldMkLst>
          <pc:docMk/>
          <pc:sldMk cId="3705945801" sldId="833"/>
        </pc:sldMkLst>
        <pc:spChg chg="mod">
          <ac:chgData name="P Moran" userId="204e4a19ae7aee6c" providerId="LiveId" clId="{8C32BAD3-3059-4B44-9574-10ACED2DB813}" dt="2025-03-15T04:23:47.127" v="975" actId="122"/>
          <ac:spMkLst>
            <pc:docMk/>
            <pc:sldMk cId="3705945801" sldId="833"/>
            <ac:spMk id="2" creationId="{F191DED1-2388-4B8D-A9F5-801AF9306E00}"/>
          </ac:spMkLst>
        </pc:spChg>
        <pc:spChg chg="mod">
          <ac:chgData name="P Moran" userId="204e4a19ae7aee6c" providerId="LiveId" clId="{8C32BAD3-3059-4B44-9574-10ACED2DB813}" dt="2025-03-15T04:24:10.775" v="978" actId="6549"/>
          <ac:spMkLst>
            <pc:docMk/>
            <pc:sldMk cId="3705945801" sldId="833"/>
            <ac:spMk id="3" creationId="{60AFE20E-EF6E-42C0-A402-8E818E05405B}"/>
          </ac:spMkLst>
        </pc:spChg>
        <pc:spChg chg="mod">
          <ac:chgData name="P Moran" userId="204e4a19ae7aee6c" providerId="LiveId" clId="{8C32BAD3-3059-4B44-9574-10ACED2DB813}" dt="2025-03-15T04:24:35.784" v="998" actId="6549"/>
          <ac:spMkLst>
            <pc:docMk/>
            <pc:sldMk cId="3705945801" sldId="833"/>
            <ac:spMk id="4" creationId="{243D2863-0A40-4AF9-A25C-C247ED44EBE0}"/>
          </ac:spMkLst>
        </pc:spChg>
        <pc:spChg chg="mod">
          <ac:chgData name="P Moran" userId="204e4a19ae7aee6c" providerId="LiveId" clId="{8C32BAD3-3059-4B44-9574-10ACED2DB813}" dt="2025-03-15T04:25:09.871" v="1006" actId="14100"/>
          <ac:spMkLst>
            <pc:docMk/>
            <pc:sldMk cId="3705945801" sldId="833"/>
            <ac:spMk id="5" creationId="{403DFD1A-CD76-4BFC-A56C-D20EF8CD7984}"/>
          </ac:spMkLst>
        </pc:spChg>
      </pc:sldChg>
      <pc:sldChg chg="addSp modSp mod">
        <pc:chgData name="P Moran" userId="204e4a19ae7aee6c" providerId="LiveId" clId="{8C32BAD3-3059-4B44-9574-10ACED2DB813}" dt="2025-03-15T04:34:21.577" v="1395" actId="20577"/>
        <pc:sldMkLst>
          <pc:docMk/>
          <pc:sldMk cId="3817130259" sldId="834"/>
        </pc:sldMkLst>
        <pc:spChg chg="mod">
          <ac:chgData name="P Moran" userId="204e4a19ae7aee6c" providerId="LiveId" clId="{8C32BAD3-3059-4B44-9574-10ACED2DB813}" dt="2025-03-15T04:25:43.084" v="1010" actId="14100"/>
          <ac:spMkLst>
            <pc:docMk/>
            <pc:sldMk cId="3817130259" sldId="834"/>
            <ac:spMk id="2" creationId="{BE126F25-E88B-42E4-B0BE-E913A6C4DC77}"/>
          </ac:spMkLst>
        </pc:spChg>
        <pc:spChg chg="mod">
          <ac:chgData name="P Moran" userId="204e4a19ae7aee6c" providerId="LiveId" clId="{8C32BAD3-3059-4B44-9574-10ACED2DB813}" dt="2025-03-15T04:31:46.036" v="1326" actId="6549"/>
          <ac:spMkLst>
            <pc:docMk/>
            <pc:sldMk cId="3817130259" sldId="834"/>
            <ac:spMk id="3" creationId="{F2CF400A-8049-4219-BBC1-B16D2D3247CD}"/>
          </ac:spMkLst>
        </pc:spChg>
        <pc:spChg chg="mod">
          <ac:chgData name="P Moran" userId="204e4a19ae7aee6c" providerId="LiveId" clId="{8C32BAD3-3059-4B44-9574-10ACED2DB813}" dt="2025-03-15T04:34:21.577" v="1395" actId="20577"/>
          <ac:spMkLst>
            <pc:docMk/>
            <pc:sldMk cId="3817130259" sldId="834"/>
            <ac:spMk id="4" creationId="{E4798D99-8633-4FE9-A4B2-F55C46287F63}"/>
          </ac:spMkLst>
        </pc:spChg>
        <pc:picChg chg="add mod">
          <ac:chgData name="P Moran" userId="204e4a19ae7aee6c" providerId="LiveId" clId="{8C32BAD3-3059-4B44-9574-10ACED2DB813}" dt="2025-03-15T04:32:54.813" v="1330" actId="1076"/>
          <ac:picMkLst>
            <pc:docMk/>
            <pc:sldMk cId="3817130259" sldId="834"/>
            <ac:picMk id="6" creationId="{0F506B54-F48B-FF5D-0D60-2ACE0642F422}"/>
          </ac:picMkLst>
        </pc:picChg>
      </pc:sldChg>
      <pc:sldChg chg="modSp mod">
        <pc:chgData name="P Moran" userId="204e4a19ae7aee6c" providerId="LiveId" clId="{8C32BAD3-3059-4B44-9574-10ACED2DB813}" dt="2025-03-15T04:34:59.997" v="1402" actId="122"/>
        <pc:sldMkLst>
          <pc:docMk/>
          <pc:sldMk cId="1479719940" sldId="835"/>
        </pc:sldMkLst>
        <pc:spChg chg="mod">
          <ac:chgData name="P Moran" userId="204e4a19ae7aee6c" providerId="LiveId" clId="{8C32BAD3-3059-4B44-9574-10ACED2DB813}" dt="2025-03-15T04:34:34.376" v="1398" actId="122"/>
          <ac:spMkLst>
            <pc:docMk/>
            <pc:sldMk cId="1479719940" sldId="835"/>
            <ac:spMk id="2" creationId="{4582557F-722D-4544-A56E-27E642749FAF}"/>
          </ac:spMkLst>
        </pc:spChg>
        <pc:spChg chg="mod">
          <ac:chgData name="P Moran" userId="204e4a19ae7aee6c" providerId="LiveId" clId="{8C32BAD3-3059-4B44-9574-10ACED2DB813}" dt="2025-03-15T04:34:59.997" v="1402" actId="122"/>
          <ac:spMkLst>
            <pc:docMk/>
            <pc:sldMk cId="1479719940" sldId="835"/>
            <ac:spMk id="4" creationId="{4C3715AC-7586-4EC2-8F96-5B09E48EA377}"/>
          </ac:spMkLst>
        </pc:spChg>
      </pc:sldChg>
      <pc:sldChg chg="addSp delSp modSp mod">
        <pc:chgData name="P Moran" userId="204e4a19ae7aee6c" providerId="LiveId" clId="{8C32BAD3-3059-4B44-9574-10ACED2DB813}" dt="2025-03-15T04:35:47.353" v="1411" actId="478"/>
        <pc:sldMkLst>
          <pc:docMk/>
          <pc:sldMk cId="356347954" sldId="836"/>
        </pc:sldMkLst>
        <pc:spChg chg="mod">
          <ac:chgData name="P Moran" userId="204e4a19ae7aee6c" providerId="LiveId" clId="{8C32BAD3-3059-4B44-9574-10ACED2DB813}" dt="2025-03-15T04:35:24.592" v="1405" actId="122"/>
          <ac:spMkLst>
            <pc:docMk/>
            <pc:sldMk cId="356347954" sldId="836"/>
            <ac:spMk id="2" creationId="{94C9B556-F28B-4161-87E4-BB737E7C228F}"/>
          </ac:spMkLst>
        </pc:spChg>
        <pc:spChg chg="del">
          <ac:chgData name="P Moran" userId="204e4a19ae7aee6c" providerId="LiveId" clId="{8C32BAD3-3059-4B44-9574-10ACED2DB813}" dt="2025-03-15T04:35:43.183" v="1410" actId="478"/>
          <ac:spMkLst>
            <pc:docMk/>
            <pc:sldMk cId="356347954" sldId="836"/>
            <ac:spMk id="4" creationId="{427E2F42-AAED-4243-9904-F255820DE85E}"/>
          </ac:spMkLst>
        </pc:spChg>
        <pc:spChg chg="add del mod">
          <ac:chgData name="P Moran" userId="204e4a19ae7aee6c" providerId="LiveId" clId="{8C32BAD3-3059-4B44-9574-10ACED2DB813}" dt="2025-03-15T04:35:47.353" v="1411" actId="478"/>
          <ac:spMkLst>
            <pc:docMk/>
            <pc:sldMk cId="356347954" sldId="836"/>
            <ac:spMk id="5" creationId="{BB1802FD-6F4A-7A7B-2CF6-E8DEE67AC56C}"/>
          </ac:spMkLst>
        </pc:spChg>
        <pc:picChg chg="mod">
          <ac:chgData name="P Moran" userId="204e4a19ae7aee6c" providerId="LiveId" clId="{8C32BAD3-3059-4B44-9574-10ACED2DB813}" dt="2025-03-15T04:35:38.024" v="1409" actId="14100"/>
          <ac:picMkLst>
            <pc:docMk/>
            <pc:sldMk cId="356347954" sldId="836"/>
            <ac:picMk id="7" creationId="{364A16AE-E62E-48BD-8A26-74E52C8673F4}"/>
          </ac:picMkLst>
        </pc:picChg>
      </pc:sldChg>
      <pc:sldChg chg="addSp modSp mod">
        <pc:chgData name="P Moran" userId="204e4a19ae7aee6c" providerId="LiveId" clId="{8C32BAD3-3059-4B44-9574-10ACED2DB813}" dt="2025-03-15T04:41:10.072" v="1431" actId="14100"/>
        <pc:sldMkLst>
          <pc:docMk/>
          <pc:sldMk cId="1366538485" sldId="837"/>
        </pc:sldMkLst>
        <pc:spChg chg="mod">
          <ac:chgData name="P Moran" userId="204e4a19ae7aee6c" providerId="LiveId" clId="{8C32BAD3-3059-4B44-9574-10ACED2DB813}" dt="2025-03-15T04:36:05.079" v="1415" actId="6549"/>
          <ac:spMkLst>
            <pc:docMk/>
            <pc:sldMk cId="1366538485" sldId="837"/>
            <ac:spMk id="2" creationId="{AD026D3B-C700-4416-BBA9-4F4AB048C060}"/>
          </ac:spMkLst>
        </pc:spChg>
        <pc:graphicFrameChg chg="add mod modGraphic">
          <ac:chgData name="P Moran" userId="204e4a19ae7aee6c" providerId="LiveId" clId="{8C32BAD3-3059-4B44-9574-10ACED2DB813}" dt="2025-03-15T04:39:40.909" v="1428" actId="339"/>
          <ac:graphicFrameMkLst>
            <pc:docMk/>
            <pc:sldMk cId="1366538485" sldId="837"/>
            <ac:graphicFrameMk id="4" creationId="{0B973E99-FD38-268C-EC69-174973C03C18}"/>
          </ac:graphicFrameMkLst>
        </pc:graphicFrameChg>
        <pc:picChg chg="add mod">
          <ac:chgData name="P Moran" userId="204e4a19ae7aee6c" providerId="LiveId" clId="{8C32BAD3-3059-4B44-9574-10ACED2DB813}" dt="2025-03-15T04:41:10.072" v="1431" actId="14100"/>
          <ac:picMkLst>
            <pc:docMk/>
            <pc:sldMk cId="1366538485" sldId="837"/>
            <ac:picMk id="5" creationId="{6C47B01F-0152-9186-739C-CC4230AB8685}"/>
          </ac:picMkLst>
        </pc:picChg>
      </pc:sldChg>
      <pc:sldChg chg="modSp mod">
        <pc:chgData name="P Moran" userId="204e4a19ae7aee6c" providerId="LiveId" clId="{8C32BAD3-3059-4B44-9574-10ACED2DB813}" dt="2025-03-15T04:42:26.658" v="1445" actId="207"/>
        <pc:sldMkLst>
          <pc:docMk/>
          <pc:sldMk cId="1677334513" sldId="838"/>
        </pc:sldMkLst>
        <pc:spChg chg="mod">
          <ac:chgData name="P Moran" userId="204e4a19ae7aee6c" providerId="LiveId" clId="{8C32BAD3-3059-4B44-9574-10ACED2DB813}" dt="2025-03-15T04:41:25.125" v="1433" actId="122"/>
          <ac:spMkLst>
            <pc:docMk/>
            <pc:sldMk cId="1677334513" sldId="838"/>
            <ac:spMk id="2" creationId="{344C0A2F-05F4-4D7E-A838-918E6AEC51C1}"/>
          </ac:spMkLst>
        </pc:spChg>
        <pc:spChg chg="mod">
          <ac:chgData name="P Moran" userId="204e4a19ae7aee6c" providerId="LiveId" clId="{8C32BAD3-3059-4B44-9574-10ACED2DB813}" dt="2025-03-15T04:42:26.658" v="1445" actId="207"/>
          <ac:spMkLst>
            <pc:docMk/>
            <pc:sldMk cId="1677334513" sldId="838"/>
            <ac:spMk id="3" creationId="{899C83F8-88D0-4896-95B8-AE6E092323F8}"/>
          </ac:spMkLst>
        </pc:spChg>
      </pc:sldChg>
      <pc:sldChg chg="addSp modSp mod">
        <pc:chgData name="P Moran" userId="204e4a19ae7aee6c" providerId="LiveId" clId="{8C32BAD3-3059-4B44-9574-10ACED2DB813}" dt="2025-03-15T04:49:40.974" v="1559" actId="14100"/>
        <pc:sldMkLst>
          <pc:docMk/>
          <pc:sldMk cId="4091929311" sldId="839"/>
        </pc:sldMkLst>
        <pc:spChg chg="mod">
          <ac:chgData name="P Moran" userId="204e4a19ae7aee6c" providerId="LiveId" clId="{8C32BAD3-3059-4B44-9574-10ACED2DB813}" dt="2025-03-15T04:43:22.215" v="1447" actId="122"/>
          <ac:spMkLst>
            <pc:docMk/>
            <pc:sldMk cId="4091929311" sldId="839"/>
            <ac:spMk id="2" creationId="{6D93861E-99ED-4871-A572-2B508DBD2935}"/>
          </ac:spMkLst>
        </pc:spChg>
        <pc:spChg chg="mod">
          <ac:chgData name="P Moran" userId="204e4a19ae7aee6c" providerId="LiveId" clId="{8C32BAD3-3059-4B44-9574-10ACED2DB813}" dt="2025-03-15T04:43:59.030" v="1455" actId="120"/>
          <ac:spMkLst>
            <pc:docMk/>
            <pc:sldMk cId="4091929311" sldId="839"/>
            <ac:spMk id="3" creationId="{FEDA5CC7-33B7-45EF-9CA2-4714C57CD77A}"/>
          </ac:spMkLst>
        </pc:spChg>
        <pc:spChg chg="mod">
          <ac:chgData name="P Moran" userId="204e4a19ae7aee6c" providerId="LiveId" clId="{8C32BAD3-3059-4B44-9574-10ACED2DB813}" dt="2025-03-15T04:45:48.972" v="1525" actId="12"/>
          <ac:spMkLst>
            <pc:docMk/>
            <pc:sldMk cId="4091929311" sldId="839"/>
            <ac:spMk id="4" creationId="{8F354FB5-335C-4612-B203-B1A48B77A63E}"/>
          </ac:spMkLst>
        </pc:spChg>
        <pc:spChg chg="mod">
          <ac:chgData name="P Moran" userId="204e4a19ae7aee6c" providerId="LiveId" clId="{8C32BAD3-3059-4B44-9574-10ACED2DB813}" dt="2025-03-15T04:47:23.681" v="1555" actId="20577"/>
          <ac:spMkLst>
            <pc:docMk/>
            <pc:sldMk cId="4091929311" sldId="839"/>
            <ac:spMk id="5" creationId="{B6F5BC65-CE06-4131-894E-DCA5C3847E88}"/>
          </ac:spMkLst>
        </pc:spChg>
        <pc:picChg chg="add mod">
          <ac:chgData name="P Moran" userId="204e4a19ae7aee6c" providerId="LiveId" clId="{8C32BAD3-3059-4B44-9574-10ACED2DB813}" dt="2025-03-15T04:49:40.974" v="1559" actId="14100"/>
          <ac:picMkLst>
            <pc:docMk/>
            <pc:sldMk cId="4091929311" sldId="839"/>
            <ac:picMk id="7" creationId="{4C94E4D6-63F9-5CBB-02AA-42FE7470A91F}"/>
          </ac:picMkLst>
        </pc:picChg>
      </pc:sldChg>
      <pc:sldChg chg="addSp delSp modSp mod">
        <pc:chgData name="P Moran" userId="204e4a19ae7aee6c" providerId="LiveId" clId="{8C32BAD3-3059-4B44-9574-10ACED2DB813}" dt="2025-03-15T04:50:36.734" v="1570" actId="14100"/>
        <pc:sldMkLst>
          <pc:docMk/>
          <pc:sldMk cId="2007804406" sldId="840"/>
        </pc:sldMkLst>
        <pc:spChg chg="mod">
          <ac:chgData name="P Moran" userId="204e4a19ae7aee6c" providerId="LiveId" clId="{8C32BAD3-3059-4B44-9574-10ACED2DB813}" dt="2025-03-15T04:50:03.723" v="1563" actId="27636"/>
          <ac:spMkLst>
            <pc:docMk/>
            <pc:sldMk cId="2007804406" sldId="840"/>
            <ac:spMk id="2" creationId="{94C9B556-F28B-4161-87E4-BB737E7C228F}"/>
          </ac:spMkLst>
        </pc:spChg>
        <pc:spChg chg="mod">
          <ac:chgData name="P Moran" userId="204e4a19ae7aee6c" providerId="LiveId" clId="{8C32BAD3-3059-4B44-9574-10ACED2DB813}" dt="2025-03-15T04:50:25.496" v="1568" actId="1076"/>
          <ac:spMkLst>
            <pc:docMk/>
            <pc:sldMk cId="2007804406" sldId="840"/>
            <ac:spMk id="3" creationId="{BA2026F5-4ADA-42F0-8D78-1EC287E906D9}"/>
          </ac:spMkLst>
        </pc:spChg>
        <pc:spChg chg="del">
          <ac:chgData name="P Moran" userId="204e4a19ae7aee6c" providerId="LiveId" clId="{8C32BAD3-3059-4B44-9574-10ACED2DB813}" dt="2025-03-15T04:50:10.683" v="1564" actId="478"/>
          <ac:spMkLst>
            <pc:docMk/>
            <pc:sldMk cId="2007804406" sldId="840"/>
            <ac:spMk id="4" creationId="{427E2F42-AAED-4243-9904-F255820DE85E}"/>
          </ac:spMkLst>
        </pc:spChg>
        <pc:spChg chg="add del mod">
          <ac:chgData name="P Moran" userId="204e4a19ae7aee6c" providerId="LiveId" clId="{8C32BAD3-3059-4B44-9574-10ACED2DB813}" dt="2025-03-15T04:50:15.145" v="1565" actId="478"/>
          <ac:spMkLst>
            <pc:docMk/>
            <pc:sldMk cId="2007804406" sldId="840"/>
            <ac:spMk id="8" creationId="{B5E85567-F8F7-F830-9FCE-CEE5A5EDAF9F}"/>
          </ac:spMkLst>
        </pc:spChg>
        <pc:picChg chg="mod">
          <ac:chgData name="P Moran" userId="204e4a19ae7aee6c" providerId="LiveId" clId="{8C32BAD3-3059-4B44-9574-10ACED2DB813}" dt="2025-03-15T04:50:36.734" v="1570" actId="14100"/>
          <ac:picMkLst>
            <pc:docMk/>
            <pc:sldMk cId="2007804406" sldId="840"/>
            <ac:picMk id="7" creationId="{D4B11125-8352-407D-966C-F20F510F9B33}"/>
          </ac:picMkLst>
        </pc:picChg>
      </pc:sldChg>
      <pc:sldChg chg="addSp modSp mod">
        <pc:chgData name="P Moran" userId="204e4a19ae7aee6c" providerId="LiveId" clId="{8C32BAD3-3059-4B44-9574-10ACED2DB813}" dt="2025-03-15T04:56:19.527" v="1710" actId="1076"/>
        <pc:sldMkLst>
          <pc:docMk/>
          <pc:sldMk cId="2695561686" sldId="841"/>
        </pc:sldMkLst>
        <pc:spChg chg="mod">
          <ac:chgData name="P Moran" userId="204e4a19ae7aee6c" providerId="LiveId" clId="{8C32BAD3-3059-4B44-9574-10ACED2DB813}" dt="2025-03-15T04:50:43.737" v="1572" actId="122"/>
          <ac:spMkLst>
            <pc:docMk/>
            <pc:sldMk cId="2695561686" sldId="841"/>
            <ac:spMk id="2" creationId="{3771A1F2-146E-4BCC-AF09-F5C21C0BDE05}"/>
          </ac:spMkLst>
        </pc:spChg>
        <pc:spChg chg="mod">
          <ac:chgData name="P Moran" userId="204e4a19ae7aee6c" providerId="LiveId" clId="{8C32BAD3-3059-4B44-9574-10ACED2DB813}" dt="2025-03-15T04:53:40.380" v="1705" actId="6549"/>
          <ac:spMkLst>
            <pc:docMk/>
            <pc:sldMk cId="2695561686" sldId="841"/>
            <ac:spMk id="3" creationId="{579DD421-DA97-4089-8109-FBE0344B1E69}"/>
          </ac:spMkLst>
        </pc:spChg>
        <pc:graphicFrameChg chg="add mod modGraphic">
          <ac:chgData name="P Moran" userId="204e4a19ae7aee6c" providerId="LiveId" clId="{8C32BAD3-3059-4B44-9574-10ACED2DB813}" dt="2025-03-15T04:56:19.527" v="1710" actId="1076"/>
          <ac:graphicFrameMkLst>
            <pc:docMk/>
            <pc:sldMk cId="2695561686" sldId="841"/>
            <ac:graphicFrameMk id="4" creationId="{A00AC86B-663F-6C8B-6B05-E92564936BC9}"/>
          </ac:graphicFrameMkLst>
        </pc:graphicFrameChg>
      </pc:sldChg>
      <pc:sldChg chg="addSp modSp mod">
        <pc:chgData name="P Moran" userId="204e4a19ae7aee6c" providerId="LiveId" clId="{8C32BAD3-3059-4B44-9574-10ACED2DB813}" dt="2025-03-15T04:58:28.832" v="1756" actId="1076"/>
        <pc:sldMkLst>
          <pc:docMk/>
          <pc:sldMk cId="824233961" sldId="842"/>
        </pc:sldMkLst>
        <pc:spChg chg="mod">
          <ac:chgData name="P Moran" userId="204e4a19ae7aee6c" providerId="LiveId" clId="{8C32BAD3-3059-4B44-9574-10ACED2DB813}" dt="2025-03-15T04:56:31.241" v="1712" actId="122"/>
          <ac:spMkLst>
            <pc:docMk/>
            <pc:sldMk cId="824233961" sldId="842"/>
            <ac:spMk id="2" creationId="{64FC5C33-DE22-46E2-848D-346A6617A646}"/>
          </ac:spMkLst>
        </pc:spChg>
        <pc:spChg chg="mod">
          <ac:chgData name="P Moran" userId="204e4a19ae7aee6c" providerId="LiveId" clId="{8C32BAD3-3059-4B44-9574-10ACED2DB813}" dt="2025-03-15T04:57:13.685" v="1747" actId="20577"/>
          <ac:spMkLst>
            <pc:docMk/>
            <pc:sldMk cId="824233961" sldId="842"/>
            <ac:spMk id="3" creationId="{A9E09B05-DC9D-406F-B081-A5BD527C3A91}"/>
          </ac:spMkLst>
        </pc:spChg>
        <pc:spChg chg="mod">
          <ac:chgData name="P Moran" userId="204e4a19ae7aee6c" providerId="LiveId" clId="{8C32BAD3-3059-4B44-9574-10ACED2DB813}" dt="2025-03-15T04:57:22.335" v="1749" actId="14100"/>
          <ac:spMkLst>
            <pc:docMk/>
            <pc:sldMk cId="824233961" sldId="842"/>
            <ac:spMk id="5" creationId="{31021D2D-3CD8-46B3-8C7A-F0A0E764EA2C}"/>
          </ac:spMkLst>
        </pc:spChg>
        <pc:picChg chg="add mod">
          <ac:chgData name="P Moran" userId="204e4a19ae7aee6c" providerId="LiveId" clId="{8C32BAD3-3059-4B44-9574-10ACED2DB813}" dt="2025-03-15T04:57:53.668" v="1752" actId="14100"/>
          <ac:picMkLst>
            <pc:docMk/>
            <pc:sldMk cId="824233961" sldId="842"/>
            <ac:picMk id="7" creationId="{C8985DA2-2484-987D-4D51-67001D433EDB}"/>
          </ac:picMkLst>
        </pc:picChg>
        <pc:picChg chg="add mod">
          <ac:chgData name="P Moran" userId="204e4a19ae7aee6c" providerId="LiveId" clId="{8C32BAD3-3059-4B44-9574-10ACED2DB813}" dt="2025-03-15T04:58:28.832" v="1756" actId="1076"/>
          <ac:picMkLst>
            <pc:docMk/>
            <pc:sldMk cId="824233961" sldId="842"/>
            <ac:picMk id="9" creationId="{3D0DCDA7-CEE6-6C69-77DE-2A927EFA791A}"/>
          </ac:picMkLst>
        </pc:picChg>
      </pc:sldChg>
      <pc:sldChg chg="modSp mod">
        <pc:chgData name="P Moran" userId="204e4a19ae7aee6c" providerId="LiveId" clId="{8C32BAD3-3059-4B44-9574-10ACED2DB813}" dt="2025-03-15T05:02:00.792" v="1875" actId="6549"/>
        <pc:sldMkLst>
          <pc:docMk/>
          <pc:sldMk cId="738690771" sldId="843"/>
        </pc:sldMkLst>
        <pc:spChg chg="mod">
          <ac:chgData name="P Moran" userId="204e4a19ae7aee6c" providerId="LiveId" clId="{8C32BAD3-3059-4B44-9574-10ACED2DB813}" dt="2025-03-15T04:59:18.805" v="1765" actId="6549"/>
          <ac:spMkLst>
            <pc:docMk/>
            <pc:sldMk cId="738690771" sldId="843"/>
            <ac:spMk id="8" creationId="{ACC2D489-E207-47CE-9677-371520FED963}"/>
          </ac:spMkLst>
        </pc:spChg>
        <pc:spChg chg="mod">
          <ac:chgData name="P Moran" userId="204e4a19ae7aee6c" providerId="LiveId" clId="{8C32BAD3-3059-4B44-9574-10ACED2DB813}" dt="2025-03-15T05:00:26.716" v="1803" actId="207"/>
          <ac:spMkLst>
            <pc:docMk/>
            <pc:sldMk cId="738690771" sldId="843"/>
            <ac:spMk id="9" creationId="{73B277BD-97F3-4668-A8E8-9C564962A3C8}"/>
          </ac:spMkLst>
        </pc:spChg>
        <pc:spChg chg="mod">
          <ac:chgData name="P Moran" userId="204e4a19ae7aee6c" providerId="LiveId" clId="{8C32BAD3-3059-4B44-9574-10ACED2DB813}" dt="2025-03-15T05:02:00.792" v="1875" actId="6549"/>
          <ac:spMkLst>
            <pc:docMk/>
            <pc:sldMk cId="738690771" sldId="843"/>
            <ac:spMk id="11" creationId="{EC212240-5103-4405-ACDB-C87937691113}"/>
          </ac:spMkLst>
        </pc:spChg>
      </pc:sldChg>
      <pc:sldChg chg="modSp mod">
        <pc:chgData name="P Moran" userId="204e4a19ae7aee6c" providerId="LiveId" clId="{8C32BAD3-3059-4B44-9574-10ACED2DB813}" dt="2025-03-15T05:02:15.641" v="1877" actId="122"/>
        <pc:sldMkLst>
          <pc:docMk/>
          <pc:sldMk cId="2744438826" sldId="844"/>
        </pc:sldMkLst>
        <pc:spChg chg="mod">
          <ac:chgData name="P Moran" userId="204e4a19ae7aee6c" providerId="LiveId" clId="{8C32BAD3-3059-4B44-9574-10ACED2DB813}" dt="2025-03-15T05:02:15.641" v="1877" actId="122"/>
          <ac:spMkLst>
            <pc:docMk/>
            <pc:sldMk cId="2744438826" sldId="844"/>
            <ac:spMk id="2" creationId="{A2108C74-4B7C-43C7-923B-1BB2525AC23A}"/>
          </ac:spMkLst>
        </pc:spChg>
      </pc:sldChg>
      <pc:sldChg chg="del">
        <pc:chgData name="P Moran" userId="204e4a19ae7aee6c" providerId="LiveId" clId="{8C32BAD3-3059-4B44-9574-10ACED2DB813}" dt="2025-03-15T05:02:55.272" v="1881" actId="47"/>
        <pc:sldMkLst>
          <pc:docMk/>
          <pc:sldMk cId="1066177413" sldId="8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15294-8BCE-4B15-84C9-4E8D5074478D}" type="datetimeFigureOut">
              <a:rPr lang="en-US" smtClean="0"/>
              <a:t>3/15/2025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56329-1779-487C-B587-BBABA473AA7C}" type="slidenum">
              <a:rPr lang="en-US" smtClean="0"/>
              <a:t>‹#›</a:t>
            </a:fld>
            <a:endParaRPr lang="en-US"/>
          </a:p>
        </p:txBody>
      </p:sp>
    </p:spTree>
    <p:extLst>
      <p:ext uri="{BB962C8B-B14F-4D97-AF65-F5344CB8AC3E}">
        <p14:creationId xmlns:p14="http://schemas.microsoft.com/office/powerpoint/2010/main" val="195580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0D6C90F6-6BF9-4708-BB7D-CA22F176AE07}" type="slidenum">
              <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12289" name="Slide Image Placeholder 1"/>
          <p:cNvSpPr>
            <a:spLocks noGrp="1" noRot="1" noChangeAspect="1" noTextEdit="1"/>
          </p:cNvSpPr>
          <p:nvPr>
            <p:ph type="sldImg"/>
          </p:nvPr>
        </p:nvSpPr>
        <p:spPr>
          <a:xfrm>
            <a:off x="992188" y="768350"/>
            <a:ext cx="5114925" cy="3836988"/>
          </a:xfrm>
          <a:ln/>
        </p:spPr>
      </p:sp>
      <p:sp>
        <p:nvSpPr>
          <p:cNvPr id="12290" name="Notes Placeholder 2"/>
          <p:cNvSpPr>
            <a:spLocks noGrp="1"/>
          </p:cNvSpPr>
          <p:nvPr>
            <p:ph type="body" idx="1"/>
          </p:nvPr>
        </p:nvSpPr>
        <p:spPr>
          <a:noFill/>
          <a:ln/>
        </p:spPr>
        <p:txBody>
          <a:bodyPr/>
          <a:lstStyle/>
          <a:p>
            <a:endParaRPr lang="en-US" baseline="0" dirty="0">
              <a:ea typeface="ＭＳ Ｐゴシック"/>
              <a:cs typeface="ＭＳ Ｐゴシック"/>
            </a:endParaRPr>
          </a:p>
        </p:txBody>
      </p:sp>
      <p:sp>
        <p:nvSpPr>
          <p:cNvPr id="12291"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marL="0" marR="0" lvl="0" indent="0" algn="r" defTabSz="990600" rtl="0" eaLnBrk="1" fontAlgn="base" latinLnBrk="0" hangingPunct="1">
              <a:lnSpc>
                <a:spcPct val="100000"/>
              </a:lnSpc>
              <a:spcBef>
                <a:spcPct val="0"/>
              </a:spcBef>
              <a:spcAft>
                <a:spcPct val="0"/>
              </a:spcAft>
              <a:buClrTx/>
              <a:buSzTx/>
              <a:buFontTx/>
              <a:buNone/>
              <a:tabLst/>
              <a:defRPr/>
            </a:pPr>
            <a:fld id="{105165CB-49A6-4291-B934-0D35AB6D5249}" type="slidenum">
              <a:rPr kumimoji="0" lang="en-AU" sz="1300" b="0" i="0" u="none" strike="noStrike" kern="1200" cap="none" spc="0" normalizeH="0" baseline="0" noProof="0">
                <a:ln>
                  <a:noFill/>
                </a:ln>
                <a:solidFill>
                  <a:srgbClr val="000000"/>
                </a:solidFill>
                <a:effectLst/>
                <a:uLnTx/>
                <a:uFillTx/>
                <a:latin typeface="Arial" charset="0"/>
                <a:ea typeface="ＭＳ Ｐゴシック"/>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a:endParaRPr>
          </a:p>
        </p:txBody>
      </p:sp>
    </p:spTree>
    <p:extLst>
      <p:ext uri="{BB962C8B-B14F-4D97-AF65-F5344CB8AC3E}">
        <p14:creationId xmlns:p14="http://schemas.microsoft.com/office/powerpoint/2010/main" val="9117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endParaRPr lang="en-US" sz="1200" dirty="0"/>
          </a:p>
        </p:txBody>
      </p:sp>
      <p:sp>
        <p:nvSpPr>
          <p:cNvPr id="4" name="Slide Number Placeholder 3"/>
          <p:cNvSpPr>
            <a:spLocks noGrp="1"/>
          </p:cNvSpPr>
          <p:nvPr>
            <p:ph type="sldNum" sz="quarter" idx="5"/>
          </p:nvPr>
        </p:nvSpPr>
        <p:spPr/>
        <p:txBody>
          <a:bodyPr/>
          <a:lstStyle/>
          <a:p>
            <a:fld id="{35356329-1779-487C-B587-BBABA473AA7C}" type="slidenum">
              <a:rPr lang="en-US" smtClean="0"/>
              <a:t>2</a:t>
            </a:fld>
            <a:endParaRPr lang="en-US"/>
          </a:p>
        </p:txBody>
      </p:sp>
    </p:spTree>
    <p:extLst>
      <p:ext uri="{BB962C8B-B14F-4D97-AF65-F5344CB8AC3E}">
        <p14:creationId xmlns:p14="http://schemas.microsoft.com/office/powerpoint/2010/main" val="245462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t>The chapter starts with the example of Whole Foods and this company is featured</a:t>
            </a:r>
            <a:r>
              <a:rPr lang="en-US" sz="1200" b="0" i="0" baseline="0" dirty="0"/>
              <a:t> later in the chapter with some discussion questions.</a:t>
            </a:r>
            <a:endParaRPr lang="en-US" sz="1200" b="0" i="0"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a:t>
            </a:fld>
            <a:endParaRPr lang="en-US"/>
          </a:p>
        </p:txBody>
      </p:sp>
    </p:spTree>
    <p:extLst>
      <p:ext uri="{BB962C8B-B14F-4D97-AF65-F5344CB8AC3E}">
        <p14:creationId xmlns:p14="http://schemas.microsoft.com/office/powerpoint/2010/main" val="39001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Companies use teams to achieve competitive advantage. Used properly, teams can be powerfully effective as a building block for organization structure. Teams improve the quality of decision making and are powerful forces for innovation, change, and creativity.</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4</a:t>
            </a:fld>
            <a:endParaRPr lang="en-US"/>
          </a:p>
        </p:txBody>
      </p:sp>
    </p:spTree>
    <p:extLst>
      <p:ext uri="{BB962C8B-B14F-4D97-AF65-F5344CB8AC3E}">
        <p14:creationId xmlns:p14="http://schemas.microsoft.com/office/powerpoint/2010/main" val="1890056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Your employer may have hundreds of groups and teams</a:t>
            </a:r>
            <a:r>
              <a:rPr lang="en-US" baseline="0" dirty="0"/>
              <a:t> with many different types</a:t>
            </a:r>
            <a:r>
              <a:rPr lang="en-US" dirty="0"/>
              <a:t>. This slide and the next give a few of the best-known examples. Teams may fit</a:t>
            </a:r>
            <a:r>
              <a:rPr lang="en-US" baseline="0" dirty="0"/>
              <a:t> into more than one of these categories. </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5</a:t>
            </a:fld>
            <a:endParaRPr lang="en-US"/>
          </a:p>
        </p:txBody>
      </p:sp>
    </p:spTree>
    <p:extLst>
      <p:ext uri="{BB962C8B-B14F-4D97-AF65-F5344CB8AC3E}">
        <p14:creationId xmlns:p14="http://schemas.microsoft.com/office/powerpoint/2010/main" val="3211204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Transnational</a:t>
            </a:r>
            <a:r>
              <a:rPr lang="en-US" i="0" dirty="0"/>
              <a:t> teams tend to be </a:t>
            </a:r>
            <a:r>
              <a:rPr lang="en-US" b="1" i="0" dirty="0"/>
              <a:t>virtual teams</a:t>
            </a:r>
            <a:r>
              <a:rPr lang="en-US" i="0" dirty="0"/>
              <a:t>, communicating electronically more than face-to-face. Although other types of teams may operate virtually as well.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6</a:t>
            </a:fld>
            <a:endParaRPr lang="en-US"/>
          </a:p>
        </p:txBody>
      </p:sp>
    </p:spTree>
    <p:extLst>
      <p:ext uri="{BB962C8B-B14F-4D97-AF65-F5344CB8AC3E}">
        <p14:creationId xmlns:p14="http://schemas.microsoft.com/office/powerpoint/2010/main" val="931166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Virtual teams face difficult challenges: building trust, cohesion, and team identity, and overcoming the isolation of virtual team members. </a:t>
            </a:r>
            <a:r>
              <a:rPr lang="en-US" b="1" dirty="0"/>
              <a:t>Exhibit 14.1 </a:t>
            </a:r>
            <a:r>
              <a:rPr lang="en-US" dirty="0"/>
              <a:t>(recreated</a:t>
            </a:r>
            <a:r>
              <a:rPr lang="en-US" baseline="0" dirty="0"/>
              <a:t> on this slide) </a:t>
            </a:r>
            <a:r>
              <a:rPr lang="en-US" dirty="0"/>
              <a:t>shows a few other tactics that managers can use to strengthen virtual teams.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7</a:t>
            </a:fld>
            <a:endParaRPr lang="en-US"/>
          </a:p>
        </p:txBody>
      </p:sp>
    </p:spTree>
    <p:extLst>
      <p:ext uri="{BB962C8B-B14F-4D97-AF65-F5344CB8AC3E}">
        <p14:creationId xmlns:p14="http://schemas.microsoft.com/office/powerpoint/2010/main" val="200203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Traditional work groups have no managerial responsibilities; the frontline manager plans, organizes, staffs, directs, and controls them, and other groups provide support activities, including quality control and maintenance. But one important trend is to give teams more autonomy so that workers are trained to do all or most of the jobs in the unit, and they make decisions previously made by their bosses.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8</a:t>
            </a:fld>
            <a:endParaRPr lang="en-US"/>
          </a:p>
        </p:txBody>
      </p:sp>
    </p:spTree>
    <p:extLst>
      <p:ext uri="{BB962C8B-B14F-4D97-AF65-F5344CB8AC3E}">
        <p14:creationId xmlns:p14="http://schemas.microsoft.com/office/powerpoint/2010/main" val="3789189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1200"/>
              </a:spcBef>
              <a:buNone/>
            </a:pPr>
            <a:r>
              <a:rPr lang="en-US" sz="1200" b="1" i="0" dirty="0"/>
              <a:t>Questions:</a:t>
            </a:r>
          </a:p>
          <a:p>
            <a:pPr marL="171450" indent="-171450">
              <a:spcBef>
                <a:spcPts val="1200"/>
              </a:spcBef>
              <a:buFont typeface="Arial" panose="020B0604020202020204" pitchFamily="34" charset="0"/>
              <a:buChar char="•"/>
            </a:pPr>
            <a:r>
              <a:rPr lang="en-US" sz="1200" b="1" i="1" dirty="0"/>
              <a:t>What advantages does teamwork offer to Whole Foods?</a:t>
            </a:r>
          </a:p>
          <a:p>
            <a:pPr marL="0" indent="0">
              <a:spcBef>
                <a:spcPts val="1200"/>
              </a:spcBef>
              <a:buNone/>
            </a:pPr>
            <a:r>
              <a:rPr lang="en-US" sz="1200" dirty="0"/>
              <a:t>Whole Foods uses teamwork to push decision-making authority downward. This could make the jobs more motivating, so employees deliver higher quality and productivity. Sharing authority for decision making also could result in more innovation at Whole Foods. For team members, teamwork provides an opportunity to learn about the company and acquire new skills while satisfying personal needs such as affiliation and esteem. Team members also can contribute to one another’s learning and development by providing feedback. Students should</a:t>
            </a:r>
            <a:r>
              <a:rPr lang="en-US" sz="1200" baseline="0" dirty="0"/>
              <a:t> be able to give </a:t>
            </a:r>
            <a:r>
              <a:rPr lang="en-US" sz="1200" dirty="0"/>
              <a:t>examples of how teamwork leads to improved decision</a:t>
            </a:r>
            <a:r>
              <a:rPr lang="en-US" sz="1200" baseline="0" dirty="0"/>
              <a:t> making, creativity, innovation, ability to change and opportunities for growth and development of team members. </a:t>
            </a:r>
            <a:br>
              <a:rPr lang="en-US" sz="1200" dirty="0"/>
            </a:br>
            <a:endParaRPr lang="en-US" sz="1200" dirty="0"/>
          </a:p>
          <a:p>
            <a:pPr marL="171450" indent="-171450">
              <a:spcBef>
                <a:spcPts val="1200"/>
              </a:spcBef>
              <a:buFont typeface="Arial" panose="020B0604020202020204" pitchFamily="34" charset="0"/>
              <a:buChar char="•"/>
            </a:pPr>
            <a:r>
              <a:rPr lang="en-US" sz="1200" b="1" i="1" dirty="0"/>
              <a:t>Why do you think human resource professionals conduct the initial screening process for new hires? What might be the consequences of having the store teams carry out the entire process of hiring and rewarding team members?</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dirty="0"/>
              <a:t>Student</a:t>
            </a:r>
            <a:r>
              <a:rPr lang="en-US" sz="1200" baseline="0" dirty="0"/>
              <a:t> answers should point to the expertise of HR professionals in designing screening processes related to the skills and abilities required of the job along with qualities required by the team. HR should have a better sense of the big picture and how teams are interdependent on other teams. An HR professional has the specialized knowledge required to make screening and compensation decisions related to relevant qualifications and performance data. Besides working with greater efficiency in what can be a time-consuming process, this person also is more likely to be able to navigate the legal requirements and avoid discrimination. The team members then interview only people who are qualified, so they can focus on who is a good fit for the team. The consequences of having the team carry out the entire process would also mean more time away from serving customers and the risk of making decisions that could be viewed as discriminatory.</a:t>
            </a:r>
            <a:endParaRPr lang="en-US" sz="1200"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9</a:t>
            </a:fld>
            <a:endParaRPr lang="en-US"/>
          </a:p>
        </p:txBody>
      </p:sp>
    </p:spTree>
    <p:extLst>
      <p:ext uri="{BB962C8B-B14F-4D97-AF65-F5344CB8AC3E}">
        <p14:creationId xmlns:p14="http://schemas.microsoft.com/office/powerpoint/2010/main" val="1771512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a:t>
            </a:r>
            <a:r>
              <a:rPr lang="en-US" b="1" i="1" dirty="0"/>
              <a:t>group</a:t>
            </a:r>
            <a:r>
              <a:rPr lang="en-US" b="1" dirty="0"/>
              <a:t> </a:t>
            </a:r>
            <a:r>
              <a:rPr lang="en-US" dirty="0"/>
              <a:t>and </a:t>
            </a:r>
            <a:r>
              <a:rPr lang="en-US" b="1" i="1" dirty="0"/>
              <a:t>team</a:t>
            </a:r>
            <a:r>
              <a:rPr lang="en-US" dirty="0"/>
              <a:t> often are used interchangeably. Managers sometimes use the </a:t>
            </a:r>
            <a:r>
              <a:rPr lang="en-US" b="0" dirty="0"/>
              <a:t>word </a:t>
            </a:r>
            <a:r>
              <a:rPr lang="en-US" b="0" i="1" dirty="0"/>
              <a:t>teams</a:t>
            </a:r>
            <a:r>
              <a:rPr lang="en-US" b="0" dirty="0"/>
              <a:t> to </a:t>
            </a:r>
            <a:r>
              <a:rPr lang="en-US" dirty="0"/>
              <a:t>the point that it has become a cliché; often they talk about teams even when there is no real teamwork.</a:t>
            </a:r>
          </a:p>
          <a:p>
            <a:endParaRPr lang="en-US" dirty="0"/>
          </a:p>
          <a:p>
            <a:r>
              <a:rPr lang="en-US" dirty="0"/>
              <a:t>It’s useful to make a distinction between groups and teams. A </a:t>
            </a:r>
            <a:r>
              <a:rPr lang="en-US" b="1" i="1" dirty="0"/>
              <a:t>working group</a:t>
            </a:r>
            <a:r>
              <a:rPr lang="en-US" b="1" dirty="0"/>
              <a:t> </a:t>
            </a:r>
            <a:r>
              <a:rPr lang="en-US" dirty="0"/>
              <a:t>is a collection of people who work in the same area or have been drawn together to undertake a task, but do not necessarily come together as a unit and achieve significant performance improvements. A real </a:t>
            </a:r>
            <a:r>
              <a:rPr lang="en-US" b="1" i="0" dirty="0"/>
              <a:t>team</a:t>
            </a:r>
            <a:r>
              <a:rPr lang="en-US" dirty="0"/>
              <a:t> is formed of people (usually a small number) with complementary skills who trust one another and are committed to a common purpose, common performance goals, and a common approach for which they hold themselves mutually accountable.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10</a:t>
            </a:fld>
            <a:endParaRPr lang="en-US"/>
          </a:p>
        </p:txBody>
      </p:sp>
    </p:spTree>
    <p:extLst>
      <p:ext uri="{BB962C8B-B14F-4D97-AF65-F5344CB8AC3E}">
        <p14:creationId xmlns:p14="http://schemas.microsoft.com/office/powerpoint/2010/main" val="2957366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Assume you are the leader of a newly formed group—actually, a bunch of people. What will you face as you attempt to develop your group into a high-performing team? If groups are to develop successfully, they will engage in various processes, including the broad categories detailed in </a:t>
            </a:r>
            <a:r>
              <a:rPr lang="en-US" b="1" dirty="0"/>
              <a:t>Exhibit 14.2</a:t>
            </a:r>
            <a:r>
              <a:rPr lang="en-US" dirty="0"/>
              <a:t> (recreated on this slide).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11</a:t>
            </a:fld>
            <a:endParaRPr lang="en-US"/>
          </a:p>
        </p:txBody>
      </p:sp>
    </p:spTree>
    <p:extLst>
      <p:ext uri="{BB962C8B-B14F-4D97-AF65-F5344CB8AC3E}">
        <p14:creationId xmlns:p14="http://schemas.microsoft.com/office/powerpoint/2010/main" val="3543051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Practices that are particularly helpful in the</a:t>
            </a:r>
            <a:r>
              <a:rPr lang="en-US" i="0" baseline="0" dirty="0"/>
              <a:t> team</a:t>
            </a:r>
            <a:r>
              <a:rPr lang="en-US" i="0" dirty="0"/>
              <a:t> context include: </a:t>
            </a:r>
          </a:p>
          <a:p>
            <a:r>
              <a:rPr lang="en-US" i="0" dirty="0"/>
              <a:t>(1) emphasizing the team’s purpose, including why we exists, what’s at stake, and what its shared values are;</a:t>
            </a:r>
          </a:p>
          <a:p>
            <a:r>
              <a:rPr lang="en-US" i="0" dirty="0"/>
              <a:t>(2) building </a:t>
            </a:r>
            <a:r>
              <a:rPr lang="en-US" b="1" i="0" dirty="0"/>
              <a:t>psychological safety</a:t>
            </a:r>
            <a:r>
              <a:rPr lang="en-US" i="0" dirty="0"/>
              <a:t>, making clear that people need to and can freely speak up, be honest, disagree, offer ideas, raise issues, share their knowledge, and ask questions;</a:t>
            </a:r>
          </a:p>
          <a:p>
            <a:r>
              <a:rPr lang="en-US" i="0" dirty="0"/>
              <a:t>(3) embracing failure, understanding that mistakes are inevitable, errors should be acknowledged, and learning as we go is a way to create new knowledge while we execute;</a:t>
            </a:r>
          </a:p>
          <a:p>
            <a:r>
              <a:rPr lang="en-US" i="0" dirty="0"/>
              <a:t>and </a:t>
            </a:r>
          </a:p>
          <a:p>
            <a:r>
              <a:rPr lang="en-US" i="0" dirty="0"/>
              <a:t>(4) putting conflict to work by explaining how we arrive at our views, expressing interest in one another’s thinking and analyses, and attempting fully to understand and capitalize on others’ diverse perspectives.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12</a:t>
            </a:fld>
            <a:endParaRPr lang="en-US"/>
          </a:p>
        </p:txBody>
      </p:sp>
    </p:spTree>
    <p:extLst>
      <p:ext uri="{BB962C8B-B14F-4D97-AF65-F5344CB8AC3E}">
        <p14:creationId xmlns:p14="http://schemas.microsoft.com/office/powerpoint/2010/main" val="2905736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really mean for a team to be effective? Team effectiveness is defined by three criteria.</a:t>
            </a:r>
          </a:p>
          <a:p>
            <a:pPr marL="171450" indent="-171450">
              <a:buFont typeface="Arial" panose="020B0604020202020204" pitchFamily="34" charset="0"/>
              <a:buChar char="•"/>
            </a:pPr>
            <a:r>
              <a:rPr lang="en-US" b="1" i="1" dirty="0"/>
              <a:t>Team productivity</a:t>
            </a:r>
            <a:r>
              <a:rPr lang="en-US" b="1" dirty="0"/>
              <a:t>. </a:t>
            </a:r>
            <a:r>
              <a:rPr lang="en-US" dirty="0"/>
              <a:t>The output of the team meets or exceeds the standards of quantity and quality expected by the customers, inside and outside the organization, who receive the team’s goods or services.</a:t>
            </a:r>
          </a:p>
          <a:p>
            <a:pPr marL="171450" indent="-171450">
              <a:buFont typeface="Arial" panose="020B0604020202020204" pitchFamily="34" charset="0"/>
              <a:buChar char="•"/>
            </a:pPr>
            <a:r>
              <a:rPr lang="en-US" b="1" i="1" dirty="0"/>
              <a:t>Member satisfaction</a:t>
            </a:r>
            <a:r>
              <a:rPr lang="en-US" b="1" dirty="0"/>
              <a:t>. </a:t>
            </a:r>
            <a:r>
              <a:rPr lang="en-US" dirty="0"/>
              <a:t>Team members realize satisfaction of their personal needs.</a:t>
            </a:r>
          </a:p>
          <a:p>
            <a:pPr marL="171450" indent="-171450">
              <a:buFont typeface="Arial" panose="020B0604020202020204" pitchFamily="34" charset="0"/>
              <a:buChar char="•"/>
            </a:pPr>
            <a:r>
              <a:rPr lang="en-US" b="1" i="1" dirty="0"/>
              <a:t>Member commitment</a:t>
            </a:r>
            <a:r>
              <a:rPr lang="en-US" b="1" dirty="0"/>
              <a:t>. </a:t>
            </a:r>
            <a:r>
              <a:rPr lang="en-US" dirty="0"/>
              <a:t>Team members remain committed to working together again; that is, the group doesn’t burn out and disintegrate after a grueling project. Looking back, the members are glad they were involved. In other words, effective teams remain viable and have good prospects to work well together in the future.</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13</a:t>
            </a:fld>
            <a:endParaRPr lang="en-US"/>
          </a:p>
        </p:txBody>
      </p:sp>
    </p:spTree>
    <p:extLst>
      <p:ext uri="{BB962C8B-B14F-4D97-AF65-F5344CB8AC3E}">
        <p14:creationId xmlns:p14="http://schemas.microsoft.com/office/powerpoint/2010/main" val="2127742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effective teamwork is commitment to a common purpose. The best teams are those that face an important performance challenge and share a common understanding and appreciation of their collective purpose. Without this, a group will be just a bunch of individuals.</a:t>
            </a:r>
          </a:p>
          <a:p>
            <a:endParaRPr lang="en-US" dirty="0"/>
          </a:p>
          <a:p>
            <a:r>
              <a:rPr lang="en-US" dirty="0"/>
              <a:t>The best teams also work hard at developing a common understanding of how they will work together to achieve their purpose. They discuss and agree on details such as how to assign tasks and how they will make decisions. The team should examine its performance strategies and be open to changing them when appropriate. </a:t>
            </a:r>
          </a:p>
          <a:p>
            <a:endParaRPr lang="en-US" dirty="0"/>
          </a:p>
          <a:p>
            <a:r>
              <a:rPr lang="en-US" dirty="0"/>
              <a:t>Teams usually standardize at least some processes, but they should be willing to try creative new ideas. With a clear, strong, motivating purpose and effective performance strategies, people pull together into a powerful force that has a chance to achieve extraordinary things.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14</a:t>
            </a:fld>
            <a:endParaRPr lang="en-US"/>
          </a:p>
        </p:txBody>
      </p:sp>
    </p:spTree>
    <p:extLst>
      <p:ext uri="{BB962C8B-B14F-4D97-AF65-F5344CB8AC3E}">
        <p14:creationId xmlns:p14="http://schemas.microsoft.com/office/powerpoint/2010/main" val="2483789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Sometimes individuals work less hard and are less productive when they are members of a group. Such </a:t>
            </a:r>
            <a:r>
              <a:rPr lang="en-US" b="1" i="0" dirty="0"/>
              <a:t>social loafing</a:t>
            </a:r>
            <a:r>
              <a:rPr lang="en-US" i="0" dirty="0"/>
              <a:t> occurs </a:t>
            </a:r>
            <a:r>
              <a:rPr lang="en-US" dirty="0"/>
              <a:t>when a person believes that their contributions are not important, others will do the work for them, their lack of </a:t>
            </a:r>
            <a:r>
              <a:rPr lang="en-US" i="0" dirty="0"/>
              <a:t>effort will go undetected, or they will be the lone sucker if they work hard but others don’t. Conversely, sometimes individuals work harder when they are members of a group than when they are working alone. This </a:t>
            </a:r>
            <a:r>
              <a:rPr lang="en-US" b="1" i="0" dirty="0"/>
              <a:t>social facilitation effect</a:t>
            </a:r>
            <a:r>
              <a:rPr lang="en-US" i="0" dirty="0"/>
              <a:t> occurs because individuals usually are more motivated when others are present, they are concerned with what others think of them, and they want to maintain a positive </a:t>
            </a:r>
            <a:r>
              <a:rPr lang="en-US" dirty="0"/>
              <a:t>self-image.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15</a:t>
            </a:fld>
            <a:endParaRPr lang="en-US"/>
          </a:p>
        </p:txBody>
      </p:sp>
    </p:spTree>
    <p:extLst>
      <p:ext uri="{BB962C8B-B14F-4D97-AF65-F5344CB8AC3E}">
        <p14:creationId xmlns:p14="http://schemas.microsoft.com/office/powerpoint/2010/main" val="2165087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eaLnBrk="0" hangingPunct="0">
              <a:lnSpc>
                <a:spcPts val="1225"/>
              </a:lnSpc>
              <a:spcBef>
                <a:spcPts val="0"/>
              </a:spcBef>
              <a:spcAft>
                <a:spcPts val="0"/>
              </a:spcAft>
              <a:buFont typeface="Arial" panose="020B0604020202020204" pitchFamily="34" charset="0"/>
              <a:buNone/>
              <a:tabLst>
                <a:tab pos="508000" algn="l"/>
              </a:tabLst>
            </a:pPr>
            <a:r>
              <a:rPr lang="en-US" sz="1200" b="1" dirty="0">
                <a:effectLst/>
                <a:latin typeface="Times New Roman"/>
                <a:ea typeface="Times New Roman"/>
              </a:rPr>
              <a:t>Questions:</a:t>
            </a:r>
          </a:p>
          <a:p>
            <a:pPr marL="171450" marR="0" lvl="0" indent="-171450" algn="l" defTabSz="914400" rtl="0" eaLnBrk="0" fontAlgn="auto" latinLnBrk="0" hangingPunct="0">
              <a:lnSpc>
                <a:spcPts val="1225"/>
              </a:lnSpc>
              <a:spcBef>
                <a:spcPts val="0"/>
              </a:spcBef>
              <a:spcAft>
                <a:spcPts val="0"/>
              </a:spcAft>
              <a:buClrTx/>
              <a:buSzTx/>
              <a:buFont typeface="Arial" panose="020B0604020202020204" pitchFamily="34" charset="0"/>
              <a:buChar char="•"/>
              <a:tabLst>
                <a:tab pos="508000" algn="l"/>
              </a:tabLst>
              <a:defRPr/>
            </a:pPr>
            <a:r>
              <a:rPr lang="en-US" sz="1200" b="1" dirty="0"/>
              <a:t>Can co-working help entrepreneurs or remote workers feel like part of a team, and if so, how?</a:t>
            </a:r>
          </a:p>
          <a:p>
            <a:pPr marL="0" marR="0" lvl="0" indent="0" eaLnBrk="0" hangingPunct="0">
              <a:lnSpc>
                <a:spcPts val="1225"/>
              </a:lnSpc>
              <a:spcBef>
                <a:spcPts val="0"/>
              </a:spcBef>
              <a:spcAft>
                <a:spcPts val="0"/>
              </a:spcAft>
              <a:buFont typeface="Arial" panose="020B0604020202020204" pitchFamily="34" charset="0"/>
              <a:buNone/>
              <a:tabLst>
                <a:tab pos="508000" algn="l"/>
              </a:tabLst>
            </a:pPr>
            <a:r>
              <a:rPr lang="en-US" sz="1200" b="0" i="0" dirty="0">
                <a:effectLst/>
                <a:latin typeface="Times New Roman"/>
                <a:ea typeface="Times New Roman"/>
              </a:rPr>
              <a:t>Co-working provides the ability to communicate with others who can help with development via coaching</a:t>
            </a:r>
            <a:r>
              <a:rPr lang="en-US" sz="1200" b="0" i="0" baseline="0" dirty="0">
                <a:effectLst/>
                <a:latin typeface="Times New Roman"/>
                <a:ea typeface="Times New Roman"/>
              </a:rPr>
              <a:t> and mentoring. It is also likely to lead to feelings similar to member satisfaction because of the common experience and ability to share the events and challenges of the days with others who face similar circumstances. </a:t>
            </a:r>
            <a:endParaRPr lang="en-US" b="0" i="0" dirty="0"/>
          </a:p>
          <a:p>
            <a:pPr marL="0" marR="0" lvl="0" indent="0" eaLnBrk="0" hangingPunct="0">
              <a:lnSpc>
                <a:spcPts val="1225"/>
              </a:lnSpc>
              <a:spcBef>
                <a:spcPts val="0"/>
              </a:spcBef>
              <a:spcAft>
                <a:spcPts val="0"/>
              </a:spcAft>
              <a:buFont typeface="Arial" panose="020B0604020202020204" pitchFamily="34" charset="0"/>
              <a:buNone/>
              <a:tabLst>
                <a:tab pos="508000" algn="l"/>
              </a:tabLst>
            </a:pPr>
            <a:endParaRPr lang="en-US" sz="1200" b="1" i="1" dirty="0">
              <a:effectLst/>
              <a:latin typeface="Times New Roman"/>
              <a:ea typeface="Times New Roman"/>
            </a:endParaRPr>
          </a:p>
          <a:p>
            <a:pPr marL="171450" marR="0" lvl="0" indent="-171450" algn="l" defTabSz="914400" rtl="0" eaLnBrk="0" fontAlgn="auto" latinLnBrk="0" hangingPunct="0">
              <a:lnSpc>
                <a:spcPts val="1225"/>
              </a:lnSpc>
              <a:spcBef>
                <a:spcPts val="0"/>
              </a:spcBef>
              <a:spcAft>
                <a:spcPts val="0"/>
              </a:spcAft>
              <a:buClrTx/>
              <a:buSzTx/>
              <a:buFont typeface="Arial" panose="020B0604020202020204" pitchFamily="34" charset="0"/>
              <a:buChar char="•"/>
              <a:tabLst>
                <a:tab pos="508000" algn="l"/>
              </a:tabLst>
              <a:defRPr/>
            </a:pPr>
            <a:r>
              <a:rPr lang="en-US" sz="1200" b="1" dirty="0"/>
              <a:t>How do you think epidemics and pandemics will affect the future of shared co-working spaces?</a:t>
            </a:r>
          </a:p>
          <a:p>
            <a:pPr marL="0" marR="0" lvl="0" indent="0" eaLnBrk="0" hangingPunct="0">
              <a:lnSpc>
                <a:spcPts val="1225"/>
              </a:lnSpc>
              <a:spcBef>
                <a:spcPts val="0"/>
              </a:spcBef>
              <a:spcAft>
                <a:spcPts val="0"/>
              </a:spcAft>
              <a:buFont typeface="Arial" panose="020B0604020202020204" pitchFamily="34" charset="0"/>
              <a:buNone/>
              <a:tabLst>
                <a:tab pos="508000" algn="l"/>
              </a:tabLst>
            </a:pPr>
            <a:r>
              <a:rPr lang="en-US" sz="1100" b="0" i="0" dirty="0">
                <a:effectLst/>
                <a:latin typeface="Times New Roman"/>
              </a:rPr>
              <a:t>Shared</a:t>
            </a:r>
            <a:r>
              <a:rPr lang="en-US" sz="1100" b="0" i="0" baseline="0" dirty="0">
                <a:effectLst/>
                <a:latin typeface="Times New Roman"/>
              </a:rPr>
              <a:t> co-working spaces might transform in terms of the days and hours per week employees spend at these physical locations. It is possible more employees will use them as part of a hybrid work environment. If one considers the virtual shared co-working spaces, it is likely these shared spaces will increase in popularity as organizations and employees are learning how they can actually increase the productive of teams and the satisfaction of team members. </a:t>
            </a:r>
            <a:endParaRPr lang="en-US" sz="1100" b="0" i="0"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16</a:t>
            </a:fld>
            <a:endParaRPr lang="en-US"/>
          </a:p>
        </p:txBody>
      </p:sp>
    </p:spTree>
    <p:extLst>
      <p:ext uri="{BB962C8B-B14F-4D97-AF65-F5344CB8AC3E}">
        <p14:creationId xmlns:p14="http://schemas.microsoft.com/office/powerpoint/2010/main" val="1327606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sets of roles must be performed.</a:t>
            </a:r>
          </a:p>
          <a:p>
            <a:endParaRPr lang="en-US" dirty="0"/>
          </a:p>
          <a:p>
            <a:r>
              <a:rPr lang="en-US" b="1" i="0" dirty="0"/>
              <a:t>Task specialist roles</a:t>
            </a:r>
            <a:r>
              <a:rPr lang="en-US" i="0" dirty="0"/>
              <a:t> </a:t>
            </a:r>
            <a:r>
              <a:rPr lang="en-US" dirty="0"/>
              <a:t>are filled by individuals who have particular job-related skills and abilities. </a:t>
            </a:r>
          </a:p>
          <a:p>
            <a:endParaRPr lang="en-US" dirty="0"/>
          </a:p>
          <a:p>
            <a:r>
              <a:rPr lang="en-US" b="1" i="0" dirty="0"/>
              <a:t>Team maintenance roles</a:t>
            </a:r>
            <a:r>
              <a:rPr lang="en-US" i="0" dirty="0"/>
              <a:t> </a:t>
            </a:r>
            <a:r>
              <a:rPr lang="en-US" dirty="0"/>
              <a:t>develop and maintain harmony within the team. They boost morale, give support, provide humor, soothe hurt feelings, and generally exhibit a concern with members’ well-being.</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17</a:t>
            </a:fld>
            <a:endParaRPr lang="en-US"/>
          </a:p>
        </p:txBody>
      </p:sp>
    </p:spTree>
    <p:extLst>
      <p:ext uri="{BB962C8B-B14F-4D97-AF65-F5344CB8AC3E}">
        <p14:creationId xmlns:p14="http://schemas.microsoft.com/office/powerpoint/2010/main" val="141733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important properties of a team is </a:t>
            </a:r>
            <a:r>
              <a:rPr lang="en-US" b="1" dirty="0"/>
              <a:t>cohesiveness</a:t>
            </a:r>
            <a:r>
              <a:rPr lang="en-US" dirty="0"/>
              <a:t>. Expanding the Chapter 13 description, </a:t>
            </a:r>
            <a:r>
              <a:rPr lang="en-US" b="0" dirty="0"/>
              <a:t>cohesiveness </a:t>
            </a:r>
            <a:r>
              <a:rPr lang="en-US" dirty="0"/>
              <a:t>refers to how attractive the team is to its members, how motivated members are to remain in the team, and the degree to which team members influence one another. In general, it refers to how tightly knit the team is.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18</a:t>
            </a:fld>
            <a:endParaRPr lang="en-US"/>
          </a:p>
        </p:txBody>
      </p:sp>
    </p:spTree>
    <p:extLst>
      <p:ext uri="{BB962C8B-B14F-4D97-AF65-F5344CB8AC3E}">
        <p14:creationId xmlns:p14="http://schemas.microsoft.com/office/powerpoint/2010/main" val="2846204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Managers should build teams that are cohesive and have high-performance norms. The actions listed on the slide can help create such teams.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19</a:t>
            </a:fld>
            <a:endParaRPr lang="en-US"/>
          </a:p>
        </p:txBody>
      </p:sp>
    </p:spTree>
    <p:extLst>
      <p:ext uri="{BB962C8B-B14F-4D97-AF65-F5344CB8AC3E}">
        <p14:creationId xmlns:p14="http://schemas.microsoft.com/office/powerpoint/2010/main" val="30079652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do not function in a vacuum; they are interdependent with other teams. These interdependencies create conflicts both between and within teams, and therefore require coordination and leadership. To understand the process and make it more productive, it helps to know the different types of lateral role relationships.</a:t>
            </a:r>
          </a:p>
          <a:p>
            <a:endParaRPr lang="en-US" dirty="0"/>
          </a:p>
          <a:p>
            <a:pPr marL="457200" indent="-457200">
              <a:lnSpc>
                <a:spcPct val="120000"/>
              </a:lnSpc>
              <a:buFont typeface="Arial" panose="020B0604020202020204" pitchFamily="34" charset="0"/>
              <a:buChar char="•"/>
            </a:pPr>
            <a:r>
              <a:rPr lang="en-US" i="1" dirty="0"/>
              <a:t>Workflow relationships </a:t>
            </a:r>
            <a:r>
              <a:rPr lang="en-US" i="0" dirty="0"/>
              <a:t>emerge as materials are passed from one group to another. </a:t>
            </a:r>
          </a:p>
          <a:p>
            <a:pPr marL="457200" indent="-457200">
              <a:lnSpc>
                <a:spcPct val="120000"/>
              </a:lnSpc>
              <a:buFont typeface="Arial" panose="020B0604020202020204" pitchFamily="34" charset="0"/>
              <a:buChar char="•"/>
            </a:pPr>
            <a:r>
              <a:rPr lang="en-US" i="1" dirty="0"/>
              <a:t>Service relationships </a:t>
            </a:r>
            <a:r>
              <a:rPr lang="en-US" dirty="0"/>
              <a:t>exist when top management centralizes an activity to which a large number of other units must gain access.</a:t>
            </a:r>
          </a:p>
          <a:p>
            <a:pPr marL="457200" indent="-457200">
              <a:lnSpc>
                <a:spcPct val="120000"/>
              </a:lnSpc>
              <a:buFont typeface="Arial" panose="020B0604020202020204" pitchFamily="34" charset="0"/>
              <a:buChar char="•"/>
            </a:pPr>
            <a:r>
              <a:rPr lang="en-US" i="1" dirty="0"/>
              <a:t>Advisory relationships </a:t>
            </a:r>
            <a:r>
              <a:rPr lang="en-US" dirty="0"/>
              <a:t>are created when teams with problems call on centralized sources of expert knowledge. </a:t>
            </a:r>
          </a:p>
          <a:p>
            <a:pPr marL="457200" indent="-457200">
              <a:lnSpc>
                <a:spcPct val="120000"/>
              </a:lnSpc>
              <a:buFont typeface="Arial" panose="020B0604020202020204" pitchFamily="34" charset="0"/>
              <a:buChar char="•"/>
            </a:pPr>
            <a:r>
              <a:rPr lang="en-US" i="1" dirty="0"/>
              <a:t>Audit relationships </a:t>
            </a:r>
            <a:r>
              <a:rPr lang="en-US" dirty="0"/>
              <a:t>develop when people not directly in the chain of command evaluate the methods and performances of other teams.</a:t>
            </a:r>
          </a:p>
          <a:p>
            <a:pPr marL="457200" indent="-457200">
              <a:lnSpc>
                <a:spcPct val="120000"/>
              </a:lnSpc>
              <a:buFont typeface="Arial" panose="020B0604020202020204" pitchFamily="34" charset="0"/>
              <a:buChar char="•"/>
            </a:pPr>
            <a:r>
              <a:rPr lang="en-US" i="1" dirty="0"/>
              <a:t>Stabilization relationships </a:t>
            </a:r>
            <a:r>
              <a:rPr lang="en-US" dirty="0"/>
              <a:t>involve auditing before the fact.</a:t>
            </a:r>
          </a:p>
          <a:p>
            <a:pPr marL="457200" indent="-457200">
              <a:lnSpc>
                <a:spcPct val="120000"/>
              </a:lnSpc>
              <a:buFont typeface="Arial" panose="020B0604020202020204" pitchFamily="34" charset="0"/>
              <a:buChar char="•"/>
            </a:pPr>
            <a:r>
              <a:rPr lang="en-US" i="1" dirty="0"/>
              <a:t>Liaison relationships </a:t>
            </a:r>
            <a:r>
              <a:rPr lang="en-US" dirty="0"/>
              <a:t>involve intermediaries between teams.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20</a:t>
            </a:fld>
            <a:endParaRPr lang="en-US"/>
          </a:p>
        </p:txBody>
      </p:sp>
    </p:spTree>
    <p:extLst>
      <p:ext uri="{BB962C8B-B14F-4D97-AF65-F5344CB8AC3E}">
        <p14:creationId xmlns:p14="http://schemas.microsoft.com/office/powerpoint/2010/main" val="359880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Many factors cause great potential for destructive conflict: the sheer number and variety of interpersonal contacts, ambiguities in jurisdiction and responsibility, differences in goals, competition for scarce resources, different perspectives held by members of different units, and varying time horizons in which some units attend to long-term considerations and others focus on short-term need. Commonly, factions form along conflict fault lines.</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21</a:t>
            </a:fld>
            <a:endParaRPr lang="en-US"/>
          </a:p>
        </p:txBody>
      </p:sp>
    </p:spTree>
    <p:extLst>
      <p:ext uri="{BB962C8B-B14F-4D97-AF65-F5344CB8AC3E}">
        <p14:creationId xmlns:p14="http://schemas.microsoft.com/office/powerpoint/2010/main" val="40953995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Avoidance</a:t>
            </a:r>
            <a:r>
              <a:rPr lang="en-US" dirty="0"/>
              <a:t>: </a:t>
            </a:r>
            <a:r>
              <a:rPr lang="en-US" sz="1200" b="0" i="0" u="none" strike="noStrike" kern="1200" baseline="0" dirty="0">
                <a:solidFill>
                  <a:schemeClr val="tx1"/>
                </a:solidFill>
                <a:latin typeface="+mn-lt"/>
                <a:ea typeface="+mn-ea"/>
                <a:cs typeface="+mn-cs"/>
              </a:rPr>
              <a:t>A reaction to conflict that involves ignoring the problem by doing nothing at all or deemphasizing the disagreement. </a:t>
            </a:r>
          </a:p>
          <a:p>
            <a:r>
              <a:rPr lang="en-US" sz="1200" b="1" i="0" u="none" strike="noStrike" kern="1200" baseline="0" dirty="0">
                <a:solidFill>
                  <a:schemeClr val="tx1"/>
                </a:solidFill>
                <a:latin typeface="+mn-lt"/>
                <a:ea typeface="+mn-ea"/>
                <a:cs typeface="+mn-cs"/>
              </a:rPr>
              <a:t>Accommodation</a:t>
            </a:r>
            <a:r>
              <a:rPr lang="en-US" sz="1200" b="0" i="0" u="none" strike="noStrike" kern="1200" baseline="0" dirty="0">
                <a:solidFill>
                  <a:schemeClr val="tx1"/>
                </a:solidFill>
                <a:latin typeface="+mn-lt"/>
                <a:ea typeface="+mn-ea"/>
                <a:cs typeface="+mn-cs"/>
              </a:rPr>
              <a:t>: A style of dealing with conflict involving cooperation on behalf of the other party but not being assertive about one’s own interests. </a:t>
            </a:r>
          </a:p>
          <a:p>
            <a:r>
              <a:rPr lang="en-US" sz="1200" b="1" i="0" u="none" strike="noStrike" kern="1200" baseline="0" dirty="0">
                <a:solidFill>
                  <a:schemeClr val="tx1"/>
                </a:solidFill>
                <a:latin typeface="+mn-lt"/>
                <a:ea typeface="+mn-ea"/>
                <a:cs typeface="+mn-cs"/>
              </a:rPr>
              <a:t>Compromise</a:t>
            </a:r>
            <a:r>
              <a:rPr lang="en-US" sz="1200" b="0" i="0" u="none" strike="noStrike" kern="1200" baseline="0" dirty="0">
                <a:solidFill>
                  <a:schemeClr val="tx1"/>
                </a:solidFill>
                <a:latin typeface="+mn-lt"/>
                <a:ea typeface="+mn-ea"/>
                <a:cs typeface="+mn-cs"/>
              </a:rPr>
              <a:t>: A style of dealing with conflict involving moderate attention to both parties’ concerns. </a:t>
            </a:r>
          </a:p>
          <a:p>
            <a:r>
              <a:rPr lang="en-US" sz="1200" b="1" i="0" u="none" strike="noStrike" kern="1200" baseline="0" dirty="0">
                <a:solidFill>
                  <a:schemeClr val="tx1"/>
                </a:solidFill>
                <a:latin typeface="+mn-lt"/>
                <a:ea typeface="+mn-ea"/>
                <a:cs typeface="+mn-cs"/>
              </a:rPr>
              <a:t>Competing</a:t>
            </a:r>
            <a:r>
              <a:rPr lang="en-US" sz="1200" b="0" i="0" u="none" strike="noStrike" kern="1200" baseline="0" dirty="0">
                <a:solidFill>
                  <a:schemeClr val="tx1"/>
                </a:solidFill>
                <a:latin typeface="+mn-lt"/>
                <a:ea typeface="+mn-ea"/>
                <a:cs typeface="+mn-cs"/>
              </a:rPr>
              <a:t>: A style of dealing with conflict involving strong focus on one’s own goals and little or no concern for the other person’s goals. </a:t>
            </a:r>
          </a:p>
          <a:p>
            <a:r>
              <a:rPr lang="en-US" sz="1200" b="1" i="0" u="none" strike="noStrike" kern="1200" baseline="0" dirty="0">
                <a:solidFill>
                  <a:schemeClr val="tx1"/>
                </a:solidFill>
                <a:latin typeface="+mn-lt"/>
                <a:ea typeface="+mn-ea"/>
                <a:cs typeface="+mn-cs"/>
              </a:rPr>
              <a:t>Collaboration</a:t>
            </a:r>
            <a:r>
              <a:rPr lang="en-US" sz="1200" b="0" i="0" u="none" strike="noStrike" kern="1200" baseline="0" dirty="0">
                <a:solidFill>
                  <a:schemeClr val="tx1"/>
                </a:solidFill>
                <a:latin typeface="+mn-lt"/>
                <a:ea typeface="+mn-ea"/>
                <a:cs typeface="+mn-cs"/>
              </a:rPr>
              <a:t>: A style of dealing with conflict emphasizing both cooperation and assertiveness to maximize both parties’ satisfaction. </a:t>
            </a:r>
          </a:p>
          <a:p>
            <a:r>
              <a:rPr lang="en-US" sz="1200" b="0" i="0" u="none" strike="noStrike" kern="1200" baseline="0" dirty="0">
                <a:solidFill>
                  <a:schemeClr val="tx1"/>
                </a:solidFill>
                <a:latin typeface="+mn-lt"/>
                <a:ea typeface="+mn-ea"/>
                <a:cs typeface="+mn-cs"/>
              </a:rPr>
              <a:t>An important technique is to invoke </a:t>
            </a:r>
            <a:r>
              <a:rPr lang="en-US" sz="1200" b="1" i="0" u="none" strike="noStrike" kern="1200" baseline="0" dirty="0">
                <a:solidFill>
                  <a:schemeClr val="tx1"/>
                </a:solidFill>
                <a:latin typeface="+mn-lt"/>
                <a:ea typeface="+mn-ea"/>
                <a:cs typeface="+mn-cs"/>
              </a:rPr>
              <a:t>superordinate goals</a:t>
            </a:r>
            <a:r>
              <a:rPr lang="en-US" sz="1200" b="0" i="0" u="none" strike="noStrike" kern="1200" baseline="0" dirty="0">
                <a:solidFill>
                  <a:schemeClr val="tx1"/>
                </a:solidFill>
                <a:latin typeface="+mn-lt"/>
                <a:ea typeface="+mn-ea"/>
                <a:cs typeface="+mn-cs"/>
              </a:rPr>
              <a:t>—higher-level organizational goals toward which everyone should be striving and that ultimately need to take precedence over personal or unit preferences</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22</a:t>
            </a:fld>
            <a:endParaRPr lang="en-US"/>
          </a:p>
        </p:txBody>
      </p:sp>
    </p:spTree>
    <p:extLst>
      <p:ext uri="{BB962C8B-B14F-4D97-AF65-F5344CB8AC3E}">
        <p14:creationId xmlns:p14="http://schemas.microsoft.com/office/powerpoint/2010/main" val="800857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teams are geographically dispersed, as with virtual teams, team members tend to experience more conflict and less trust. One study showed how different conflict styles affect the success of virtual teams. Avoidance hurt performance. Accommodation—conceding to others to maintain harmony rather than assertively attempting to negotiate integrative solutions—had no effect on performance. Collaboration had a positive effect on performance.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23</a:t>
            </a:fld>
            <a:endParaRPr lang="en-US"/>
          </a:p>
        </p:txBody>
      </p:sp>
    </p:spTree>
    <p:extLst>
      <p:ext uri="{BB962C8B-B14F-4D97-AF65-F5344CB8AC3E}">
        <p14:creationId xmlns:p14="http://schemas.microsoft.com/office/powerpoint/2010/main" val="83359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may have served as a </a:t>
            </a:r>
            <a:r>
              <a:rPr lang="en-US" b="1" i="0" dirty="0"/>
              <a:t>mediator</a:t>
            </a:r>
            <a:r>
              <a:rPr lang="en-US" i="0" dirty="0"/>
              <a:t>, </a:t>
            </a:r>
            <a:r>
              <a:rPr lang="en-US" dirty="0"/>
              <a:t>a third party intervening to help settle a conflict between other people. Third-party intervention, done well, can improve working relationships and help the parties improve their own conflict management, communication, and problem-solving skills.</a:t>
            </a:r>
          </a:p>
          <a:p>
            <a:r>
              <a:rPr lang="en-US" dirty="0"/>
              <a:t>Mediators may wish to follow a four-stage strategy, summarized in </a:t>
            </a:r>
            <a:r>
              <a:rPr lang="en-US" b="1" dirty="0"/>
              <a:t>Exhibit 14.6 </a:t>
            </a:r>
            <a:r>
              <a:rPr lang="en-US" dirty="0"/>
              <a:t>(recreated in text form on this slide.)</a:t>
            </a:r>
            <a:r>
              <a:rPr lang="en-US" u="sng" dirty="0">
                <a:solidFill>
                  <a:schemeClr val="tx1"/>
                </a:solidFill>
              </a:rPr>
              <a:t> </a:t>
            </a:r>
          </a:p>
          <a:p>
            <a:pPr marL="228600" indent="-228600">
              <a:buFont typeface="+mj-lt"/>
              <a:buAutoNum type="arabicPeriod"/>
            </a:pPr>
            <a:r>
              <a:rPr lang="en-US" dirty="0"/>
              <a:t>They </a:t>
            </a:r>
            <a:r>
              <a:rPr lang="en-US" i="1" dirty="0"/>
              <a:t>investigate</a:t>
            </a:r>
            <a:r>
              <a:rPr lang="en-US" dirty="0"/>
              <a:t> by interviewing the disputants and others and gathering more information. </a:t>
            </a:r>
          </a:p>
          <a:p>
            <a:pPr marL="228600" indent="-228600">
              <a:buFont typeface="+mj-lt"/>
              <a:buAutoNum type="arabicPeriod"/>
            </a:pPr>
            <a:r>
              <a:rPr lang="en-US" dirty="0"/>
              <a:t>They </a:t>
            </a:r>
            <a:r>
              <a:rPr lang="en-US" i="1" dirty="0"/>
              <a:t>review the findings</a:t>
            </a:r>
            <a:r>
              <a:rPr lang="en-US" dirty="0"/>
              <a:t> to determine how best to resolve the dispute, often in conjunction with the disputants’ bosses. They do not assign blame prematurely; at this point they explore solutions. </a:t>
            </a:r>
          </a:p>
          <a:p>
            <a:pPr marL="228600" indent="-228600">
              <a:buFont typeface="+mj-lt"/>
              <a:buAutoNum type="arabicPeriod"/>
            </a:pPr>
            <a:r>
              <a:rPr lang="en-US" dirty="0"/>
              <a:t>They take action by </a:t>
            </a:r>
            <a:r>
              <a:rPr lang="en-US" i="1" dirty="0"/>
              <a:t>applying solutions</a:t>
            </a:r>
            <a:r>
              <a:rPr lang="en-US" dirty="0"/>
              <a:t> and explaining their opinions and the reasoning and advise or train the disputants to avoid future incidents. </a:t>
            </a:r>
          </a:p>
          <a:p>
            <a:pPr marL="228600" indent="-228600">
              <a:buFont typeface="+mj-lt"/>
              <a:buAutoNum type="arabicPeriod"/>
            </a:pPr>
            <a:r>
              <a:rPr lang="en-US" dirty="0"/>
              <a:t>And they </a:t>
            </a:r>
            <a:r>
              <a:rPr lang="en-US" i="1" dirty="0"/>
              <a:t>follow up</a:t>
            </a:r>
            <a:r>
              <a:rPr lang="en-US" dirty="0"/>
              <a:t> by making sure everyone understands the solution, documenting the conflict and the resolution, and monitoring the results by checking back with the disputants and their bosses.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24</a:t>
            </a:fld>
            <a:endParaRPr lang="en-US"/>
          </a:p>
        </p:txBody>
      </p:sp>
    </p:spTree>
    <p:extLst>
      <p:ext uri="{BB962C8B-B14F-4D97-AF65-F5344CB8AC3E}">
        <p14:creationId xmlns:p14="http://schemas.microsoft.com/office/powerpoint/2010/main" val="737821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Whole Foods empowers the individual to help bring a diverse workforce together. What other strategies can be employed to reach this same 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Whole Foods recruits team members who share its corporate values, despite coming from different backgrounds. Its hiring process, which includes team interviews and a probationary period followed by a vote, establishes fairly high entrance and socialization standards. It encourages team member participation in decisions and sets up competitions among teams. It also ties incentive pay to team performance. Whole Foods could consider using other measures associated with cohesiveness: keeping teams small, facilitating team success, publicizing team successes, and competing against threats outside the company. At the same time managers are promoting cohesiveness, they should be sure to allow room for team members to disagree over issues without personal conflict and animosity.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In what ways can diversity pose a challenge to cohesive teams and in what ways can it be a benefit?</a:t>
            </a:r>
            <a:endParaRPr lang="en-US"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Highly diverse</a:t>
            </a:r>
            <a:r>
              <a:rPr lang="en-US" sz="1200" baseline="0" dirty="0"/>
              <a:t> teams may have more conflict at least initially when determining how to approach a challenge. As a result, it is important to teach conflict management skills and have mediators available. Many studies also find that diverse teams require more time for decision-making. However, the quality of team decisions tend to be superior, and diverse teams tend to be more innovative. </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25</a:t>
            </a:fld>
            <a:endParaRPr lang="en-US"/>
          </a:p>
        </p:txBody>
      </p:sp>
    </p:spTree>
    <p:extLst>
      <p:ext uri="{BB962C8B-B14F-4D97-AF65-F5344CB8AC3E}">
        <p14:creationId xmlns:p14="http://schemas.microsoft.com/office/powerpoint/2010/main" val="284164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This slide may be used as a review of the lesson and to facilitate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Chapter 15 discusses Communication, both interpersonal and organizational.</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26</a:t>
            </a:fld>
            <a:endParaRPr lang="en-US"/>
          </a:p>
        </p:txBody>
      </p:sp>
    </p:spTree>
    <p:extLst>
      <p:ext uri="{BB962C8B-B14F-4D97-AF65-F5344CB8AC3E}">
        <p14:creationId xmlns:p14="http://schemas.microsoft.com/office/powerpoint/2010/main" val="1891192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15965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275802141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5840A85-FE10-45F4-81E4-A52DE2319ED9}"/>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72A1E447-C26A-4D25-8792-9B7C6A839F37}"/>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CA880A79-A85B-437C-BC20-FC23BDD36F54}"/>
              </a:ext>
            </a:extLst>
          </p:cNvPr>
          <p:cNvSpPr>
            <a:spLocks noGrp="1"/>
          </p:cNvSpPr>
          <p:nvPr>
            <p:ph type="body" sz="quarter" idx="16"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553357"/>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810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474668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9749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20368"/>
            <a:ext cx="8458200" cy="49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87044"/>
            <a:ext cx="8458200" cy="497349"/>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223090"/>
            <a:ext cx="8458200" cy="4891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870885"/>
            <a:ext cx="8458200" cy="428155"/>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81749"/>
            <a:ext cx="8458200" cy="436533"/>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CBC0FE29-09D4-4E55-BCD6-2FA65595DD14}"/>
              </a:ext>
            </a:extLst>
          </p:cNvPr>
          <p:cNvSpPr>
            <a:spLocks noGrp="1"/>
          </p:cNvSpPr>
          <p:nvPr>
            <p:ph sz="quarter" idx="19" hasCustomPrompt="1"/>
          </p:nvPr>
        </p:nvSpPr>
        <p:spPr>
          <a:xfrm>
            <a:off x="342900" y="5091317"/>
            <a:ext cx="8458200" cy="436533"/>
          </a:xfr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CDAC9D78-8CE5-4E8D-AA81-3FCEE7371FFF}"/>
              </a:ext>
            </a:extLst>
          </p:cNvPr>
          <p:cNvSpPr>
            <a:spLocks noGrp="1"/>
          </p:cNvSpPr>
          <p:nvPr>
            <p:ph sz="quarter" idx="20" hasCustomPrompt="1"/>
          </p:nvPr>
        </p:nvSpPr>
        <p:spPr>
          <a:xfrm>
            <a:off x="342900" y="5711422"/>
            <a:ext cx="8458200" cy="436533"/>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7" name="Content Placeholder 9">
            <a:extLst>
              <a:ext uri="{FF2B5EF4-FFF2-40B4-BE49-F238E27FC236}">
                <a16:creationId xmlns:a16="http://schemas.microsoft.com/office/drawing/2014/main" id="{E3C60504-9967-4D01-B408-D8C146D1DFFA}"/>
              </a:ext>
            </a:extLst>
          </p:cNvPr>
          <p:cNvSpPr>
            <a:spLocks noGrp="1"/>
          </p:cNvSpPr>
          <p:nvPr>
            <p:ph sz="quarter" idx="21" hasCustomPrompt="1"/>
          </p:nvPr>
        </p:nvSpPr>
        <p:spPr>
          <a:xfrm>
            <a:off x="344638" y="6684963"/>
            <a:ext cx="8458200" cy="436533"/>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8" name="Content Placeholder 10">
            <a:extLst>
              <a:ext uri="{FF2B5EF4-FFF2-40B4-BE49-F238E27FC236}">
                <a16:creationId xmlns:a16="http://schemas.microsoft.com/office/drawing/2014/main" id="{A99C91D1-85FB-4150-AE75-34B22018BC06}"/>
              </a:ext>
            </a:extLst>
          </p:cNvPr>
          <p:cNvSpPr>
            <a:spLocks noGrp="1"/>
          </p:cNvSpPr>
          <p:nvPr>
            <p:ph sz="quarter" idx="22" hasCustomPrompt="1"/>
          </p:nvPr>
        </p:nvSpPr>
        <p:spPr>
          <a:xfrm>
            <a:off x="342900" y="7328393"/>
            <a:ext cx="8458200" cy="436533"/>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3407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solidFill>
                  <a:srgbClr val="15499F"/>
                </a:solidFill>
              </a:defRPr>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8946740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992443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5875130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750754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BF25DC59-5AB2-417D-B46A-F09F380F8F67}"/>
              </a:ext>
            </a:extLst>
          </p:cNvPr>
          <p:cNvSpPr>
            <a:spLocks noGrp="1"/>
          </p:cNvSpPr>
          <p:nvPr>
            <p:ph sz="quarter" idx="10"/>
          </p:nvPr>
        </p:nvSpPr>
        <p:spPr>
          <a:xfrm>
            <a:off x="277813" y="6526213"/>
            <a:ext cx="8699500" cy="2047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395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469231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89080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Content Placeholder 2">
            <a:extLst>
              <a:ext uri="{FF2B5EF4-FFF2-40B4-BE49-F238E27FC236}">
                <a16:creationId xmlns:a16="http://schemas.microsoft.com/office/drawing/2014/main" id="{490B3C5B-11B7-40DF-8C64-810D6BDA38D4}"/>
              </a:ext>
            </a:extLst>
          </p:cNvPr>
          <p:cNvSpPr>
            <a:spLocks noGrp="1"/>
          </p:cNvSpPr>
          <p:nvPr>
            <p:ph sz="quarter" idx="16" hasCustomPrompt="1"/>
          </p:nvPr>
        </p:nvSpPr>
        <p:spPr>
          <a:xfrm>
            <a:off x="342900" y="2190333"/>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0A10E1C6-4B3F-4C63-942D-1E6D75385F15}"/>
              </a:ext>
            </a:extLst>
          </p:cNvPr>
          <p:cNvSpPr>
            <a:spLocks noGrp="1"/>
          </p:cNvSpPr>
          <p:nvPr>
            <p:ph sz="quarter" idx="17" hasCustomPrompt="1"/>
          </p:nvPr>
        </p:nvSpPr>
        <p:spPr>
          <a:xfrm>
            <a:off x="342900" y="2911070"/>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9" name="Content Placeholder 4">
            <a:extLst>
              <a:ext uri="{FF2B5EF4-FFF2-40B4-BE49-F238E27FC236}">
                <a16:creationId xmlns:a16="http://schemas.microsoft.com/office/drawing/2014/main" id="{ED735AF3-A935-487D-8BC0-2ADACC4D12C5}"/>
              </a:ext>
            </a:extLst>
          </p:cNvPr>
          <p:cNvSpPr>
            <a:spLocks noGrp="1"/>
          </p:cNvSpPr>
          <p:nvPr>
            <p:ph sz="quarter" idx="18" hasCustomPrompt="1"/>
          </p:nvPr>
        </p:nvSpPr>
        <p:spPr>
          <a:xfrm>
            <a:off x="342900" y="36038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Content Placeholder 5">
            <a:extLst>
              <a:ext uri="{FF2B5EF4-FFF2-40B4-BE49-F238E27FC236}">
                <a16:creationId xmlns:a16="http://schemas.microsoft.com/office/drawing/2014/main" id="{058448AB-B8F6-4BD0-8F77-9F55C60D013C}"/>
              </a:ext>
            </a:extLst>
          </p:cNvPr>
          <p:cNvSpPr>
            <a:spLocks noGrp="1"/>
          </p:cNvSpPr>
          <p:nvPr>
            <p:ph sz="quarter" idx="19" hasCustomPrompt="1"/>
          </p:nvPr>
        </p:nvSpPr>
        <p:spPr>
          <a:xfrm>
            <a:off x="342900" y="4373367"/>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FDE29B8C-DC5B-4D69-A6E1-B037A10230B9}"/>
              </a:ext>
            </a:extLst>
          </p:cNvPr>
          <p:cNvSpPr>
            <a:spLocks noGrp="1"/>
          </p:cNvSpPr>
          <p:nvPr>
            <p:ph sz="quarter" idx="20" hasCustomPrompt="1"/>
          </p:nvPr>
        </p:nvSpPr>
        <p:spPr>
          <a:xfrm>
            <a:off x="342900" y="5109425"/>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3" name="Content Placeholder 7">
            <a:extLst>
              <a:ext uri="{FF2B5EF4-FFF2-40B4-BE49-F238E27FC236}">
                <a16:creationId xmlns:a16="http://schemas.microsoft.com/office/drawing/2014/main" id="{D6B72EA2-E700-4D29-8572-424762F78C33}"/>
              </a:ext>
            </a:extLst>
          </p:cNvPr>
          <p:cNvSpPr>
            <a:spLocks noGrp="1"/>
          </p:cNvSpPr>
          <p:nvPr>
            <p:ph sz="quarter" idx="21" hasCustomPrompt="1"/>
          </p:nvPr>
        </p:nvSpPr>
        <p:spPr>
          <a:xfrm>
            <a:off x="342900" y="5743672"/>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51294063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4D3A09E2-C861-4D48-B4DB-F718B64FF46D}"/>
              </a:ext>
            </a:extLst>
          </p:cNvPr>
          <p:cNvSpPr txBox="1">
            <a:spLocks/>
          </p:cNvSpPr>
          <p:nvPr userDrawn="1"/>
        </p:nvSpPr>
        <p:spPr>
          <a:xfrm>
            <a:off x="342900" y="235525"/>
            <a:ext cx="8458200" cy="822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dirty="0"/>
              <a:t>Slide Title</a:t>
            </a:r>
            <a:br>
              <a:rPr lang="en-US" dirty="0"/>
            </a:b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6585788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04" r:id="rId3"/>
    <p:sldLayoutId id="2147483682" r:id="rId4"/>
    <p:sldLayoutId id="2147483683" r:id="rId5"/>
    <p:sldLayoutId id="2147483718"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F7BFBE01-8512-49BF-81D6-10C5E13594C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9" r:id="rId7"/>
    <p:sldLayoutId id="2147483716" r:id="rId8"/>
    <p:sldLayoutId id="2147483710" r:id="rId9"/>
    <p:sldLayoutId id="2147483713" r:id="rId10"/>
    <p:sldLayoutId id="2147483714" r:id="rId11"/>
    <p:sldLayoutId id="2147483715" r:id="rId12"/>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baseline="0">
          <a:solidFill>
            <a:schemeClr val="tx2"/>
          </a:solidFill>
          <a:latin typeface="+mn-lt"/>
          <a:ea typeface="+mn-ea"/>
          <a:cs typeface="+mn-cs"/>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400" kern="1200" baseline="0">
          <a:solidFill>
            <a:schemeClr val="tx2"/>
          </a:solidFill>
          <a:latin typeface="+mn-lt"/>
          <a:ea typeface="+mn-ea"/>
          <a:cs typeface="+mn-cs"/>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41519326"/>
      </p:ext>
    </p:extLst>
  </p:cSld>
  <p:clrMap bg1="lt1" tx1="dk1" bg2="lt2" tx2="dk2" accent1="accent1" accent2="accent2" accent3="accent3" accent4="accent4" accent5="accent5" accent6="accent6" hlink="hlink" folHlink="folHlink"/>
  <p:sldLayoutIdLst>
    <p:sldLayoutId id="2147483707" r:id="rId1"/>
    <p:sldLayoutId id="2147483717" r:id="rId2"/>
    <p:sldLayoutId id="2147483708"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17/06/relationships/model3d" Target="../media/model3d2.glb"/><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272846" y="990600"/>
            <a:ext cx="6294209" cy="1898341"/>
          </a:xfrm>
        </p:spPr>
        <p:txBody>
          <a:bodyPr>
            <a:noAutofit/>
          </a:bodyPr>
          <a:lstStyle/>
          <a:p>
            <a:pPr>
              <a:buNone/>
            </a:pPr>
            <a:r>
              <a:rPr lang="en-AU" sz="3200" dirty="0"/>
              <a:t>MGT10009 Contemporary Management Principles</a:t>
            </a:r>
            <a:endParaRPr lang="en-GB" sz="3200" dirty="0">
              <a:latin typeface="Arial" pitchFamily="34" charset="0"/>
              <a:cs typeface="Arial" pitchFamily="34" charset="0"/>
            </a:endParaRPr>
          </a:p>
          <a:p>
            <a:pPr>
              <a:buNone/>
            </a:pPr>
            <a:r>
              <a:rPr lang="en-AU" sz="3200" dirty="0"/>
              <a:t> </a:t>
            </a:r>
            <a:r>
              <a:rPr lang="en-AU" sz="2400" dirty="0"/>
              <a:t>Lecture 5 Teamwork</a:t>
            </a:r>
          </a:p>
        </p:txBody>
      </p:sp>
      <p:sp>
        <p:nvSpPr>
          <p:cNvPr id="5" name="Text Placeholder 4"/>
          <p:cNvSpPr>
            <a:spLocks noGrp="1"/>
          </p:cNvSpPr>
          <p:nvPr>
            <p:ph type="body" sz="quarter" idx="14"/>
          </p:nvPr>
        </p:nvSpPr>
        <p:spPr>
          <a:xfrm>
            <a:off x="339213" y="2983707"/>
            <a:ext cx="4132775" cy="1417402"/>
          </a:xfrm>
        </p:spPr>
        <p:txBody>
          <a:bodyPr/>
          <a:lstStyle/>
          <a:p>
            <a:pPr>
              <a:buNone/>
            </a:pPr>
            <a:r>
              <a:rPr lang="en-AU" sz="2400" dirty="0"/>
              <a:t>Dr David Qian </a:t>
            </a:r>
            <a:r>
              <a:rPr lang="en-AU" sz="1600" dirty="0"/>
              <a:t>dqian@swin.edu.au</a:t>
            </a:r>
          </a:p>
          <a:p>
            <a:pPr>
              <a:buNone/>
            </a:pPr>
            <a:r>
              <a:rPr lang="en-AU" sz="2400" dirty="0"/>
              <a:t>Peter Moran </a:t>
            </a:r>
            <a:r>
              <a:rPr lang="en-AU" sz="1600" dirty="0"/>
              <a:t>pmoran@swin.edu.au</a:t>
            </a:r>
          </a:p>
        </p:txBody>
      </p:sp>
    </p:spTree>
    <p:extLst>
      <p:ext uri="{BB962C8B-B14F-4D97-AF65-F5344CB8AC3E}">
        <p14:creationId xmlns:p14="http://schemas.microsoft.com/office/powerpoint/2010/main" val="2439675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2C6F-64D4-4FC0-A590-011A0A3CE9C6}"/>
              </a:ext>
            </a:extLst>
          </p:cNvPr>
          <p:cNvSpPr>
            <a:spLocks noGrp="1"/>
          </p:cNvSpPr>
          <p:nvPr>
            <p:ph type="title"/>
          </p:nvPr>
        </p:nvSpPr>
        <p:spPr/>
        <p:txBody>
          <a:bodyPr/>
          <a:lstStyle/>
          <a:p>
            <a:r>
              <a:rPr lang="en-US" noProof="0" dirty="0"/>
              <a:t>Learning Objectives</a:t>
            </a:r>
          </a:p>
        </p:txBody>
      </p:sp>
      <p:sp>
        <p:nvSpPr>
          <p:cNvPr id="3" name="Content Placeholder 2">
            <a:extLst>
              <a:ext uri="{FF2B5EF4-FFF2-40B4-BE49-F238E27FC236}">
                <a16:creationId xmlns:a16="http://schemas.microsoft.com/office/drawing/2014/main" id="{FA3088DE-9021-45DB-9A88-DA3E305FC7F3}"/>
              </a:ext>
            </a:extLst>
          </p:cNvPr>
          <p:cNvSpPr>
            <a:spLocks noGrp="1"/>
          </p:cNvSpPr>
          <p:nvPr>
            <p:ph sz="quarter" idx="11"/>
          </p:nvPr>
        </p:nvSpPr>
        <p:spPr>
          <a:xfrm>
            <a:off x="342900" y="1276709"/>
            <a:ext cx="8648700" cy="5108851"/>
          </a:xfrm>
        </p:spPr>
        <p:txBody>
          <a:bodyPr>
            <a:noAutofit/>
          </a:bodyPr>
          <a:lstStyle/>
          <a:p>
            <a:pPr marL="746125" indent="-746125">
              <a:defRPr/>
            </a:pPr>
            <a:r>
              <a:rPr lang="en-US" b="1" noProof="0" dirty="0">
                <a:solidFill>
                  <a:srgbClr val="B0141B"/>
                </a:solidFill>
              </a:rPr>
              <a:t>14-1 </a:t>
            </a:r>
            <a:r>
              <a:rPr lang="en-US" noProof="0" dirty="0">
                <a:solidFill>
                  <a:schemeClr val="tx1"/>
                </a:solidFill>
              </a:rPr>
              <a:t>Discuss how teams can contribute to an organization’s effectiveness.</a:t>
            </a:r>
          </a:p>
          <a:p>
            <a:pPr marL="746125" indent="-746125">
              <a:defRPr/>
            </a:pPr>
            <a:r>
              <a:rPr lang="en-US" b="1" noProof="0" dirty="0">
                <a:solidFill>
                  <a:srgbClr val="B0141B"/>
                </a:solidFill>
              </a:rPr>
              <a:t>14-2 </a:t>
            </a:r>
            <a:r>
              <a:rPr lang="en-US" noProof="0" dirty="0">
                <a:solidFill>
                  <a:schemeClr val="tx1"/>
                </a:solidFill>
              </a:rPr>
              <a:t>Describe different types of teams.</a:t>
            </a:r>
          </a:p>
          <a:p>
            <a:pPr marL="746125" indent="-746125">
              <a:defRPr/>
            </a:pPr>
            <a:r>
              <a:rPr lang="en-US" b="1" noProof="0" dirty="0">
                <a:solidFill>
                  <a:srgbClr val="B0141B"/>
                </a:solidFill>
              </a:rPr>
              <a:t>14-3 </a:t>
            </a:r>
            <a:r>
              <a:rPr lang="en-US" noProof="0" dirty="0">
                <a:solidFill>
                  <a:schemeClr val="tx1"/>
                </a:solidFill>
              </a:rPr>
              <a:t>Summarize how groups become teams.</a:t>
            </a:r>
          </a:p>
          <a:p>
            <a:pPr marL="746125" indent="-746125">
              <a:defRPr/>
            </a:pPr>
            <a:r>
              <a:rPr lang="en-US" b="1" noProof="0" dirty="0">
                <a:solidFill>
                  <a:srgbClr val="B0141B"/>
                </a:solidFill>
              </a:rPr>
              <a:t>14-4 </a:t>
            </a:r>
            <a:r>
              <a:rPr lang="en-US" noProof="0" dirty="0">
                <a:solidFill>
                  <a:schemeClr val="tx1"/>
                </a:solidFill>
              </a:rPr>
              <a:t>Explain why groups sometimes fail.</a:t>
            </a:r>
          </a:p>
          <a:p>
            <a:pPr marL="746125" indent="-746125">
              <a:defRPr/>
            </a:pPr>
            <a:r>
              <a:rPr lang="en-US" b="1" noProof="0" dirty="0">
                <a:solidFill>
                  <a:srgbClr val="B0141B"/>
                </a:solidFill>
              </a:rPr>
              <a:t>14-5 </a:t>
            </a:r>
            <a:r>
              <a:rPr lang="en-US" noProof="0" dirty="0">
                <a:solidFill>
                  <a:schemeClr val="tx1"/>
                </a:solidFill>
              </a:rPr>
              <a:t>Describe how to build an effective team.</a:t>
            </a:r>
          </a:p>
          <a:p>
            <a:pPr marL="746125" indent="-746125">
              <a:defRPr/>
            </a:pPr>
            <a:r>
              <a:rPr lang="en-US" b="1" noProof="0" dirty="0">
                <a:solidFill>
                  <a:srgbClr val="B0141B"/>
                </a:solidFill>
              </a:rPr>
              <a:t>14-6 </a:t>
            </a:r>
            <a:r>
              <a:rPr lang="en-US" noProof="0" dirty="0">
                <a:solidFill>
                  <a:schemeClr val="tx1"/>
                </a:solidFill>
              </a:rPr>
              <a:t>List methods for managing a team’s relationships with other teams.</a:t>
            </a:r>
          </a:p>
          <a:p>
            <a:pPr marL="746125" indent="-746125">
              <a:defRPr/>
            </a:pPr>
            <a:r>
              <a:rPr lang="en-US" b="1" noProof="0" dirty="0">
                <a:solidFill>
                  <a:srgbClr val="B0141B"/>
                </a:solidFill>
              </a:rPr>
              <a:t>14-7 </a:t>
            </a:r>
            <a:r>
              <a:rPr lang="en-US" noProof="0" dirty="0">
                <a:solidFill>
                  <a:schemeClr val="tx1"/>
                </a:solidFill>
              </a:rPr>
              <a:t>Identify ways to manage conflict.</a:t>
            </a:r>
          </a:p>
        </p:txBody>
      </p:sp>
      <p:sp>
        <p:nvSpPr>
          <p:cNvPr id="6" name="Slide Number Placeholder 5">
            <a:extLst>
              <a:ext uri="{FF2B5EF4-FFF2-40B4-BE49-F238E27FC236}">
                <a16:creationId xmlns:a16="http://schemas.microsoft.com/office/drawing/2014/main" id="{1F0334C2-0494-4F34-A8A9-FF516597A4BF}"/>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278085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DF24-955F-4806-B85B-DB3D3C34D106}"/>
              </a:ext>
            </a:extLst>
          </p:cNvPr>
          <p:cNvSpPr>
            <a:spLocks noGrp="1"/>
          </p:cNvSpPr>
          <p:nvPr>
            <p:ph type="title"/>
          </p:nvPr>
        </p:nvSpPr>
        <p:spPr>
          <a:solidFill>
            <a:schemeClr val="accent2"/>
          </a:solidFill>
        </p:spPr>
        <p:txBody>
          <a:bodyPr>
            <a:normAutofit fontScale="90000"/>
          </a:bodyPr>
          <a:lstStyle/>
          <a:p>
            <a:pPr algn="ctr"/>
            <a:r>
              <a:rPr lang="en-US" noProof="0" dirty="0">
                <a:solidFill>
                  <a:srgbClr val="FF0000"/>
                </a:solidFill>
              </a:rPr>
              <a:t>Management</a:t>
            </a:r>
            <a:r>
              <a:rPr lang="en-US" noProof="0" dirty="0"/>
              <a:t> in Action Teamwork at Whole Foods</a:t>
            </a:r>
          </a:p>
        </p:txBody>
      </p:sp>
      <p:sp>
        <p:nvSpPr>
          <p:cNvPr id="3" name="Content Placeholder 2">
            <a:extLst>
              <a:ext uri="{FF2B5EF4-FFF2-40B4-BE49-F238E27FC236}">
                <a16:creationId xmlns:a16="http://schemas.microsoft.com/office/drawing/2014/main" id="{9DBEFC25-5793-46C1-BE3D-314E3734C9B4}"/>
              </a:ext>
            </a:extLst>
          </p:cNvPr>
          <p:cNvSpPr>
            <a:spLocks noGrp="1"/>
          </p:cNvSpPr>
          <p:nvPr>
            <p:ph sz="quarter" idx="11"/>
          </p:nvPr>
        </p:nvSpPr>
        <p:spPr>
          <a:xfrm>
            <a:off x="342900" y="1054665"/>
            <a:ext cx="8458200" cy="5285175"/>
          </a:xfrm>
        </p:spPr>
        <p:txBody>
          <a:bodyPr/>
          <a:lstStyle/>
          <a:p>
            <a:r>
              <a:rPr lang="en-US" noProof="0" dirty="0"/>
              <a:t>Whole Foods has a purpose beyond profits: </a:t>
            </a:r>
          </a:p>
          <a:p>
            <a:pPr marL="1314450" lvl="4" indent="-342900"/>
            <a:r>
              <a:rPr lang="en-US" sz="1800" b="1" noProof="0" dirty="0"/>
              <a:t>a purpose beyond selling organic foods. </a:t>
            </a:r>
          </a:p>
          <a:p>
            <a:pPr marL="1314450" lvl="4" indent="-342900"/>
            <a:r>
              <a:rPr lang="en-US" sz="1800" b="1" noProof="0" dirty="0"/>
              <a:t>seeks to “nourish people and the planet.”</a:t>
            </a:r>
          </a:p>
          <a:p>
            <a:r>
              <a:rPr lang="en-US" noProof="0" dirty="0"/>
              <a:t>Their mission shape:</a:t>
            </a:r>
          </a:p>
          <a:p>
            <a:pPr marL="1314450" lvl="4" indent="-342900"/>
            <a:r>
              <a:rPr lang="en-US" sz="1800" b="1" noProof="0" dirty="0">
                <a:solidFill>
                  <a:srgbClr val="FF0000"/>
                </a:solidFill>
              </a:rPr>
              <a:t>sell Animal Welfare Certified meats</a:t>
            </a:r>
          </a:p>
          <a:p>
            <a:pPr marL="1314450" lvl="4" indent="-342900"/>
            <a:r>
              <a:rPr lang="en-US" sz="1800" b="1" noProof="0" dirty="0">
                <a:solidFill>
                  <a:srgbClr val="FF0000"/>
                </a:solidFill>
              </a:rPr>
              <a:t>sustainably wild-caught or farmed fish</a:t>
            </a:r>
          </a:p>
          <a:p>
            <a:pPr marL="1314450" lvl="4" indent="-342900"/>
            <a:r>
              <a:rPr lang="en-US" sz="1800" b="1" dirty="0">
                <a:solidFill>
                  <a:srgbClr val="FF0000"/>
                </a:solidFill>
              </a:rPr>
              <a:t>o</a:t>
            </a:r>
            <a:r>
              <a:rPr lang="en-US" sz="1800" b="1" noProof="0" dirty="0" err="1">
                <a:solidFill>
                  <a:srgbClr val="FF0000"/>
                </a:solidFill>
              </a:rPr>
              <a:t>rganically</a:t>
            </a:r>
            <a:r>
              <a:rPr lang="en-US" sz="1800" b="1" noProof="0" dirty="0">
                <a:solidFill>
                  <a:srgbClr val="FF0000"/>
                </a:solidFill>
              </a:rPr>
              <a:t> grown produce and whole grains.</a:t>
            </a:r>
          </a:p>
          <a:p>
            <a:pPr marL="1314450" lvl="4" indent="-342900"/>
            <a:r>
              <a:rPr lang="en-US" sz="1800" b="1" noProof="0" dirty="0">
                <a:solidFill>
                  <a:srgbClr val="FF0000"/>
                </a:solidFill>
              </a:rPr>
              <a:t>shapes the way it treats its employees.</a:t>
            </a:r>
          </a:p>
          <a:p>
            <a:pPr marL="1314450" lvl="4" indent="-342900"/>
            <a:endParaRPr lang="en-US" sz="1800" b="1" noProof="0" dirty="0">
              <a:solidFill>
                <a:srgbClr val="FF0000"/>
              </a:solidFill>
            </a:endParaRPr>
          </a:p>
          <a:p>
            <a:pPr algn="ctr"/>
            <a:r>
              <a:rPr lang="en-US" noProof="0" dirty="0"/>
              <a:t>Team spirit and empowerment have laid a strong foundation for business success. C</a:t>
            </a:r>
            <a:r>
              <a:rPr lang="en-US" sz="100" noProof="0" dirty="0"/>
              <a:t> </a:t>
            </a:r>
            <a:r>
              <a:rPr lang="en-US" noProof="0" dirty="0"/>
              <a:t>E</a:t>
            </a:r>
            <a:r>
              <a:rPr lang="en-US" sz="100" noProof="0" dirty="0"/>
              <a:t> </a:t>
            </a:r>
            <a:r>
              <a:rPr lang="en-US" noProof="0" dirty="0"/>
              <a:t>O John Mackey says living out the store’s values creates a climate that frees employees to innovate and be creative without fear. </a:t>
            </a:r>
          </a:p>
        </p:txBody>
      </p:sp>
      <p:sp>
        <p:nvSpPr>
          <p:cNvPr id="7" name="Slide Number Placeholder 6">
            <a:extLst>
              <a:ext uri="{FF2B5EF4-FFF2-40B4-BE49-F238E27FC236}">
                <a16:creationId xmlns:a16="http://schemas.microsoft.com/office/drawing/2014/main" id="{0C6EA880-66C6-419F-90C5-096260581E6B}"/>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47377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167A-2932-4CBD-855C-66661DD8E47B}"/>
              </a:ext>
            </a:extLst>
          </p:cNvPr>
          <p:cNvSpPr>
            <a:spLocks noGrp="1"/>
          </p:cNvSpPr>
          <p:nvPr>
            <p:ph type="title"/>
          </p:nvPr>
        </p:nvSpPr>
        <p:spPr>
          <a:solidFill>
            <a:schemeClr val="accent2"/>
          </a:solidFill>
        </p:spPr>
        <p:txBody>
          <a:bodyPr/>
          <a:lstStyle/>
          <a:p>
            <a:pPr algn="ctr"/>
            <a:r>
              <a:rPr lang="en-US" noProof="0" dirty="0"/>
              <a:t>The Contributions of Teams</a:t>
            </a:r>
          </a:p>
        </p:txBody>
      </p:sp>
      <p:sp>
        <p:nvSpPr>
          <p:cNvPr id="3" name="Content Placeholder 2">
            <a:extLst>
              <a:ext uri="{FF2B5EF4-FFF2-40B4-BE49-F238E27FC236}">
                <a16:creationId xmlns:a16="http://schemas.microsoft.com/office/drawing/2014/main" id="{86338122-224C-4F53-AAE2-4C292136944D}"/>
              </a:ext>
            </a:extLst>
          </p:cNvPr>
          <p:cNvSpPr>
            <a:spLocks noGrp="1"/>
          </p:cNvSpPr>
          <p:nvPr>
            <p:ph sz="quarter" idx="11"/>
          </p:nvPr>
        </p:nvSpPr>
        <p:spPr>
          <a:xfrm>
            <a:off x="342900" y="1276710"/>
            <a:ext cx="8458200" cy="5124090"/>
          </a:xfrm>
        </p:spPr>
        <p:txBody>
          <a:bodyPr/>
          <a:lstStyle/>
          <a:p>
            <a:r>
              <a:rPr lang="en-US" noProof="0" dirty="0"/>
              <a:t>Teams can:</a:t>
            </a:r>
          </a:p>
          <a:p>
            <a:endParaRPr lang="en-US" noProof="0" dirty="0"/>
          </a:p>
          <a:p>
            <a:pPr marL="342900" indent="-342900">
              <a:buFont typeface="Arial" panose="020B0604020202020204" pitchFamily="34" charset="0"/>
              <a:buChar char="•"/>
            </a:pPr>
            <a:r>
              <a:rPr lang="en-US" sz="2800" noProof="0" dirty="0"/>
              <a:t>be the building blocks for organizational structure</a:t>
            </a:r>
          </a:p>
          <a:p>
            <a:pPr marL="342900" indent="-342900">
              <a:buFont typeface="Arial" panose="020B0604020202020204" pitchFamily="34" charset="0"/>
              <a:buChar char="•"/>
            </a:pPr>
            <a:r>
              <a:rPr lang="en-US" sz="2800" dirty="0"/>
              <a:t>increase productivity, improve quality and reduce costs</a:t>
            </a:r>
          </a:p>
          <a:p>
            <a:pPr marL="342900" indent="-342900">
              <a:buFont typeface="Arial" panose="020B0604020202020204" pitchFamily="34" charset="0"/>
              <a:buChar char="•"/>
            </a:pPr>
            <a:r>
              <a:rPr lang="en-US" sz="2800" dirty="0"/>
              <a:t>enhance speed, promote innovation, creativity and change.</a:t>
            </a:r>
          </a:p>
          <a:p>
            <a:pPr marL="342900" indent="-342900">
              <a:buFont typeface="Arial" panose="020B0604020202020204" pitchFamily="34" charset="0"/>
              <a:buChar char="•"/>
            </a:pPr>
            <a:r>
              <a:rPr lang="en-US" sz="2800" dirty="0"/>
              <a:t>promote member growth and development via feedback, training coaching and mentoring</a:t>
            </a:r>
            <a:r>
              <a:rPr lang="en-US" dirty="0"/>
              <a:t>.</a:t>
            </a:r>
            <a:endParaRPr lang="en-US" noProof="0" dirty="0"/>
          </a:p>
        </p:txBody>
      </p:sp>
      <p:sp>
        <p:nvSpPr>
          <p:cNvPr id="4" name="Content Placeholder 3">
            <a:extLst>
              <a:ext uri="{FF2B5EF4-FFF2-40B4-BE49-F238E27FC236}">
                <a16:creationId xmlns:a16="http://schemas.microsoft.com/office/drawing/2014/main" id="{E1B81EB1-09D3-4C6A-855E-7F06F6F0B919}"/>
              </a:ext>
            </a:extLst>
          </p:cNvPr>
          <p:cNvSpPr>
            <a:spLocks noGrp="1"/>
          </p:cNvSpPr>
          <p:nvPr>
            <p:ph sz="quarter" idx="14"/>
          </p:nvPr>
        </p:nvSpPr>
        <p:spPr>
          <a:xfrm>
            <a:off x="685800" y="3618382"/>
            <a:ext cx="8458200" cy="762679"/>
          </a:xfrm>
        </p:spPr>
        <p:txBody>
          <a:bodyPr/>
          <a:lstStyle/>
          <a:p>
            <a:pPr>
              <a:defRPr/>
            </a:pPr>
            <a:r>
              <a:rPr lang="en-US" sz="2400" noProof="0" dirty="0"/>
              <a:t>.</a:t>
            </a:r>
          </a:p>
        </p:txBody>
      </p:sp>
      <p:sp>
        <p:nvSpPr>
          <p:cNvPr id="11" name="Slide Number Placeholder 10">
            <a:extLst>
              <a:ext uri="{FF2B5EF4-FFF2-40B4-BE49-F238E27FC236}">
                <a16:creationId xmlns:a16="http://schemas.microsoft.com/office/drawing/2014/main" id="{10BB5EAB-880A-491E-ABA1-FDF425A2FE95}"/>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437068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167A-2932-4CBD-855C-66661DD8E47B}"/>
              </a:ext>
            </a:extLst>
          </p:cNvPr>
          <p:cNvSpPr>
            <a:spLocks noGrp="1"/>
          </p:cNvSpPr>
          <p:nvPr>
            <p:ph type="title"/>
          </p:nvPr>
        </p:nvSpPr>
        <p:spPr>
          <a:solidFill>
            <a:schemeClr val="accent2"/>
          </a:solidFill>
        </p:spPr>
        <p:txBody>
          <a:bodyPr/>
          <a:lstStyle/>
          <a:p>
            <a:pPr algn="ctr"/>
            <a:r>
              <a:rPr lang="en-US" noProof="0" dirty="0">
                <a:solidFill>
                  <a:srgbClr val="FF0000"/>
                </a:solidFill>
              </a:rPr>
              <a:t>Types of Teams </a:t>
            </a:r>
            <a:r>
              <a:rPr lang="en-US" sz="1000" b="0" noProof="0" dirty="0"/>
              <a:t>1</a:t>
            </a:r>
          </a:p>
        </p:txBody>
      </p:sp>
      <p:sp>
        <p:nvSpPr>
          <p:cNvPr id="3" name="Content Placeholder 2">
            <a:extLst>
              <a:ext uri="{FF2B5EF4-FFF2-40B4-BE49-F238E27FC236}">
                <a16:creationId xmlns:a16="http://schemas.microsoft.com/office/drawing/2014/main" id="{86338122-224C-4F53-AAE2-4C292136944D}"/>
              </a:ext>
            </a:extLst>
          </p:cNvPr>
          <p:cNvSpPr>
            <a:spLocks noGrp="1"/>
          </p:cNvSpPr>
          <p:nvPr>
            <p:ph sz="quarter" idx="11"/>
          </p:nvPr>
        </p:nvSpPr>
        <p:spPr>
          <a:xfrm>
            <a:off x="342900" y="1276710"/>
            <a:ext cx="8458200" cy="1237890"/>
          </a:xfrm>
        </p:spPr>
        <p:txBody>
          <a:bodyPr/>
          <a:lstStyle/>
          <a:p>
            <a:r>
              <a:rPr lang="en-US" sz="2200" b="1" noProof="0" dirty="0"/>
              <a:t>Work:</a:t>
            </a:r>
          </a:p>
          <a:p>
            <a:pPr lvl="1"/>
            <a:r>
              <a:rPr lang="en-US" sz="2200" noProof="0" dirty="0"/>
              <a:t>that make / do things - manufacture, assemble, sell, provide service.</a:t>
            </a:r>
          </a:p>
        </p:txBody>
      </p:sp>
      <p:sp>
        <p:nvSpPr>
          <p:cNvPr id="4" name="Content Placeholder 3">
            <a:extLst>
              <a:ext uri="{FF2B5EF4-FFF2-40B4-BE49-F238E27FC236}">
                <a16:creationId xmlns:a16="http://schemas.microsoft.com/office/drawing/2014/main" id="{E1B81EB1-09D3-4C6A-855E-7F06F6F0B919}"/>
              </a:ext>
            </a:extLst>
          </p:cNvPr>
          <p:cNvSpPr>
            <a:spLocks noGrp="1"/>
          </p:cNvSpPr>
          <p:nvPr>
            <p:ph sz="quarter" idx="14"/>
          </p:nvPr>
        </p:nvSpPr>
        <p:spPr>
          <a:xfrm>
            <a:off x="342900" y="2628475"/>
            <a:ext cx="8458200" cy="1240060"/>
          </a:xfrm>
        </p:spPr>
        <p:txBody>
          <a:bodyPr/>
          <a:lstStyle/>
          <a:p>
            <a:r>
              <a:rPr lang="en-US" sz="2200" b="1" noProof="0" dirty="0"/>
              <a:t>Project and development:</a:t>
            </a:r>
          </a:p>
          <a:p>
            <a:pPr lvl="1"/>
            <a:r>
              <a:rPr lang="en-US" sz="2200" noProof="0" dirty="0"/>
              <a:t>that work on long-term projects, then disband on completion.</a:t>
            </a:r>
          </a:p>
        </p:txBody>
      </p:sp>
      <p:sp>
        <p:nvSpPr>
          <p:cNvPr id="5" name="Content Placeholder 4">
            <a:extLst>
              <a:ext uri="{FF2B5EF4-FFF2-40B4-BE49-F238E27FC236}">
                <a16:creationId xmlns:a16="http://schemas.microsoft.com/office/drawing/2014/main" id="{1E7D658F-5422-4577-A1D0-4325B9724E89}"/>
              </a:ext>
            </a:extLst>
          </p:cNvPr>
          <p:cNvSpPr>
            <a:spLocks noGrp="1"/>
          </p:cNvSpPr>
          <p:nvPr>
            <p:ph sz="quarter" idx="15"/>
          </p:nvPr>
        </p:nvSpPr>
        <p:spPr>
          <a:xfrm>
            <a:off x="342900" y="3811486"/>
            <a:ext cx="8458200" cy="1402110"/>
          </a:xfrm>
        </p:spPr>
        <p:txBody>
          <a:bodyPr/>
          <a:lstStyle/>
          <a:p>
            <a:r>
              <a:rPr lang="en-US" sz="2200" b="1" noProof="0" dirty="0"/>
              <a:t>Parallel:</a:t>
            </a:r>
          </a:p>
          <a:p>
            <a:pPr lvl="1"/>
            <a:r>
              <a:rPr lang="en-US" sz="2200" noProof="0" dirty="0"/>
              <a:t>that operate separately from the regular work structure</a:t>
            </a:r>
          </a:p>
          <a:p>
            <a:pPr lvl="1"/>
            <a:r>
              <a:rPr lang="en-US" sz="2200" noProof="0" dirty="0"/>
              <a:t> are temporary.</a:t>
            </a:r>
          </a:p>
        </p:txBody>
      </p:sp>
      <p:sp>
        <p:nvSpPr>
          <p:cNvPr id="6" name="Content Placeholder 5">
            <a:extLst>
              <a:ext uri="{FF2B5EF4-FFF2-40B4-BE49-F238E27FC236}">
                <a16:creationId xmlns:a16="http://schemas.microsoft.com/office/drawing/2014/main" id="{FF81BF24-6E23-4F0E-A853-A16A2757E868}"/>
              </a:ext>
            </a:extLst>
          </p:cNvPr>
          <p:cNvSpPr>
            <a:spLocks noGrp="1"/>
          </p:cNvSpPr>
          <p:nvPr>
            <p:ph sz="quarter" idx="16"/>
          </p:nvPr>
        </p:nvSpPr>
        <p:spPr>
          <a:xfrm>
            <a:off x="342900" y="5268967"/>
            <a:ext cx="8458200" cy="1237435"/>
          </a:xfrm>
        </p:spPr>
        <p:txBody>
          <a:bodyPr/>
          <a:lstStyle/>
          <a:p>
            <a:r>
              <a:rPr lang="en-US" sz="2200" b="1" noProof="0" dirty="0"/>
              <a:t>Management:</a:t>
            </a:r>
          </a:p>
          <a:p>
            <a:pPr lvl="1"/>
            <a:r>
              <a:rPr lang="en-US" sz="2200" noProof="0" dirty="0"/>
              <a:t>that coordinate and provide direction to the subunits.</a:t>
            </a:r>
          </a:p>
        </p:txBody>
      </p:sp>
      <p:sp>
        <p:nvSpPr>
          <p:cNvPr id="11" name="Slide Number Placeholder 10">
            <a:extLst>
              <a:ext uri="{FF2B5EF4-FFF2-40B4-BE49-F238E27FC236}">
                <a16:creationId xmlns:a16="http://schemas.microsoft.com/office/drawing/2014/main" id="{10BB5EAB-880A-491E-ABA1-FDF425A2FE95}"/>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233542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167A-2932-4CBD-855C-66661DD8E47B}"/>
              </a:ext>
            </a:extLst>
          </p:cNvPr>
          <p:cNvSpPr>
            <a:spLocks noGrp="1"/>
          </p:cNvSpPr>
          <p:nvPr>
            <p:ph type="title"/>
          </p:nvPr>
        </p:nvSpPr>
        <p:spPr>
          <a:solidFill>
            <a:schemeClr val="accent2"/>
          </a:solidFill>
        </p:spPr>
        <p:txBody>
          <a:bodyPr/>
          <a:lstStyle/>
          <a:p>
            <a:pPr algn="ctr"/>
            <a:r>
              <a:rPr lang="en-US" noProof="0" dirty="0"/>
              <a:t>Types of Teams </a:t>
            </a:r>
            <a:r>
              <a:rPr lang="en-US" sz="1000" b="0" noProof="0" dirty="0"/>
              <a:t>2</a:t>
            </a:r>
          </a:p>
        </p:txBody>
      </p:sp>
      <p:sp>
        <p:nvSpPr>
          <p:cNvPr id="3" name="Content Placeholder 2">
            <a:extLst>
              <a:ext uri="{FF2B5EF4-FFF2-40B4-BE49-F238E27FC236}">
                <a16:creationId xmlns:a16="http://schemas.microsoft.com/office/drawing/2014/main" id="{86338122-224C-4F53-AAE2-4C292136944D}"/>
              </a:ext>
            </a:extLst>
          </p:cNvPr>
          <p:cNvSpPr>
            <a:spLocks noGrp="1"/>
          </p:cNvSpPr>
          <p:nvPr>
            <p:ph sz="quarter" idx="11"/>
          </p:nvPr>
        </p:nvSpPr>
        <p:spPr>
          <a:xfrm>
            <a:off x="342900" y="1276710"/>
            <a:ext cx="8458200" cy="1923690"/>
          </a:xfrm>
        </p:spPr>
        <p:txBody>
          <a:bodyPr/>
          <a:lstStyle/>
          <a:p>
            <a:r>
              <a:rPr lang="en-US" sz="2200" b="1" noProof="0" dirty="0"/>
              <a:t>Transnational:</a:t>
            </a:r>
          </a:p>
          <a:p>
            <a:pPr lvl="1"/>
            <a:r>
              <a:rPr lang="en-US" sz="2200" noProof="0" dirty="0"/>
              <a:t>Teams that differ from other work teams by being multicultural and by often being geographically dispersed, being psychologically distant, and working on highly complex projects having considerable impact on company objectives.</a:t>
            </a:r>
          </a:p>
        </p:txBody>
      </p:sp>
      <p:sp>
        <p:nvSpPr>
          <p:cNvPr id="4" name="Content Placeholder 3">
            <a:extLst>
              <a:ext uri="{FF2B5EF4-FFF2-40B4-BE49-F238E27FC236}">
                <a16:creationId xmlns:a16="http://schemas.microsoft.com/office/drawing/2014/main" id="{E1B81EB1-09D3-4C6A-855E-7F06F6F0B919}"/>
              </a:ext>
            </a:extLst>
          </p:cNvPr>
          <p:cNvSpPr>
            <a:spLocks noGrp="1"/>
          </p:cNvSpPr>
          <p:nvPr>
            <p:ph sz="quarter" idx="14"/>
          </p:nvPr>
        </p:nvSpPr>
        <p:spPr>
          <a:xfrm>
            <a:off x="342900" y="3314275"/>
            <a:ext cx="8458200" cy="1240060"/>
          </a:xfrm>
        </p:spPr>
        <p:txBody>
          <a:bodyPr/>
          <a:lstStyle/>
          <a:p>
            <a:r>
              <a:rPr lang="en-US" sz="2200" b="1" noProof="0" dirty="0"/>
              <a:t>Virtual:</a:t>
            </a:r>
          </a:p>
          <a:p>
            <a:pPr lvl="1"/>
            <a:r>
              <a:rPr lang="en-US" sz="2200" noProof="0" dirty="0"/>
              <a:t>Teams that are physically dispersed and communicate electronically more than face-to-face.</a:t>
            </a:r>
          </a:p>
        </p:txBody>
      </p:sp>
      <p:sp>
        <p:nvSpPr>
          <p:cNvPr id="5" name="Content Placeholder 4">
            <a:extLst>
              <a:ext uri="{FF2B5EF4-FFF2-40B4-BE49-F238E27FC236}">
                <a16:creationId xmlns:a16="http://schemas.microsoft.com/office/drawing/2014/main" id="{1E7D658F-5422-4577-A1D0-4325B9724E89}"/>
              </a:ext>
            </a:extLst>
          </p:cNvPr>
          <p:cNvSpPr>
            <a:spLocks noGrp="1"/>
          </p:cNvSpPr>
          <p:nvPr>
            <p:ph sz="quarter" idx="15"/>
          </p:nvPr>
        </p:nvSpPr>
        <p:spPr>
          <a:xfrm>
            <a:off x="342900" y="4787289"/>
            <a:ext cx="8458200" cy="1228571"/>
          </a:xfrm>
        </p:spPr>
        <p:txBody>
          <a:bodyPr/>
          <a:lstStyle/>
          <a:p>
            <a:r>
              <a:rPr lang="en-US" sz="2200" b="1" noProof="0" dirty="0"/>
              <a:t>Teaming:</a:t>
            </a:r>
          </a:p>
          <a:p>
            <a:pPr lvl="1"/>
            <a:r>
              <a:rPr lang="en-US" sz="2200" noProof="0" dirty="0"/>
              <a:t>A strategy of teamwork on the fly, creating many temporary, changing teams.</a:t>
            </a:r>
          </a:p>
        </p:txBody>
      </p:sp>
      <p:sp>
        <p:nvSpPr>
          <p:cNvPr id="11" name="Slide Number Placeholder 10">
            <a:extLst>
              <a:ext uri="{FF2B5EF4-FFF2-40B4-BE49-F238E27FC236}">
                <a16:creationId xmlns:a16="http://schemas.microsoft.com/office/drawing/2014/main" id="{10BB5EAB-880A-491E-ABA1-FDF425A2FE95}"/>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87395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9BB6-A72C-4823-80A6-D67A7E5C4D22}"/>
              </a:ext>
            </a:extLst>
          </p:cNvPr>
          <p:cNvSpPr>
            <a:spLocks noGrp="1"/>
          </p:cNvSpPr>
          <p:nvPr>
            <p:ph type="title"/>
          </p:nvPr>
        </p:nvSpPr>
        <p:spPr>
          <a:solidFill>
            <a:schemeClr val="accent2"/>
          </a:solidFill>
        </p:spPr>
        <p:txBody>
          <a:bodyPr>
            <a:normAutofit fontScale="90000"/>
          </a:bodyPr>
          <a:lstStyle/>
          <a:p>
            <a:pPr algn="ctr"/>
            <a:r>
              <a:rPr lang="en-US" sz="1100" noProof="0" dirty="0"/>
              <a:t>Exhibit 14.1 </a:t>
            </a:r>
            <a:r>
              <a:rPr lang="en-US" noProof="0" dirty="0"/>
              <a:t>Best Practices of Virtual Team Leaders</a:t>
            </a:r>
          </a:p>
        </p:txBody>
      </p:sp>
      <p:sp>
        <p:nvSpPr>
          <p:cNvPr id="7" name="Content Placeholder 6">
            <a:extLst>
              <a:ext uri="{FF2B5EF4-FFF2-40B4-BE49-F238E27FC236}">
                <a16:creationId xmlns:a16="http://schemas.microsoft.com/office/drawing/2014/main" id="{07C31221-C35A-4E59-9DAE-F5CC6F9D01DE}"/>
              </a:ext>
            </a:extLst>
          </p:cNvPr>
          <p:cNvSpPr>
            <a:spLocks noGrp="1"/>
          </p:cNvSpPr>
          <p:nvPr>
            <p:ph sz="quarter" idx="11"/>
          </p:nvPr>
        </p:nvSpPr>
        <p:spPr>
          <a:xfrm>
            <a:off x="342900" y="1276709"/>
            <a:ext cx="8458200" cy="4042051"/>
          </a:xfrm>
        </p:spPr>
        <p:txBody>
          <a:bodyPr/>
          <a:lstStyle/>
          <a:p>
            <a:pPr marL="402336" indent="-402336">
              <a:buFont typeface="+mj-lt"/>
              <a:buAutoNum type="arabicPeriod"/>
            </a:pPr>
            <a:r>
              <a:rPr lang="en-US" noProof="0" dirty="0"/>
              <a:t>Establish and maintain trust through the use of communication technology.</a:t>
            </a:r>
          </a:p>
          <a:p>
            <a:pPr marL="402336" indent="-402336">
              <a:buFont typeface="+mj-lt"/>
              <a:buAutoNum type="arabicPeriod"/>
            </a:pPr>
            <a:r>
              <a:rPr lang="en-US" noProof="0" dirty="0"/>
              <a:t>Ensure diversity in the team is understood, appreciated, and leveraged.</a:t>
            </a:r>
          </a:p>
          <a:p>
            <a:pPr marL="402336" indent="-402336">
              <a:buFont typeface="+mj-lt"/>
              <a:buAutoNum type="arabicPeriod"/>
            </a:pPr>
            <a:r>
              <a:rPr lang="en-US" noProof="0" dirty="0"/>
              <a:t>Manage virtual work cycle and meetings.</a:t>
            </a:r>
          </a:p>
          <a:p>
            <a:pPr marL="402336" indent="-402336">
              <a:buFont typeface="+mj-lt"/>
              <a:buAutoNum type="arabicPeriod"/>
            </a:pPr>
            <a:r>
              <a:rPr lang="en-US" noProof="0" dirty="0"/>
              <a:t>Monitor team progress through the use of technology.</a:t>
            </a:r>
          </a:p>
          <a:p>
            <a:pPr marL="402336" indent="-402336">
              <a:buFont typeface="+mj-lt"/>
              <a:buAutoNum type="arabicPeriod"/>
            </a:pPr>
            <a:r>
              <a:rPr lang="en-US" noProof="0" dirty="0"/>
              <a:t>Enhance external visibility of the team and its members.</a:t>
            </a:r>
          </a:p>
          <a:p>
            <a:pPr marL="402336" indent="-402336">
              <a:buFont typeface="+mj-lt"/>
              <a:buAutoNum type="arabicPeriod"/>
            </a:pPr>
            <a:r>
              <a:rPr lang="en-US" noProof="0" dirty="0"/>
              <a:t>Ensure individuals benefit from participating in virtual teams.</a:t>
            </a:r>
          </a:p>
        </p:txBody>
      </p:sp>
      <p:sp>
        <p:nvSpPr>
          <p:cNvPr id="9" name="Content Placeholder 8">
            <a:extLst>
              <a:ext uri="{FF2B5EF4-FFF2-40B4-BE49-F238E27FC236}">
                <a16:creationId xmlns:a16="http://schemas.microsoft.com/office/drawing/2014/main" id="{DE6575AF-EA8B-4807-B746-873B6460B8AF}"/>
              </a:ext>
            </a:extLst>
          </p:cNvPr>
          <p:cNvSpPr>
            <a:spLocks noGrp="1"/>
          </p:cNvSpPr>
          <p:nvPr>
            <p:ph sz="quarter" idx="14"/>
          </p:nvPr>
        </p:nvSpPr>
        <p:spPr>
          <a:xfrm>
            <a:off x="342900" y="5644835"/>
            <a:ext cx="8458200" cy="551810"/>
          </a:xfrm>
        </p:spPr>
        <p:txBody>
          <a:bodyPr/>
          <a:lstStyle/>
          <a:p>
            <a:r>
              <a:rPr lang="en-US" sz="1200" noProof="0" dirty="0"/>
              <a:t>SOURCE: Adapted from A. Malhotra, A. Majchrzak, and B. Rosen, “Leading Virtual Teams,” </a:t>
            </a:r>
            <a:r>
              <a:rPr lang="en-US" sz="1200" i="1" noProof="0" dirty="0"/>
              <a:t>Academy of Management Perspectives</a:t>
            </a:r>
            <a:r>
              <a:rPr lang="en-US" sz="1200" noProof="0" dirty="0"/>
              <a:t>, February 2007, pp. 60–70. </a:t>
            </a:r>
          </a:p>
        </p:txBody>
      </p:sp>
      <p:sp>
        <p:nvSpPr>
          <p:cNvPr id="6" name="Slide Number Placeholder 5">
            <a:extLst>
              <a:ext uri="{FF2B5EF4-FFF2-40B4-BE49-F238E27FC236}">
                <a16:creationId xmlns:a16="http://schemas.microsoft.com/office/drawing/2014/main" id="{09E834F7-3681-4221-9B10-0DE90E5D871A}"/>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2914174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7CA21-DFBD-4651-84AE-D53E6775EFD5}"/>
              </a:ext>
            </a:extLst>
          </p:cNvPr>
          <p:cNvSpPr>
            <a:spLocks noGrp="1"/>
          </p:cNvSpPr>
          <p:nvPr>
            <p:ph type="title"/>
          </p:nvPr>
        </p:nvSpPr>
        <p:spPr>
          <a:solidFill>
            <a:schemeClr val="accent2"/>
          </a:solidFill>
        </p:spPr>
        <p:txBody>
          <a:bodyPr/>
          <a:lstStyle/>
          <a:p>
            <a:pPr algn="ctr"/>
            <a:r>
              <a:rPr lang="en-US" noProof="0" dirty="0"/>
              <a:t>Self-Managed Teams</a:t>
            </a:r>
          </a:p>
        </p:txBody>
      </p:sp>
      <p:sp>
        <p:nvSpPr>
          <p:cNvPr id="3" name="Content Placeholder 2">
            <a:extLst>
              <a:ext uri="{FF2B5EF4-FFF2-40B4-BE49-F238E27FC236}">
                <a16:creationId xmlns:a16="http://schemas.microsoft.com/office/drawing/2014/main" id="{E8DE0C3A-CD54-481B-AC12-BA784228E471}"/>
              </a:ext>
            </a:extLst>
          </p:cNvPr>
          <p:cNvSpPr>
            <a:spLocks noGrp="1"/>
          </p:cNvSpPr>
          <p:nvPr>
            <p:ph sz="quarter" idx="11"/>
          </p:nvPr>
        </p:nvSpPr>
        <p:spPr>
          <a:xfrm>
            <a:off x="342900" y="1276710"/>
            <a:ext cx="8458200" cy="1588410"/>
          </a:xfrm>
        </p:spPr>
        <p:txBody>
          <a:bodyPr/>
          <a:lstStyle/>
          <a:p>
            <a:r>
              <a:rPr lang="en-US" noProof="0" dirty="0"/>
              <a:t>Autonomous work groups in which workers are trained to do all or most of the jobs in a unit, have no immediate supervisor, and make decisions previously made by frontline supervisors</a:t>
            </a:r>
          </a:p>
        </p:txBody>
      </p:sp>
      <p:sp>
        <p:nvSpPr>
          <p:cNvPr id="9" name="Content Placeholder 8">
            <a:extLst>
              <a:ext uri="{FF2B5EF4-FFF2-40B4-BE49-F238E27FC236}">
                <a16:creationId xmlns:a16="http://schemas.microsoft.com/office/drawing/2014/main" id="{C4F4CE91-352D-4990-8BBB-35D52C2C0E4E}"/>
              </a:ext>
            </a:extLst>
          </p:cNvPr>
          <p:cNvSpPr>
            <a:spLocks noGrp="1"/>
          </p:cNvSpPr>
          <p:nvPr>
            <p:ph sz="quarter" idx="14"/>
          </p:nvPr>
        </p:nvSpPr>
        <p:spPr>
          <a:xfrm>
            <a:off x="342900" y="2964243"/>
            <a:ext cx="8458200" cy="1391485"/>
          </a:xfrm>
        </p:spPr>
        <p:txBody>
          <a:bodyPr/>
          <a:lstStyle/>
          <a:p>
            <a:r>
              <a:rPr lang="en-US" b="1" noProof="0" dirty="0"/>
              <a:t>Autonomous work groups:</a:t>
            </a:r>
          </a:p>
          <a:p>
            <a:pPr lvl="1"/>
            <a:r>
              <a:rPr lang="en-US" noProof="0" dirty="0"/>
              <a:t>Groups that control decisions about and execution of a complete range of tasks.</a:t>
            </a:r>
          </a:p>
        </p:txBody>
      </p:sp>
      <p:sp>
        <p:nvSpPr>
          <p:cNvPr id="10" name="Content Placeholder 9">
            <a:extLst>
              <a:ext uri="{FF2B5EF4-FFF2-40B4-BE49-F238E27FC236}">
                <a16:creationId xmlns:a16="http://schemas.microsoft.com/office/drawing/2014/main" id="{B2C65822-37BB-49B3-95BE-BD890B512AD9}"/>
              </a:ext>
            </a:extLst>
          </p:cNvPr>
          <p:cNvSpPr>
            <a:spLocks noGrp="1"/>
          </p:cNvSpPr>
          <p:nvPr>
            <p:ph sz="quarter" idx="15"/>
          </p:nvPr>
        </p:nvSpPr>
        <p:spPr>
          <a:xfrm>
            <a:off x="342900" y="4467689"/>
            <a:ext cx="8458200" cy="1745850"/>
          </a:xfrm>
        </p:spPr>
        <p:txBody>
          <a:bodyPr/>
          <a:lstStyle/>
          <a:p>
            <a:r>
              <a:rPr lang="en-US" b="1" noProof="0" dirty="0"/>
              <a:t>Self-designing teams:</a:t>
            </a:r>
          </a:p>
          <a:p>
            <a:pPr lvl="1"/>
            <a:r>
              <a:rPr lang="en-US" noProof="0" dirty="0"/>
              <a:t>Have responsibilities of autonomous work groups, plus control over hiring, firing, and deciding what tasks members perform.</a:t>
            </a:r>
          </a:p>
        </p:txBody>
      </p:sp>
      <p:sp>
        <p:nvSpPr>
          <p:cNvPr id="7" name="Slide Number Placeholder 6">
            <a:extLst>
              <a:ext uri="{FF2B5EF4-FFF2-40B4-BE49-F238E27FC236}">
                <a16:creationId xmlns:a16="http://schemas.microsoft.com/office/drawing/2014/main" id="{F7C05284-E6D5-4A52-8526-104609A5ED53}"/>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2556459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B293-61F9-494C-9E43-89DD555A5710}"/>
              </a:ext>
            </a:extLst>
          </p:cNvPr>
          <p:cNvSpPr>
            <a:spLocks noGrp="1"/>
          </p:cNvSpPr>
          <p:nvPr>
            <p:ph type="title"/>
          </p:nvPr>
        </p:nvSpPr>
        <p:spPr>
          <a:solidFill>
            <a:schemeClr val="accent2"/>
          </a:solidFill>
        </p:spPr>
        <p:txBody>
          <a:bodyPr>
            <a:normAutofit fontScale="90000"/>
          </a:bodyPr>
          <a:lstStyle/>
          <a:p>
            <a:pPr algn="ctr"/>
            <a:r>
              <a:rPr lang="en-US" noProof="0" dirty="0">
                <a:solidFill>
                  <a:srgbClr val="FF0000"/>
                </a:solidFill>
              </a:rPr>
              <a:t>Management in Action Self-Managed Teams at Whole Foods</a:t>
            </a:r>
          </a:p>
        </p:txBody>
      </p:sp>
      <p:sp>
        <p:nvSpPr>
          <p:cNvPr id="3" name="Content Placeholder 2">
            <a:extLst>
              <a:ext uri="{FF2B5EF4-FFF2-40B4-BE49-F238E27FC236}">
                <a16:creationId xmlns:a16="http://schemas.microsoft.com/office/drawing/2014/main" id="{41442F1B-D042-443A-B1CA-A7DE5D244B78}"/>
              </a:ext>
            </a:extLst>
          </p:cNvPr>
          <p:cNvSpPr>
            <a:spLocks noGrp="1"/>
          </p:cNvSpPr>
          <p:nvPr>
            <p:ph sz="quarter" idx="11"/>
          </p:nvPr>
        </p:nvSpPr>
        <p:spPr>
          <a:xfrm>
            <a:off x="342900" y="1276709"/>
            <a:ext cx="8458200" cy="2716171"/>
          </a:xfrm>
          <a:solidFill>
            <a:schemeClr val="accent2">
              <a:lumMod val="20000"/>
              <a:lumOff val="80000"/>
            </a:schemeClr>
          </a:solidFill>
        </p:spPr>
        <p:txBody>
          <a:bodyPr/>
          <a:lstStyle/>
          <a:p>
            <a:r>
              <a:rPr lang="en-US" noProof="0" dirty="0"/>
              <a:t>Company:</a:t>
            </a:r>
          </a:p>
          <a:p>
            <a:r>
              <a:rPr lang="en-US" noProof="0" dirty="0"/>
              <a:t>known for team member involvement in hiring decisions</a:t>
            </a:r>
          </a:p>
          <a:p>
            <a:r>
              <a:rPr lang="en-US" noProof="0" dirty="0"/>
              <a:t>but employees support rather than control the process.</a:t>
            </a:r>
          </a:p>
          <a:p>
            <a:r>
              <a:rPr lang="en-US" dirty="0"/>
              <a:t>HR</a:t>
            </a:r>
            <a:r>
              <a:rPr lang="en-US" noProof="0" dirty="0"/>
              <a:t> screen job applications and selects those with the skills.</a:t>
            </a:r>
          </a:p>
          <a:p>
            <a:r>
              <a:rPr lang="en-US" noProof="0" dirty="0"/>
              <a:t>Those passing screening are interviewed by store leaders. </a:t>
            </a:r>
          </a:p>
        </p:txBody>
      </p:sp>
      <p:sp>
        <p:nvSpPr>
          <p:cNvPr id="4" name="Content Placeholder 3">
            <a:extLst>
              <a:ext uri="{FF2B5EF4-FFF2-40B4-BE49-F238E27FC236}">
                <a16:creationId xmlns:a16="http://schemas.microsoft.com/office/drawing/2014/main" id="{6E3CFF63-F96F-4D56-A016-333FCAB19289}"/>
              </a:ext>
            </a:extLst>
          </p:cNvPr>
          <p:cNvSpPr>
            <a:spLocks noGrp="1"/>
          </p:cNvSpPr>
          <p:nvPr>
            <p:ph sz="quarter" idx="14"/>
          </p:nvPr>
        </p:nvSpPr>
        <p:spPr>
          <a:xfrm>
            <a:off x="342900" y="4099560"/>
            <a:ext cx="8458200" cy="2072640"/>
          </a:xfrm>
        </p:spPr>
        <p:txBody>
          <a:bodyPr/>
          <a:lstStyle/>
          <a:p>
            <a:pPr lvl="1"/>
            <a:r>
              <a:rPr lang="en-US" noProof="0" dirty="0"/>
              <a:t>What are the advantages of this teamwork?</a:t>
            </a:r>
          </a:p>
          <a:p>
            <a:pPr lvl="1"/>
            <a:r>
              <a:rPr lang="en-US" noProof="0" dirty="0"/>
              <a:t>Why do you HR conduct the initial screening?</a:t>
            </a:r>
          </a:p>
          <a:p>
            <a:pPr lvl="1"/>
            <a:r>
              <a:rPr lang="en-US" dirty="0"/>
              <a:t>List</a:t>
            </a:r>
            <a:r>
              <a:rPr lang="en-US" noProof="0" dirty="0"/>
              <a:t> the consequences of having the store teams carry out the entire process?</a:t>
            </a:r>
          </a:p>
        </p:txBody>
      </p:sp>
      <p:sp>
        <p:nvSpPr>
          <p:cNvPr id="7" name="Slide Number Placeholder 6">
            <a:extLst>
              <a:ext uri="{FF2B5EF4-FFF2-40B4-BE49-F238E27FC236}">
                <a16:creationId xmlns:a16="http://schemas.microsoft.com/office/drawing/2014/main" id="{56BE4181-437E-4158-B335-1F356C98DDD0}"/>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284394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00E3-85EB-42C7-A6AE-E42B27B94B68}"/>
              </a:ext>
            </a:extLst>
          </p:cNvPr>
          <p:cNvSpPr>
            <a:spLocks noGrp="1"/>
          </p:cNvSpPr>
          <p:nvPr>
            <p:ph type="title"/>
          </p:nvPr>
        </p:nvSpPr>
        <p:spPr>
          <a:solidFill>
            <a:srgbClr val="FFC000"/>
          </a:solidFill>
        </p:spPr>
        <p:txBody>
          <a:bodyPr/>
          <a:lstStyle/>
          <a:p>
            <a:pPr algn="ctr"/>
            <a:r>
              <a:rPr lang="en-US" noProof="0" dirty="0"/>
              <a:t>Work </a:t>
            </a:r>
            <a:r>
              <a:rPr lang="en-US" noProof="0" dirty="0">
                <a:solidFill>
                  <a:srgbClr val="FF0000"/>
                </a:solidFill>
              </a:rPr>
              <a:t>Groups</a:t>
            </a:r>
            <a:r>
              <a:rPr lang="en-US" noProof="0" dirty="0"/>
              <a:t> and Real </a:t>
            </a:r>
            <a:r>
              <a:rPr lang="en-US" noProof="0" dirty="0">
                <a:solidFill>
                  <a:srgbClr val="FF0000"/>
                </a:solidFill>
              </a:rPr>
              <a:t>Teams</a:t>
            </a:r>
          </a:p>
        </p:txBody>
      </p:sp>
      <p:sp>
        <p:nvSpPr>
          <p:cNvPr id="3" name="Content Placeholder 2">
            <a:extLst>
              <a:ext uri="{FF2B5EF4-FFF2-40B4-BE49-F238E27FC236}">
                <a16:creationId xmlns:a16="http://schemas.microsoft.com/office/drawing/2014/main" id="{43BD97F7-63A3-428D-A119-A2BCDC88D64D}"/>
              </a:ext>
            </a:extLst>
          </p:cNvPr>
          <p:cNvSpPr>
            <a:spLocks noGrp="1"/>
          </p:cNvSpPr>
          <p:nvPr>
            <p:ph sz="quarter" idx="11"/>
          </p:nvPr>
        </p:nvSpPr>
        <p:spPr>
          <a:xfrm>
            <a:off x="342900" y="1054665"/>
            <a:ext cx="8458200" cy="612476"/>
          </a:xfrm>
        </p:spPr>
        <p:txBody>
          <a:bodyPr/>
          <a:lstStyle/>
          <a:p>
            <a:pPr algn="ctr"/>
            <a:r>
              <a:rPr lang="en-US" sz="2800" b="1" i="1" noProof="0" dirty="0">
                <a:solidFill>
                  <a:srgbClr val="FF0000"/>
                </a:solidFill>
              </a:rPr>
              <a:t>Group</a:t>
            </a:r>
            <a:r>
              <a:rPr lang="en-US" sz="2800" b="1" noProof="0" dirty="0">
                <a:solidFill>
                  <a:srgbClr val="FF0000"/>
                </a:solidFill>
              </a:rPr>
              <a:t> </a:t>
            </a:r>
            <a:r>
              <a:rPr lang="en-US" sz="2800" noProof="0" dirty="0">
                <a:solidFill>
                  <a:srgbClr val="FF0000"/>
                </a:solidFill>
              </a:rPr>
              <a:t>and </a:t>
            </a:r>
            <a:r>
              <a:rPr lang="en-US" sz="2800" b="1" i="1" noProof="0" dirty="0">
                <a:solidFill>
                  <a:srgbClr val="FF0000"/>
                </a:solidFill>
              </a:rPr>
              <a:t>team</a:t>
            </a:r>
            <a:r>
              <a:rPr lang="en-US" sz="2800" b="1" i="1" dirty="0">
                <a:solidFill>
                  <a:srgbClr val="FF0000"/>
                </a:solidFill>
              </a:rPr>
              <a:t>:</a:t>
            </a:r>
            <a:r>
              <a:rPr lang="en-US" sz="2800" noProof="0" dirty="0">
                <a:solidFill>
                  <a:srgbClr val="FF0000"/>
                </a:solidFill>
              </a:rPr>
              <a:t> not interchanged</a:t>
            </a:r>
          </a:p>
        </p:txBody>
      </p:sp>
      <p:sp>
        <p:nvSpPr>
          <p:cNvPr id="4" name="Content Placeholder 3">
            <a:extLst>
              <a:ext uri="{FF2B5EF4-FFF2-40B4-BE49-F238E27FC236}">
                <a16:creationId xmlns:a16="http://schemas.microsoft.com/office/drawing/2014/main" id="{07219671-8997-4781-A906-B9591CBDB5F0}"/>
              </a:ext>
            </a:extLst>
          </p:cNvPr>
          <p:cNvSpPr>
            <a:spLocks noGrp="1"/>
          </p:cNvSpPr>
          <p:nvPr>
            <p:ph sz="quarter" idx="14"/>
          </p:nvPr>
        </p:nvSpPr>
        <p:spPr>
          <a:xfrm>
            <a:off x="252663" y="1646739"/>
            <a:ext cx="8639352" cy="2304988"/>
          </a:xfrm>
        </p:spPr>
        <p:txBody>
          <a:bodyPr/>
          <a:lstStyle/>
          <a:p>
            <a:r>
              <a:rPr lang="en-US" noProof="0" dirty="0"/>
              <a:t>A </a:t>
            </a:r>
            <a:r>
              <a:rPr lang="en-US" b="1" i="1" noProof="0" dirty="0"/>
              <a:t>working group: </a:t>
            </a:r>
          </a:p>
          <a:p>
            <a:pPr marL="342900" indent="-342900">
              <a:buFont typeface="Arial" panose="020B0604020202020204" pitchFamily="34" charset="0"/>
              <a:buChar char="•"/>
            </a:pPr>
            <a:r>
              <a:rPr lang="en-US" noProof="0" dirty="0"/>
              <a:t>a collection of people who work in the same area </a:t>
            </a:r>
          </a:p>
          <a:p>
            <a:pPr marL="342900" indent="-342900">
              <a:buFont typeface="Arial" panose="020B0604020202020204" pitchFamily="34" charset="0"/>
              <a:buChar char="•"/>
            </a:pPr>
            <a:r>
              <a:rPr lang="en-US" noProof="0" dirty="0"/>
              <a:t>or have been drawn together to undertake a task</a:t>
            </a:r>
          </a:p>
          <a:p>
            <a:pPr marL="342900" indent="-342900">
              <a:buFont typeface="Arial" panose="020B0604020202020204" pitchFamily="34" charset="0"/>
              <a:buChar char="•"/>
            </a:pPr>
            <a:r>
              <a:rPr lang="en-US" noProof="0" dirty="0"/>
              <a:t> but do not necessarily come together as a unit </a:t>
            </a:r>
          </a:p>
        </p:txBody>
      </p:sp>
      <p:sp>
        <p:nvSpPr>
          <p:cNvPr id="5" name="Content Placeholder 4">
            <a:extLst>
              <a:ext uri="{FF2B5EF4-FFF2-40B4-BE49-F238E27FC236}">
                <a16:creationId xmlns:a16="http://schemas.microsoft.com/office/drawing/2014/main" id="{3AF3D5A5-C503-4C37-A6CF-0978266E0ACF}"/>
              </a:ext>
            </a:extLst>
          </p:cNvPr>
          <p:cNvSpPr>
            <a:spLocks noGrp="1"/>
          </p:cNvSpPr>
          <p:nvPr>
            <p:ph sz="quarter" idx="15"/>
          </p:nvPr>
        </p:nvSpPr>
        <p:spPr>
          <a:xfrm>
            <a:off x="251985" y="3776469"/>
            <a:ext cx="8458200" cy="2547234"/>
          </a:xfrm>
        </p:spPr>
        <p:txBody>
          <a:bodyPr/>
          <a:lstStyle/>
          <a:p>
            <a:r>
              <a:rPr lang="en-US" noProof="0" dirty="0"/>
              <a:t>A real </a:t>
            </a:r>
            <a:r>
              <a:rPr lang="en-US" b="1" i="1" noProof="0" dirty="0"/>
              <a:t>team:</a:t>
            </a:r>
          </a:p>
          <a:p>
            <a:pPr marL="342900" indent="-342900">
              <a:buFont typeface="Arial" panose="020B0604020202020204" pitchFamily="34" charset="0"/>
              <a:buChar char="•"/>
            </a:pPr>
            <a:r>
              <a:rPr lang="en-US" noProof="0" dirty="0"/>
              <a:t>formed of people with complementary skills</a:t>
            </a:r>
          </a:p>
          <a:p>
            <a:pPr marL="342900" indent="-342900">
              <a:buFont typeface="Arial" panose="020B0604020202020204" pitchFamily="34" charset="0"/>
              <a:buChar char="•"/>
            </a:pPr>
            <a:r>
              <a:rPr lang="en-US" noProof="0" dirty="0"/>
              <a:t>who trust one another and are</a:t>
            </a:r>
          </a:p>
          <a:p>
            <a:pPr marL="342900" indent="-342900">
              <a:buFont typeface="Arial" panose="020B0604020202020204" pitchFamily="34" charset="0"/>
              <a:buChar char="•"/>
            </a:pPr>
            <a:r>
              <a:rPr lang="en-US" noProof="0" dirty="0"/>
              <a:t>committed to a common purpose, performance goals, and approach holding themselves mutually accountable.</a:t>
            </a:r>
          </a:p>
        </p:txBody>
      </p:sp>
      <p:sp>
        <p:nvSpPr>
          <p:cNvPr id="11" name="Slide Number Placeholder 10">
            <a:extLst>
              <a:ext uri="{FF2B5EF4-FFF2-40B4-BE49-F238E27FC236}">
                <a16:creationId xmlns:a16="http://schemas.microsoft.com/office/drawing/2014/main" id="{7AB1D027-254C-4A3E-A02E-33E4D5A026F9}"/>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527778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a:solidFill>
            <a:srgbClr val="FFC000"/>
          </a:solidFill>
        </p:spPr>
        <p:txBody>
          <a:bodyPr>
            <a:normAutofit/>
          </a:bodyPr>
          <a:lstStyle/>
          <a:p>
            <a:r>
              <a:rPr lang="en-US" sz="1100" noProof="0" dirty="0"/>
              <a:t>Exhibit 14.2 </a:t>
            </a:r>
            <a:r>
              <a:rPr lang="en-US" noProof="0" dirty="0"/>
              <a:t>Stages of Team Development</a:t>
            </a:r>
          </a:p>
        </p:txBody>
      </p:sp>
      <p:sp>
        <p:nvSpPr>
          <p:cNvPr id="9" name="Content Placeholder 8">
            <a:extLst>
              <a:ext uri="{FF2B5EF4-FFF2-40B4-BE49-F238E27FC236}">
                <a16:creationId xmlns:a16="http://schemas.microsoft.com/office/drawing/2014/main" id="{993C3812-A81D-411B-93CB-EFE857DDBE0C}"/>
              </a:ext>
            </a:extLst>
          </p:cNvPr>
          <p:cNvSpPr>
            <a:spLocks noGrp="1"/>
          </p:cNvSpPr>
          <p:nvPr>
            <p:ph sz="quarter" idx="11"/>
          </p:nvPr>
        </p:nvSpPr>
        <p:spPr>
          <a:xfrm>
            <a:off x="342900" y="1276710"/>
            <a:ext cx="8633460" cy="1161690"/>
          </a:xfrm>
        </p:spPr>
        <p:txBody>
          <a:bodyPr/>
          <a:lstStyle/>
          <a:p>
            <a:r>
              <a:rPr lang="en-US" sz="2000" b="1" noProof="0" dirty="0">
                <a:solidFill>
                  <a:srgbClr val="FF0000"/>
                </a:solidFill>
              </a:rPr>
              <a:t>Forming</a:t>
            </a:r>
          </a:p>
          <a:p>
            <a:r>
              <a:rPr lang="en-US" sz="2000" noProof="0" dirty="0"/>
              <a:t>Group members attempt to lay the ground rules for what types of behavior are acceptable.</a:t>
            </a:r>
          </a:p>
        </p:txBody>
      </p:sp>
      <p:sp>
        <p:nvSpPr>
          <p:cNvPr id="11" name="Content Placeholder 10">
            <a:extLst>
              <a:ext uri="{FF2B5EF4-FFF2-40B4-BE49-F238E27FC236}">
                <a16:creationId xmlns:a16="http://schemas.microsoft.com/office/drawing/2014/main" id="{D2E1D037-3246-4E34-BEA8-207C797D02F0}"/>
              </a:ext>
            </a:extLst>
          </p:cNvPr>
          <p:cNvSpPr>
            <a:spLocks noGrp="1"/>
          </p:cNvSpPr>
          <p:nvPr>
            <p:ph sz="quarter" idx="14"/>
          </p:nvPr>
        </p:nvSpPr>
        <p:spPr>
          <a:xfrm>
            <a:off x="342900" y="2490632"/>
            <a:ext cx="8458200" cy="1149987"/>
          </a:xfrm>
        </p:spPr>
        <p:txBody>
          <a:bodyPr/>
          <a:lstStyle/>
          <a:p>
            <a:r>
              <a:rPr lang="en-US" sz="2000" b="1" noProof="0" dirty="0">
                <a:solidFill>
                  <a:srgbClr val="FF0000"/>
                </a:solidFill>
              </a:rPr>
              <a:t>Storming</a:t>
            </a:r>
            <a:endParaRPr lang="en-US" sz="2000" noProof="0" dirty="0">
              <a:solidFill>
                <a:srgbClr val="FF0000"/>
              </a:solidFill>
            </a:endParaRPr>
          </a:p>
          <a:p>
            <a:r>
              <a:rPr lang="en-US" sz="2000" noProof="0" dirty="0"/>
              <a:t>Hostilities and conflict arise, and people jockey for positions of power and status.</a:t>
            </a:r>
          </a:p>
        </p:txBody>
      </p:sp>
      <p:sp>
        <p:nvSpPr>
          <p:cNvPr id="12" name="Content Placeholder 11">
            <a:extLst>
              <a:ext uri="{FF2B5EF4-FFF2-40B4-BE49-F238E27FC236}">
                <a16:creationId xmlns:a16="http://schemas.microsoft.com/office/drawing/2014/main" id="{174AA047-3D7A-4CA1-A53C-4A5A26567EB6}"/>
              </a:ext>
            </a:extLst>
          </p:cNvPr>
          <p:cNvSpPr>
            <a:spLocks noGrp="1"/>
          </p:cNvSpPr>
          <p:nvPr>
            <p:ph sz="quarter" idx="15"/>
          </p:nvPr>
        </p:nvSpPr>
        <p:spPr>
          <a:xfrm>
            <a:off x="342900" y="3692835"/>
            <a:ext cx="8458200" cy="1192439"/>
          </a:xfrm>
        </p:spPr>
        <p:txBody>
          <a:bodyPr/>
          <a:lstStyle/>
          <a:p>
            <a:r>
              <a:rPr lang="en-US" sz="2000" b="1" noProof="0" dirty="0">
                <a:solidFill>
                  <a:srgbClr val="FF0000"/>
                </a:solidFill>
              </a:rPr>
              <a:t>Norming</a:t>
            </a:r>
          </a:p>
          <a:p>
            <a:r>
              <a:rPr lang="en-US" sz="2000" noProof="0" dirty="0"/>
              <a:t>Group members agree on their shared goals, and norms and closer relationships develop.</a:t>
            </a:r>
          </a:p>
        </p:txBody>
      </p:sp>
      <p:sp>
        <p:nvSpPr>
          <p:cNvPr id="13" name="Content Placeholder 12">
            <a:extLst>
              <a:ext uri="{FF2B5EF4-FFF2-40B4-BE49-F238E27FC236}">
                <a16:creationId xmlns:a16="http://schemas.microsoft.com/office/drawing/2014/main" id="{1788B2F0-4DB7-47F8-98D4-DBDD367088D6}"/>
              </a:ext>
            </a:extLst>
          </p:cNvPr>
          <p:cNvSpPr>
            <a:spLocks noGrp="1"/>
          </p:cNvSpPr>
          <p:nvPr>
            <p:ph sz="quarter" idx="16"/>
          </p:nvPr>
        </p:nvSpPr>
        <p:spPr>
          <a:xfrm>
            <a:off x="342900" y="4920709"/>
            <a:ext cx="8458200" cy="867151"/>
          </a:xfrm>
        </p:spPr>
        <p:txBody>
          <a:bodyPr/>
          <a:lstStyle/>
          <a:p>
            <a:r>
              <a:rPr lang="en-US" sz="2000" b="1" noProof="0" dirty="0">
                <a:solidFill>
                  <a:srgbClr val="FF0000"/>
                </a:solidFill>
              </a:rPr>
              <a:t>Performing</a:t>
            </a:r>
            <a:endParaRPr lang="en-US" sz="2000" noProof="0" dirty="0">
              <a:solidFill>
                <a:srgbClr val="FF0000"/>
              </a:solidFill>
            </a:endParaRPr>
          </a:p>
          <a:p>
            <a:r>
              <a:rPr lang="en-US" sz="2000" noProof="0" dirty="0"/>
              <a:t>The group channels its energies into performing its tasks.</a:t>
            </a:r>
          </a:p>
        </p:txBody>
      </p:sp>
      <p:sp>
        <p:nvSpPr>
          <p:cNvPr id="14" name="Content Placeholder 13">
            <a:extLst>
              <a:ext uri="{FF2B5EF4-FFF2-40B4-BE49-F238E27FC236}">
                <a16:creationId xmlns:a16="http://schemas.microsoft.com/office/drawing/2014/main" id="{B37EBCAD-32E5-4CF3-BA08-FD8B1A6D6E60}"/>
              </a:ext>
            </a:extLst>
          </p:cNvPr>
          <p:cNvSpPr>
            <a:spLocks noGrp="1"/>
          </p:cNvSpPr>
          <p:nvPr>
            <p:ph sz="quarter" idx="17"/>
          </p:nvPr>
        </p:nvSpPr>
        <p:spPr>
          <a:xfrm>
            <a:off x="342900" y="5848709"/>
            <a:ext cx="7872186" cy="407644"/>
          </a:xfrm>
        </p:spPr>
        <p:txBody>
          <a:bodyPr/>
          <a:lstStyle/>
          <a:p>
            <a:r>
              <a:rPr lang="en-US" sz="1200" noProof="0" dirty="0"/>
              <a:t>SOURCE: Adapted from B. W. Tuckman, “Developmental Sequence in Small Groups,” </a:t>
            </a:r>
            <a:r>
              <a:rPr lang="en-US" sz="1200" i="1" noProof="0" dirty="0"/>
              <a:t>Psychological Bulletin </a:t>
            </a:r>
            <a:r>
              <a:rPr lang="en-US" sz="1200" noProof="0" dirty="0"/>
              <a:t>63 (19</a:t>
            </a:r>
            <a:r>
              <a:rPr lang="en-US" sz="100" noProof="0" dirty="0"/>
              <a:t> </a:t>
            </a:r>
            <a:r>
              <a:rPr lang="en-US" sz="1200" noProof="0" dirty="0"/>
              <a:t>65), pp. 384–99.</a:t>
            </a:r>
          </a:p>
        </p:txBody>
      </p:sp>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1879684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7C28-32CC-45A5-B635-B3351ACFF9F7}"/>
              </a:ext>
            </a:extLst>
          </p:cNvPr>
          <p:cNvSpPr>
            <a:spLocks noGrp="1"/>
          </p:cNvSpPr>
          <p:nvPr>
            <p:ph type="title"/>
          </p:nvPr>
        </p:nvSpPr>
        <p:spPr>
          <a:solidFill>
            <a:srgbClr val="FFC000"/>
          </a:solidFill>
        </p:spPr>
        <p:txBody>
          <a:bodyPr/>
          <a:lstStyle/>
          <a:p>
            <a:pPr algn="ctr"/>
            <a:r>
              <a:rPr lang="en-US" noProof="0" dirty="0"/>
              <a:t>Teaming Challenges</a:t>
            </a:r>
          </a:p>
        </p:txBody>
      </p:sp>
      <p:sp>
        <p:nvSpPr>
          <p:cNvPr id="3" name="Content Placeholder 2">
            <a:extLst>
              <a:ext uri="{FF2B5EF4-FFF2-40B4-BE49-F238E27FC236}">
                <a16:creationId xmlns:a16="http://schemas.microsoft.com/office/drawing/2014/main" id="{AAE77287-1487-49E0-9617-1AD23EFFA8A6}"/>
              </a:ext>
            </a:extLst>
          </p:cNvPr>
          <p:cNvSpPr>
            <a:spLocks noGrp="1"/>
          </p:cNvSpPr>
          <p:nvPr>
            <p:ph sz="quarter" idx="11"/>
          </p:nvPr>
        </p:nvSpPr>
        <p:spPr>
          <a:xfrm>
            <a:off x="144379" y="962527"/>
            <a:ext cx="8837873" cy="5474368"/>
          </a:xfrm>
        </p:spPr>
        <p:txBody>
          <a:bodyPr/>
          <a:lstStyle/>
          <a:p>
            <a:r>
              <a:rPr lang="en-US" noProof="0" dirty="0"/>
              <a:t>Helpful practices:</a:t>
            </a:r>
          </a:p>
          <a:p>
            <a:pPr lvl="4"/>
            <a:r>
              <a:rPr lang="en-US" sz="4000" noProof="0" dirty="0"/>
              <a:t>Emphasizing the team’s purpose.</a:t>
            </a:r>
          </a:p>
          <a:p>
            <a:pPr lvl="4"/>
            <a:endParaRPr lang="en-US" sz="4000" noProof="0" dirty="0"/>
          </a:p>
          <a:p>
            <a:pPr lvl="4"/>
            <a:r>
              <a:rPr lang="en-US" sz="4000" noProof="0" dirty="0"/>
              <a:t>Building </a:t>
            </a:r>
            <a:r>
              <a:rPr lang="en-US" sz="4000" b="1" noProof="0" dirty="0"/>
              <a:t>psychological safety</a:t>
            </a:r>
            <a:r>
              <a:rPr lang="en-US" sz="4000" noProof="0" dirty="0"/>
              <a:t>.</a:t>
            </a:r>
          </a:p>
          <a:p>
            <a:pPr lvl="4"/>
            <a:endParaRPr lang="en-US" sz="4000" noProof="0" dirty="0"/>
          </a:p>
          <a:p>
            <a:pPr lvl="4"/>
            <a:r>
              <a:rPr lang="en-US" sz="4000" noProof="0" dirty="0"/>
              <a:t>Embracing failure.</a:t>
            </a:r>
          </a:p>
          <a:p>
            <a:pPr lvl="4"/>
            <a:endParaRPr lang="en-US" sz="4000" noProof="0" dirty="0"/>
          </a:p>
          <a:p>
            <a:pPr lvl="4"/>
            <a:r>
              <a:rPr lang="en-US" sz="4000" noProof="0" dirty="0"/>
              <a:t>Putting conflict to work.</a:t>
            </a:r>
          </a:p>
        </p:txBody>
      </p:sp>
      <p:sp>
        <p:nvSpPr>
          <p:cNvPr id="6" name="Slide Number Placeholder 5">
            <a:extLst>
              <a:ext uri="{FF2B5EF4-FFF2-40B4-BE49-F238E27FC236}">
                <a16:creationId xmlns:a16="http://schemas.microsoft.com/office/drawing/2014/main" id="{A3F11F16-20E9-407C-8282-24E645B4FE52}"/>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3098838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F1C8ED5-0069-4F8B-88A7-99500436EB22}"/>
              </a:ext>
            </a:extLst>
          </p:cNvPr>
          <p:cNvSpPr>
            <a:spLocks noGrp="1"/>
          </p:cNvSpPr>
          <p:nvPr>
            <p:ph type="title"/>
          </p:nvPr>
        </p:nvSpPr>
        <p:spPr>
          <a:solidFill>
            <a:srgbClr val="FFC000"/>
          </a:solidFill>
        </p:spPr>
        <p:txBody>
          <a:bodyPr/>
          <a:lstStyle/>
          <a:p>
            <a:pPr algn="ctr"/>
            <a:r>
              <a:rPr lang="en-US" noProof="0" dirty="0"/>
              <a:t>Building Effective Teams</a:t>
            </a:r>
          </a:p>
        </p:txBody>
      </p:sp>
      <p:sp>
        <p:nvSpPr>
          <p:cNvPr id="9" name="Content Placeholder 8">
            <a:extLst>
              <a:ext uri="{FF2B5EF4-FFF2-40B4-BE49-F238E27FC236}">
                <a16:creationId xmlns:a16="http://schemas.microsoft.com/office/drawing/2014/main" id="{F77F226E-A821-420B-BF52-14F0F3711C69}"/>
              </a:ext>
            </a:extLst>
          </p:cNvPr>
          <p:cNvSpPr>
            <a:spLocks noGrp="1"/>
          </p:cNvSpPr>
          <p:nvPr>
            <p:ph sz="quarter" idx="11"/>
          </p:nvPr>
        </p:nvSpPr>
        <p:spPr>
          <a:xfrm>
            <a:off x="342900" y="1276709"/>
            <a:ext cx="8458200" cy="552091"/>
          </a:xfrm>
        </p:spPr>
        <p:txBody>
          <a:bodyPr/>
          <a:lstStyle/>
          <a:p>
            <a:r>
              <a:rPr lang="en-US" b="1" noProof="0" dirty="0"/>
              <a:t>Team effectiveness is defined by three criteria.</a:t>
            </a:r>
          </a:p>
        </p:txBody>
      </p:sp>
      <p:sp>
        <p:nvSpPr>
          <p:cNvPr id="11" name="Content Placeholder 10">
            <a:extLst>
              <a:ext uri="{FF2B5EF4-FFF2-40B4-BE49-F238E27FC236}">
                <a16:creationId xmlns:a16="http://schemas.microsoft.com/office/drawing/2014/main" id="{AB46F05D-A67D-4EB5-B76B-A86FA21B6CD3}"/>
              </a:ext>
            </a:extLst>
          </p:cNvPr>
          <p:cNvSpPr>
            <a:spLocks noGrp="1"/>
          </p:cNvSpPr>
          <p:nvPr>
            <p:ph sz="quarter" idx="14"/>
          </p:nvPr>
        </p:nvSpPr>
        <p:spPr>
          <a:xfrm>
            <a:off x="1961146" y="1872189"/>
            <a:ext cx="6839953" cy="2206515"/>
          </a:xfrm>
        </p:spPr>
        <p:txBody>
          <a:bodyPr/>
          <a:lstStyle/>
          <a:p>
            <a:pPr marL="402336" indent="-402336">
              <a:buFont typeface="+mj-lt"/>
              <a:buAutoNum type="arabicPeriod"/>
            </a:pPr>
            <a:r>
              <a:rPr lang="en-US" sz="4000" noProof="0" dirty="0"/>
              <a:t>Team productivity.</a:t>
            </a:r>
          </a:p>
          <a:p>
            <a:pPr marL="402336" indent="-402336">
              <a:buFont typeface="+mj-lt"/>
              <a:buAutoNum type="arabicPeriod"/>
            </a:pPr>
            <a:r>
              <a:rPr lang="en-US" sz="4000" noProof="0" dirty="0"/>
              <a:t>Member satisfaction.</a:t>
            </a:r>
          </a:p>
          <a:p>
            <a:pPr marL="402336" indent="-402336">
              <a:buFont typeface="+mj-lt"/>
              <a:buAutoNum type="arabicPeriod"/>
            </a:pPr>
            <a:r>
              <a:rPr lang="en-US" sz="4000" noProof="0" dirty="0"/>
              <a:t>Member commitment.</a:t>
            </a:r>
          </a:p>
        </p:txBody>
      </p:sp>
      <p:sp>
        <p:nvSpPr>
          <p:cNvPr id="7" name="Slide Number Placeholder 6">
            <a:extLst>
              <a:ext uri="{FF2B5EF4-FFF2-40B4-BE49-F238E27FC236}">
                <a16:creationId xmlns:a16="http://schemas.microsoft.com/office/drawing/2014/main" id="{EB7926BD-78A5-4322-85B4-19429918189B}"/>
              </a:ext>
            </a:extLst>
          </p:cNvPr>
          <p:cNvSpPr>
            <a:spLocks noGrp="1"/>
          </p:cNvSpPr>
          <p:nvPr>
            <p:ph type="sldNum" sz="quarter" idx="10"/>
          </p:nvPr>
        </p:nvSpPr>
        <p:spPr/>
        <p:txBody>
          <a:bodyPr/>
          <a:lstStyle/>
          <a:p>
            <a:fld id="{68151E55-6873-49E2-B8D5-2F265E6F1973}" type="slidenum">
              <a:rPr lang="en-US" smtClean="0"/>
              <a:t>13</a:t>
            </a:fld>
            <a:endParaRPr lang="en-US" dirty="0"/>
          </a:p>
        </p:txBody>
      </p:sp>
      <p:pic>
        <p:nvPicPr>
          <p:cNvPr id="3" name="Picture 2" descr="Team Huddle Broccoli">
            <a:extLst>
              <a:ext uri="{FF2B5EF4-FFF2-40B4-BE49-F238E27FC236}">
                <a16:creationId xmlns:a16="http://schemas.microsoft.com/office/drawing/2014/main" id="{B587AAB2-751A-B2C3-73FC-EAFD696E16AE}"/>
              </a:ext>
            </a:extLst>
          </p:cNvPr>
          <p:cNvPicPr>
            <a:picLocks noChangeAspect="1"/>
          </p:cNvPicPr>
          <p:nvPr/>
        </p:nvPicPr>
        <p:blipFill>
          <a:blip r:embed="rId3"/>
          <a:stretch>
            <a:fillRect/>
          </a:stretch>
        </p:blipFill>
        <p:spPr>
          <a:xfrm>
            <a:off x="703168" y="3633537"/>
            <a:ext cx="3332748" cy="3332748"/>
          </a:xfrm>
          <a:prstGeom prst="rect">
            <a:avLst/>
          </a:prstGeom>
        </p:spPr>
      </p:pic>
    </p:spTree>
    <p:extLst>
      <p:ext uri="{BB962C8B-B14F-4D97-AF65-F5344CB8AC3E}">
        <p14:creationId xmlns:p14="http://schemas.microsoft.com/office/powerpoint/2010/main" val="334631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6F9D-60E0-46C3-92ED-D4D25BAC49C5}"/>
              </a:ext>
            </a:extLst>
          </p:cNvPr>
          <p:cNvSpPr>
            <a:spLocks noGrp="1"/>
          </p:cNvSpPr>
          <p:nvPr>
            <p:ph type="title"/>
          </p:nvPr>
        </p:nvSpPr>
        <p:spPr>
          <a:solidFill>
            <a:srgbClr val="FFC000"/>
          </a:solidFill>
        </p:spPr>
        <p:txBody>
          <a:bodyPr/>
          <a:lstStyle/>
          <a:p>
            <a:pPr algn="ctr"/>
            <a:r>
              <a:rPr lang="en-US" noProof="0" dirty="0"/>
              <a:t>Performance Focus</a:t>
            </a:r>
          </a:p>
        </p:txBody>
      </p:sp>
      <p:sp>
        <p:nvSpPr>
          <p:cNvPr id="3" name="Content Placeholder 2">
            <a:extLst>
              <a:ext uri="{FF2B5EF4-FFF2-40B4-BE49-F238E27FC236}">
                <a16:creationId xmlns:a16="http://schemas.microsoft.com/office/drawing/2014/main" id="{AEBB79BC-7D52-4BA7-B1D6-AA0418C083E8}"/>
              </a:ext>
            </a:extLst>
          </p:cNvPr>
          <p:cNvSpPr>
            <a:spLocks noGrp="1"/>
          </p:cNvSpPr>
          <p:nvPr>
            <p:ph sz="quarter" idx="11"/>
          </p:nvPr>
        </p:nvSpPr>
        <p:spPr/>
        <p:txBody>
          <a:bodyPr/>
          <a:lstStyle/>
          <a:p>
            <a:r>
              <a:rPr lang="en-US" b="1" i="1" noProof="0" dirty="0"/>
              <a:t>Core of effective teamwork is commitment to a common purpose:</a:t>
            </a:r>
          </a:p>
          <a:p>
            <a:pPr lvl="4"/>
            <a:r>
              <a:rPr lang="en-US" sz="2800" noProof="0" dirty="0"/>
              <a:t>Work at developing a common understanding.</a:t>
            </a:r>
          </a:p>
          <a:p>
            <a:pPr lvl="4"/>
            <a:r>
              <a:rPr lang="en-US" sz="2800" noProof="0" dirty="0"/>
              <a:t>Be willing to try creative new ideas.</a:t>
            </a:r>
          </a:p>
          <a:p>
            <a:pPr lvl="4"/>
            <a:r>
              <a:rPr lang="en-US" sz="2800" noProof="0" dirty="0"/>
              <a:t>Translate the general into specific, measurable performance goals.</a:t>
            </a:r>
          </a:p>
          <a:p>
            <a:pPr lvl="4"/>
            <a:r>
              <a:rPr lang="en-US" sz="2800" noProof="0" dirty="0"/>
              <a:t>Define team-based performance goals.</a:t>
            </a:r>
          </a:p>
          <a:p>
            <a:pPr lvl="4"/>
            <a:r>
              <a:rPr lang="en-US" sz="2800" noProof="0" dirty="0"/>
              <a:t>Receive feedback on performance</a:t>
            </a:r>
            <a:r>
              <a:rPr lang="en-US" noProof="0" dirty="0"/>
              <a:t>.</a:t>
            </a:r>
          </a:p>
        </p:txBody>
      </p:sp>
      <p:sp>
        <p:nvSpPr>
          <p:cNvPr id="6" name="Slide Number Placeholder 5">
            <a:extLst>
              <a:ext uri="{FF2B5EF4-FFF2-40B4-BE49-F238E27FC236}">
                <a16:creationId xmlns:a16="http://schemas.microsoft.com/office/drawing/2014/main" id="{E623290D-85C3-4E24-8211-6ECA233C80DE}"/>
              </a:ext>
            </a:extLst>
          </p:cNvPr>
          <p:cNvSpPr>
            <a:spLocks noGrp="1"/>
          </p:cNvSpPr>
          <p:nvPr>
            <p:ph type="sldNum" sz="quarter" idx="10"/>
          </p:nvPr>
        </p:nvSpPr>
        <p:spPr/>
        <p:txBody>
          <a:bodyPr/>
          <a:lstStyle/>
          <a:p>
            <a:fld id="{68151E55-6873-49E2-B8D5-2F265E6F1973}" type="slidenum">
              <a:rPr lang="en-US" smtClean="0"/>
              <a:t>14</a:t>
            </a:fld>
            <a:endParaRPr lang="en-US" dirty="0"/>
          </a:p>
        </p:txBody>
      </p:sp>
      <p:pic>
        <p:nvPicPr>
          <p:cNvPr id="5" name="Graphic 4" descr="Chat with solid fill">
            <a:extLst>
              <a:ext uri="{FF2B5EF4-FFF2-40B4-BE49-F238E27FC236}">
                <a16:creationId xmlns:a16="http://schemas.microsoft.com/office/drawing/2014/main" id="{74FE6EE1-9B48-4075-5F7F-50B6C1104B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5654" y="4666890"/>
            <a:ext cx="2256598" cy="1991905"/>
          </a:xfrm>
          <a:prstGeom prst="rect">
            <a:avLst/>
          </a:prstGeom>
        </p:spPr>
      </p:pic>
    </p:spTree>
    <p:extLst>
      <p:ext uri="{BB962C8B-B14F-4D97-AF65-F5344CB8AC3E}">
        <p14:creationId xmlns:p14="http://schemas.microsoft.com/office/powerpoint/2010/main" val="1078018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1DED1-2388-4B8D-A9F5-801AF9306E00}"/>
              </a:ext>
            </a:extLst>
          </p:cNvPr>
          <p:cNvSpPr>
            <a:spLocks noGrp="1"/>
          </p:cNvSpPr>
          <p:nvPr>
            <p:ph type="title"/>
          </p:nvPr>
        </p:nvSpPr>
        <p:spPr>
          <a:solidFill>
            <a:srgbClr val="FFC000"/>
          </a:solidFill>
        </p:spPr>
        <p:txBody>
          <a:bodyPr/>
          <a:lstStyle/>
          <a:p>
            <a:pPr algn="ctr"/>
            <a:r>
              <a:rPr lang="en-US" noProof="0" dirty="0"/>
              <a:t>Motivating Teamwork</a:t>
            </a:r>
          </a:p>
        </p:txBody>
      </p:sp>
      <p:sp>
        <p:nvSpPr>
          <p:cNvPr id="3" name="Content Placeholder 2">
            <a:extLst>
              <a:ext uri="{FF2B5EF4-FFF2-40B4-BE49-F238E27FC236}">
                <a16:creationId xmlns:a16="http://schemas.microsoft.com/office/drawing/2014/main" id="{60AFE20E-EF6E-42C0-A402-8E818E05405B}"/>
              </a:ext>
            </a:extLst>
          </p:cNvPr>
          <p:cNvSpPr>
            <a:spLocks noGrp="1"/>
          </p:cNvSpPr>
          <p:nvPr>
            <p:ph sz="quarter" idx="11"/>
          </p:nvPr>
        </p:nvSpPr>
        <p:spPr>
          <a:xfrm>
            <a:off x="342900" y="1276709"/>
            <a:ext cx="8458200" cy="1360275"/>
          </a:xfrm>
        </p:spPr>
        <p:txBody>
          <a:bodyPr/>
          <a:lstStyle/>
          <a:p>
            <a:r>
              <a:rPr lang="en-US" b="1" noProof="0" dirty="0"/>
              <a:t>Social loafing:</a:t>
            </a:r>
          </a:p>
          <a:p>
            <a:pPr lvl="1"/>
            <a:r>
              <a:rPr lang="en-US" noProof="0" dirty="0"/>
              <a:t>Working less and</a:t>
            </a:r>
          </a:p>
          <a:p>
            <a:pPr lvl="1"/>
            <a:r>
              <a:rPr lang="en-US" noProof="0" dirty="0"/>
              <a:t>being less productive when in a group.</a:t>
            </a:r>
          </a:p>
        </p:txBody>
      </p:sp>
      <p:sp>
        <p:nvSpPr>
          <p:cNvPr id="4" name="Content Placeholder 3">
            <a:extLst>
              <a:ext uri="{FF2B5EF4-FFF2-40B4-BE49-F238E27FC236}">
                <a16:creationId xmlns:a16="http://schemas.microsoft.com/office/drawing/2014/main" id="{243D2863-0A40-4AF9-A25C-C247ED44EBE0}"/>
              </a:ext>
            </a:extLst>
          </p:cNvPr>
          <p:cNvSpPr>
            <a:spLocks noGrp="1"/>
          </p:cNvSpPr>
          <p:nvPr>
            <p:ph sz="quarter" idx="14"/>
          </p:nvPr>
        </p:nvSpPr>
        <p:spPr>
          <a:xfrm>
            <a:off x="342900" y="3130280"/>
            <a:ext cx="8458200" cy="979201"/>
          </a:xfrm>
        </p:spPr>
        <p:txBody>
          <a:bodyPr/>
          <a:lstStyle/>
          <a:p>
            <a:r>
              <a:rPr lang="en-US" b="1" noProof="0" dirty="0"/>
              <a:t>Social facilitation effect:</a:t>
            </a:r>
          </a:p>
          <a:p>
            <a:pPr lvl="1"/>
            <a:r>
              <a:rPr lang="en-US" noProof="0" dirty="0"/>
              <a:t>Working harder in a group than alone.</a:t>
            </a:r>
          </a:p>
        </p:txBody>
      </p:sp>
      <p:sp>
        <p:nvSpPr>
          <p:cNvPr id="5" name="Content Placeholder 4">
            <a:extLst>
              <a:ext uri="{FF2B5EF4-FFF2-40B4-BE49-F238E27FC236}">
                <a16:creationId xmlns:a16="http://schemas.microsoft.com/office/drawing/2014/main" id="{403DFD1A-CD76-4BFC-A56C-D20EF8CD7984}"/>
              </a:ext>
            </a:extLst>
          </p:cNvPr>
          <p:cNvSpPr>
            <a:spLocks noGrp="1"/>
          </p:cNvSpPr>
          <p:nvPr>
            <p:ph sz="quarter" idx="15"/>
          </p:nvPr>
        </p:nvSpPr>
        <p:spPr>
          <a:xfrm>
            <a:off x="524052" y="4640113"/>
            <a:ext cx="8458200" cy="941178"/>
          </a:xfrm>
          <a:ln>
            <a:solidFill>
              <a:schemeClr val="accent1"/>
            </a:solidFill>
          </a:ln>
        </p:spPr>
        <p:txBody>
          <a:bodyPr/>
          <a:lstStyle/>
          <a:p>
            <a:pPr algn="ctr"/>
            <a:r>
              <a:rPr lang="en-US" b="1" noProof="0" dirty="0">
                <a:solidFill>
                  <a:srgbClr val="FF0000"/>
                </a:solidFill>
                <a:highlight>
                  <a:srgbClr val="FFFF00"/>
                </a:highlight>
              </a:rPr>
              <a:t>Ultimately, teamwork is motivated by tying rewards to team performance.</a:t>
            </a:r>
          </a:p>
        </p:txBody>
      </p:sp>
      <p:sp>
        <p:nvSpPr>
          <p:cNvPr id="11" name="Slide Number Placeholder 10">
            <a:extLst>
              <a:ext uri="{FF2B5EF4-FFF2-40B4-BE49-F238E27FC236}">
                <a16:creationId xmlns:a16="http://schemas.microsoft.com/office/drawing/2014/main" id="{B566C7E2-A0E1-4FBD-8BD0-09F8ADBD081D}"/>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3705945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26F25-E88B-42E4-B0BE-E913A6C4DC77}"/>
              </a:ext>
            </a:extLst>
          </p:cNvPr>
          <p:cNvSpPr>
            <a:spLocks noGrp="1"/>
          </p:cNvSpPr>
          <p:nvPr>
            <p:ph type="title"/>
          </p:nvPr>
        </p:nvSpPr>
        <p:spPr>
          <a:xfrm>
            <a:off x="342900" y="233546"/>
            <a:ext cx="8458200" cy="957580"/>
          </a:xfrm>
          <a:solidFill>
            <a:srgbClr val="FFC000"/>
          </a:solidFill>
        </p:spPr>
        <p:txBody>
          <a:bodyPr>
            <a:normAutofit fontScale="90000"/>
          </a:bodyPr>
          <a:lstStyle/>
          <a:p>
            <a:pPr algn="ctr"/>
            <a:r>
              <a:rPr lang="en-US" noProof="0" dirty="0"/>
              <a:t>SPOTLIGHT ON…</a:t>
            </a:r>
            <a:br>
              <a:rPr lang="en-US" noProof="0" dirty="0"/>
            </a:br>
            <a:r>
              <a:rPr lang="en-US" noProof="0" dirty="0"/>
              <a:t> Co-Working–Is It Here to Stay?</a:t>
            </a:r>
          </a:p>
        </p:txBody>
      </p:sp>
      <p:sp>
        <p:nvSpPr>
          <p:cNvPr id="3" name="Content Placeholder 2">
            <a:extLst>
              <a:ext uri="{FF2B5EF4-FFF2-40B4-BE49-F238E27FC236}">
                <a16:creationId xmlns:a16="http://schemas.microsoft.com/office/drawing/2014/main" id="{F2CF400A-8049-4219-BBC1-B16D2D3247CD}"/>
              </a:ext>
            </a:extLst>
          </p:cNvPr>
          <p:cNvSpPr>
            <a:spLocks noGrp="1"/>
          </p:cNvSpPr>
          <p:nvPr>
            <p:ph sz="quarter" idx="11"/>
          </p:nvPr>
        </p:nvSpPr>
        <p:spPr>
          <a:xfrm>
            <a:off x="228600" y="1276709"/>
            <a:ext cx="8753652" cy="2850123"/>
          </a:xfrm>
        </p:spPr>
        <p:txBody>
          <a:bodyPr/>
          <a:lstStyle/>
          <a:p>
            <a:pPr marL="342900" indent="-342900">
              <a:buFont typeface="Arial" panose="020B0604020202020204" pitchFamily="34" charset="0"/>
              <a:buChar char="•"/>
            </a:pPr>
            <a:r>
              <a:rPr lang="en-US" noProof="0" dirty="0"/>
              <a:t>Work is becoming digital and portable</a:t>
            </a:r>
          </a:p>
          <a:p>
            <a:pPr marL="342900" indent="-342900">
              <a:buFont typeface="Arial" panose="020B0604020202020204" pitchFamily="34" charset="0"/>
              <a:buChar char="•"/>
            </a:pPr>
            <a:r>
              <a:rPr lang="en-US" noProof="0" dirty="0"/>
              <a:t>Co-working space may increase.</a:t>
            </a:r>
          </a:p>
          <a:p>
            <a:r>
              <a:rPr lang="en-US" noProof="0" dirty="0"/>
              <a:t>COVID-19 slowed the process.</a:t>
            </a:r>
          </a:p>
          <a:p>
            <a:r>
              <a:rPr lang="en-US" dirty="0"/>
              <a:t>Was</a:t>
            </a:r>
            <a:r>
              <a:rPr lang="en-US" noProof="0" dirty="0"/>
              <a:t> interest in communal space increased?</a:t>
            </a:r>
          </a:p>
          <a:p>
            <a:r>
              <a:rPr lang="en-US" noProof="0" dirty="0"/>
              <a:t>Shutdowns/quarantines highlight that we are social animals.</a:t>
            </a:r>
          </a:p>
        </p:txBody>
      </p:sp>
      <p:sp>
        <p:nvSpPr>
          <p:cNvPr id="4" name="Content Placeholder 3">
            <a:extLst>
              <a:ext uri="{FF2B5EF4-FFF2-40B4-BE49-F238E27FC236}">
                <a16:creationId xmlns:a16="http://schemas.microsoft.com/office/drawing/2014/main" id="{E4798D99-8633-4FE9-A4B2-F55C46287F63}"/>
              </a:ext>
            </a:extLst>
          </p:cNvPr>
          <p:cNvSpPr>
            <a:spLocks noGrp="1"/>
          </p:cNvSpPr>
          <p:nvPr>
            <p:ph sz="quarter" idx="14"/>
          </p:nvPr>
        </p:nvSpPr>
        <p:spPr>
          <a:xfrm>
            <a:off x="342900" y="4332304"/>
            <a:ext cx="8458200" cy="1731818"/>
          </a:xfrm>
          <a:solidFill>
            <a:srgbClr val="FFC000"/>
          </a:solidFill>
        </p:spPr>
        <p:txBody>
          <a:bodyPr/>
          <a:lstStyle/>
          <a:p>
            <a:pPr lvl="1"/>
            <a:r>
              <a:rPr lang="en-US" noProof="0" dirty="0"/>
              <a:t>Can co-working help entrepreneurs or remote workers feel like part of a team, how?</a:t>
            </a:r>
          </a:p>
          <a:p>
            <a:pPr lvl="1"/>
            <a:r>
              <a:rPr lang="en-US" noProof="0" dirty="0"/>
              <a:t>Do epidemics/pandemics impact the future of co-working spaces? How?</a:t>
            </a:r>
          </a:p>
        </p:txBody>
      </p:sp>
      <p:sp>
        <p:nvSpPr>
          <p:cNvPr id="7" name="Slide Number Placeholder 6">
            <a:extLst>
              <a:ext uri="{FF2B5EF4-FFF2-40B4-BE49-F238E27FC236}">
                <a16:creationId xmlns:a16="http://schemas.microsoft.com/office/drawing/2014/main" id="{7CA8585C-F035-4CF8-90E3-3C03784F47D4}"/>
              </a:ext>
            </a:extLst>
          </p:cNvPr>
          <p:cNvSpPr>
            <a:spLocks noGrp="1"/>
          </p:cNvSpPr>
          <p:nvPr>
            <p:ph type="sldNum" sz="quarter" idx="10"/>
          </p:nvPr>
        </p:nvSpPr>
        <p:spPr/>
        <p:txBody>
          <a:bodyPr/>
          <a:lstStyle/>
          <a:p>
            <a:fld id="{68151E55-6873-49E2-B8D5-2F265E6F1973}" type="slidenum">
              <a:rPr lang="en-US" smtClean="0"/>
              <a:t>16</a:t>
            </a:fld>
            <a:endParaRPr lang="en-US" dirty="0"/>
          </a:p>
        </p:txBody>
      </p:sp>
      <p:pic>
        <p:nvPicPr>
          <p:cNvPr id="6" name="Graphic 5" descr="Cake stand filled with cupcakes">
            <a:extLst>
              <a:ext uri="{FF2B5EF4-FFF2-40B4-BE49-F238E27FC236}">
                <a16:creationId xmlns:a16="http://schemas.microsoft.com/office/drawing/2014/main" id="{0F506B54-F48B-FF5D-0D60-2ACE0642F4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2129" y="793878"/>
            <a:ext cx="2850123" cy="2850123"/>
          </a:xfrm>
          <a:prstGeom prst="rect">
            <a:avLst/>
          </a:prstGeom>
        </p:spPr>
      </p:pic>
    </p:spTree>
    <p:extLst>
      <p:ext uri="{BB962C8B-B14F-4D97-AF65-F5344CB8AC3E}">
        <p14:creationId xmlns:p14="http://schemas.microsoft.com/office/powerpoint/2010/main" val="381713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2557F-722D-4544-A56E-27E642749FAF}"/>
              </a:ext>
            </a:extLst>
          </p:cNvPr>
          <p:cNvSpPr>
            <a:spLocks noGrp="1"/>
          </p:cNvSpPr>
          <p:nvPr>
            <p:ph type="title"/>
          </p:nvPr>
        </p:nvSpPr>
        <p:spPr>
          <a:solidFill>
            <a:srgbClr val="FFC000"/>
          </a:solidFill>
        </p:spPr>
        <p:txBody>
          <a:bodyPr/>
          <a:lstStyle/>
          <a:p>
            <a:pPr algn="ctr"/>
            <a:r>
              <a:rPr lang="en-US" noProof="0" dirty="0"/>
              <a:t>Norms and Roles</a:t>
            </a:r>
          </a:p>
        </p:txBody>
      </p:sp>
      <p:sp>
        <p:nvSpPr>
          <p:cNvPr id="3" name="Content Placeholder 2">
            <a:extLst>
              <a:ext uri="{FF2B5EF4-FFF2-40B4-BE49-F238E27FC236}">
                <a16:creationId xmlns:a16="http://schemas.microsoft.com/office/drawing/2014/main" id="{DFEF2F7D-4E78-4903-95EF-8F08F25A737B}"/>
              </a:ext>
            </a:extLst>
          </p:cNvPr>
          <p:cNvSpPr>
            <a:spLocks noGrp="1"/>
          </p:cNvSpPr>
          <p:nvPr>
            <p:ph sz="quarter" idx="11"/>
          </p:nvPr>
        </p:nvSpPr>
        <p:spPr>
          <a:xfrm>
            <a:off x="342900" y="1276709"/>
            <a:ext cx="8458200" cy="1039771"/>
          </a:xfrm>
        </p:spPr>
        <p:txBody>
          <a:bodyPr/>
          <a:lstStyle/>
          <a:p>
            <a:r>
              <a:rPr lang="en-US" b="1" noProof="0" dirty="0"/>
              <a:t>Norms:</a:t>
            </a:r>
          </a:p>
          <a:p>
            <a:pPr lvl="1"/>
            <a:r>
              <a:rPr lang="en-US" noProof="0" dirty="0"/>
              <a:t>Shared beliefs about how people should think and behave.</a:t>
            </a:r>
          </a:p>
        </p:txBody>
      </p:sp>
      <p:sp>
        <p:nvSpPr>
          <p:cNvPr id="4" name="Content Placeholder 3">
            <a:extLst>
              <a:ext uri="{FF2B5EF4-FFF2-40B4-BE49-F238E27FC236}">
                <a16:creationId xmlns:a16="http://schemas.microsoft.com/office/drawing/2014/main" id="{4C3715AC-7586-4EC2-8F96-5B09E48EA377}"/>
              </a:ext>
            </a:extLst>
          </p:cNvPr>
          <p:cNvSpPr>
            <a:spLocks noGrp="1"/>
          </p:cNvSpPr>
          <p:nvPr>
            <p:ph sz="quarter" idx="14"/>
          </p:nvPr>
        </p:nvSpPr>
        <p:spPr>
          <a:xfrm>
            <a:off x="342900" y="3067844"/>
            <a:ext cx="8458200" cy="3008103"/>
          </a:xfrm>
        </p:spPr>
        <p:txBody>
          <a:bodyPr/>
          <a:lstStyle/>
          <a:p>
            <a:r>
              <a:rPr lang="en-US" b="1" noProof="0" dirty="0"/>
              <a:t>Roles</a:t>
            </a:r>
            <a:r>
              <a:rPr lang="en-US" noProof="0" dirty="0"/>
              <a:t>: </a:t>
            </a:r>
          </a:p>
          <a:p>
            <a:r>
              <a:rPr lang="en-US" noProof="0" dirty="0"/>
              <a:t>Different sets of expectations for how different individuals should behave</a:t>
            </a:r>
          </a:p>
          <a:p>
            <a:pPr lvl="1" algn="ctr"/>
            <a:r>
              <a:rPr lang="en-US" b="1" noProof="0" dirty="0"/>
              <a:t>Task specialist role.</a:t>
            </a:r>
          </a:p>
          <a:p>
            <a:pPr lvl="1" algn="ctr"/>
            <a:r>
              <a:rPr lang="en-US" b="1" noProof="0" dirty="0"/>
              <a:t>Team maintenance role.</a:t>
            </a:r>
          </a:p>
        </p:txBody>
      </p:sp>
      <p:sp>
        <p:nvSpPr>
          <p:cNvPr id="7" name="Slide Number Placeholder 6">
            <a:extLst>
              <a:ext uri="{FF2B5EF4-FFF2-40B4-BE49-F238E27FC236}">
                <a16:creationId xmlns:a16="http://schemas.microsoft.com/office/drawing/2014/main" id="{6F858CD3-6A49-47FA-84A3-7836C006ADD6}"/>
              </a:ext>
            </a:extLst>
          </p:cNvPr>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1479719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a:solidFill>
            <a:srgbClr val="FFC000"/>
          </a:solidFill>
        </p:spPr>
        <p:txBody>
          <a:bodyPr>
            <a:normAutofit fontScale="90000"/>
          </a:bodyPr>
          <a:lstStyle/>
          <a:p>
            <a:pPr algn="ctr"/>
            <a:r>
              <a:rPr lang="en-US" sz="1100" noProof="0" dirty="0"/>
              <a:t>Exhibit 14.3 </a:t>
            </a:r>
            <a:r>
              <a:rPr lang="en-US" noProof="0" dirty="0"/>
              <a:t>Cohesiveness, Performance Norms, and Group Performance</a:t>
            </a:r>
          </a:p>
        </p:txBody>
      </p:sp>
      <p:pic>
        <p:nvPicPr>
          <p:cNvPr id="7" name="Picture 6" descr="A matrix depicting how cohesiveness and performance norms affect group performance.">
            <a:extLst>
              <a:ext uri="{FF2B5EF4-FFF2-40B4-BE49-F238E27FC236}">
                <a16:creationId xmlns:a16="http://schemas.microsoft.com/office/drawing/2014/main" id="{364A16AE-E62E-48BD-8A26-74E52C8673F4}"/>
              </a:ext>
            </a:extLst>
          </p:cNvPr>
          <p:cNvPicPr>
            <a:picLocks noChangeAspect="1"/>
          </p:cNvPicPr>
          <p:nvPr/>
        </p:nvPicPr>
        <p:blipFill>
          <a:blip r:embed="rId3"/>
          <a:stretch>
            <a:fillRect/>
          </a:stretch>
        </p:blipFill>
        <p:spPr>
          <a:xfrm>
            <a:off x="342901" y="1203158"/>
            <a:ext cx="8367962" cy="4957010"/>
          </a:xfrm>
          <a:prstGeom prst="rect">
            <a:avLst/>
          </a:prstGeom>
        </p:spPr>
      </p:pic>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356347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6D3B-C700-4416-BBA9-4F4AB048C060}"/>
              </a:ext>
            </a:extLst>
          </p:cNvPr>
          <p:cNvSpPr>
            <a:spLocks noGrp="1"/>
          </p:cNvSpPr>
          <p:nvPr>
            <p:ph type="title"/>
          </p:nvPr>
        </p:nvSpPr>
        <p:spPr>
          <a:solidFill>
            <a:srgbClr val="FFC000"/>
          </a:solidFill>
        </p:spPr>
        <p:txBody>
          <a:bodyPr>
            <a:normAutofit fontScale="90000"/>
          </a:bodyPr>
          <a:lstStyle/>
          <a:p>
            <a:pPr algn="ctr"/>
            <a:r>
              <a:rPr lang="en-US" noProof="0" dirty="0"/>
              <a:t>Building Cohesiveness and</a:t>
            </a:r>
            <a:br>
              <a:rPr lang="en-US" noProof="0" dirty="0"/>
            </a:br>
            <a:r>
              <a:rPr lang="en-US" noProof="0" dirty="0"/>
              <a:t>High-Performance Norms</a:t>
            </a:r>
          </a:p>
        </p:txBody>
      </p:sp>
      <p:sp>
        <p:nvSpPr>
          <p:cNvPr id="3" name="Content Placeholder 2">
            <a:extLst>
              <a:ext uri="{FF2B5EF4-FFF2-40B4-BE49-F238E27FC236}">
                <a16:creationId xmlns:a16="http://schemas.microsoft.com/office/drawing/2014/main" id="{3E0B93CD-B4D5-46D4-A2D4-E1EBED02E7C8}"/>
              </a:ext>
            </a:extLst>
          </p:cNvPr>
          <p:cNvSpPr>
            <a:spLocks noGrp="1"/>
          </p:cNvSpPr>
          <p:nvPr>
            <p:ph sz="quarter" idx="11"/>
          </p:nvPr>
        </p:nvSpPr>
        <p:spPr/>
        <p:txBody>
          <a:bodyPr/>
          <a:lstStyle/>
          <a:p>
            <a:pPr marL="402336" indent="-402336">
              <a:buFont typeface="+mj-lt"/>
              <a:buAutoNum type="arabicPeriod"/>
            </a:pPr>
            <a:r>
              <a:rPr lang="en-US" noProof="0" dirty="0"/>
              <a:t>Recruit members with similar attitudes, values, and backgrounds.</a:t>
            </a:r>
          </a:p>
          <a:p>
            <a:pPr marL="402336" indent="-402336">
              <a:buFont typeface="+mj-lt"/>
              <a:buAutoNum type="arabicPeriod"/>
            </a:pPr>
            <a:r>
              <a:rPr lang="en-US" noProof="0" dirty="0"/>
              <a:t>Maintain high entrance and socialization standards.</a:t>
            </a:r>
          </a:p>
          <a:p>
            <a:pPr marL="402336" indent="-402336">
              <a:buFont typeface="+mj-lt"/>
              <a:buAutoNum type="arabicPeriod"/>
            </a:pPr>
            <a:r>
              <a:rPr lang="en-US" noProof="0" dirty="0"/>
              <a:t>Foster and practice empathy.</a:t>
            </a:r>
          </a:p>
          <a:p>
            <a:pPr marL="402336" indent="-402336">
              <a:buFont typeface="+mj-lt"/>
              <a:buAutoNum type="arabicPeriod"/>
            </a:pPr>
            <a:r>
              <a:rPr lang="en-US" noProof="0" dirty="0"/>
              <a:t>Keep the team small.</a:t>
            </a:r>
          </a:p>
          <a:p>
            <a:pPr marL="402336" indent="-402336">
              <a:buFont typeface="+mj-lt"/>
              <a:buAutoNum type="arabicPeriod"/>
            </a:pPr>
            <a:r>
              <a:rPr lang="en-US" noProof="0" dirty="0"/>
              <a:t>Help the team succeed and publicize its successes.</a:t>
            </a:r>
          </a:p>
          <a:p>
            <a:pPr marL="402336" indent="-402336">
              <a:buFont typeface="+mj-lt"/>
              <a:buAutoNum type="arabicPeriod"/>
            </a:pPr>
            <a:r>
              <a:rPr lang="en-US" noProof="0" dirty="0"/>
              <a:t>Be a participative leader.</a:t>
            </a:r>
          </a:p>
          <a:p>
            <a:pPr marL="402336" indent="-402336">
              <a:buFont typeface="+mj-lt"/>
              <a:buAutoNum type="arabicPeriod"/>
            </a:pPr>
            <a:r>
              <a:rPr lang="en-US" noProof="0" dirty="0"/>
              <a:t>Present a challenge from outside the team.</a:t>
            </a:r>
          </a:p>
          <a:p>
            <a:pPr marL="402336" indent="-402336">
              <a:buFont typeface="+mj-lt"/>
              <a:buAutoNum type="arabicPeriod"/>
            </a:pPr>
            <a:r>
              <a:rPr lang="en-US" noProof="0" dirty="0"/>
              <a:t>Tie rewards to team performance.</a:t>
            </a:r>
          </a:p>
        </p:txBody>
      </p:sp>
      <p:sp>
        <p:nvSpPr>
          <p:cNvPr id="6" name="Slide Number Placeholder 5">
            <a:extLst>
              <a:ext uri="{FF2B5EF4-FFF2-40B4-BE49-F238E27FC236}">
                <a16:creationId xmlns:a16="http://schemas.microsoft.com/office/drawing/2014/main" id="{43C79B0B-9CFD-473B-A994-2850F8707933}"/>
              </a:ext>
            </a:extLst>
          </p:cNvPr>
          <p:cNvSpPr>
            <a:spLocks noGrp="1"/>
          </p:cNvSpPr>
          <p:nvPr>
            <p:ph type="sldNum" sz="quarter" idx="10"/>
          </p:nvPr>
        </p:nvSpPr>
        <p:spPr/>
        <p:txBody>
          <a:bodyPr/>
          <a:lstStyle/>
          <a:p>
            <a:fld id="{68151E55-6873-49E2-B8D5-2F265E6F1973}" type="slidenum">
              <a:rPr lang="en-US" smtClean="0"/>
              <a:t>19</a:t>
            </a:fld>
            <a:endParaRPr lang="en-US" dirty="0"/>
          </a:p>
        </p:txBody>
      </p:sp>
      <mc:AlternateContent xmlns:mc="http://schemas.openxmlformats.org/markup-compatibility/2006">
        <mc:Choice xmlns:am3d="http://schemas.microsoft.com/office/drawing/2017/model3d" Requires="am3d">
          <p:graphicFrame>
            <p:nvGraphicFramePr>
              <p:cNvPr id="4" name="3D Model 3" descr="American Football Ball">
                <a:extLst>
                  <a:ext uri="{FF2B5EF4-FFF2-40B4-BE49-F238E27FC236}">
                    <a16:creationId xmlns:a16="http://schemas.microsoft.com/office/drawing/2014/main" id="{0B973E99-FD38-268C-EC69-174973C03C18}"/>
                  </a:ext>
                </a:extLst>
              </p:cNvPr>
              <p:cNvGraphicFramePr>
                <a:graphicFrameLocks noChangeAspect="1"/>
              </p:cNvGraphicFramePr>
              <p:nvPr>
                <p:extLst>
                  <p:ext uri="{D42A27DB-BD31-4B8C-83A1-F6EECF244321}">
                    <p14:modId xmlns:p14="http://schemas.microsoft.com/office/powerpoint/2010/main" val="3207547524"/>
                  </p:ext>
                </p:extLst>
              </p:nvPr>
            </p:nvGraphicFramePr>
            <p:xfrm>
              <a:off x="6488297" y="4234660"/>
              <a:ext cx="2398023" cy="1884161"/>
            </p:xfrm>
            <a:graphic>
              <a:graphicData uri="http://schemas.microsoft.com/office/drawing/2017/model3d">
                <am3d:model3d r:embed="rId3">
                  <am3d:spPr>
                    <a:xfrm>
                      <a:off x="0" y="0"/>
                      <a:ext cx="2398023" cy="1884161"/>
                    </a:xfrm>
                    <a:prstGeom prst="rect">
                      <a:avLst/>
                    </a:prstGeom>
                  </am3d:spPr>
                  <am3d:camera>
                    <am3d:pos x="0" y="0" z="59374344"/>
                    <am3d:up dx="0" dy="36000000" dz="0"/>
                    <am3d:lookAt x="0" y="0" z="0"/>
                    <am3d:perspective fov="2700000"/>
                  </am3d:camera>
                  <am3d:trans>
                    <am3d:meterPerModelUnit n="14060" d="1000000"/>
                    <am3d:preTrans dx="0" dy="78" dz="0"/>
                    <am3d:scale>
                      <am3d:sx n="1000000" d="1000000"/>
                      <am3d:sy n="1000000" d="1000000"/>
                      <am3d:sz n="1000000" d="1000000"/>
                    </am3d:scale>
                    <am3d:rot ax="3928061" ay="-1636178" az="-2706619"/>
                    <am3d:postTrans dx="0" dy="0" dz="0"/>
                  </am3d:trans>
                  <am3d:raster rName="Office3DRenderer" rVer="16.0.8326">
                    <am3d:blip r:embed="rId4"/>
                  </am3d:raster>
                  <am3d:objViewport viewportSz="350187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American Football Ball">
                <a:extLst>
                  <a:ext uri="{FF2B5EF4-FFF2-40B4-BE49-F238E27FC236}">
                    <a16:creationId xmlns:a16="http://schemas.microsoft.com/office/drawing/2014/main" id="{0B973E99-FD38-268C-EC69-174973C03C18}"/>
                  </a:ext>
                </a:extLst>
              </p:cNvPr>
              <p:cNvPicPr>
                <a:picLocks noGrp="1" noRot="1" noChangeAspect="1" noMove="1" noResize="1" noEditPoints="1" noAdjustHandles="1" noChangeArrowheads="1" noChangeShapeType="1" noCrop="1"/>
              </p:cNvPicPr>
              <p:nvPr/>
            </p:nvPicPr>
            <p:blipFill>
              <a:blip r:embed="rId4"/>
              <a:stretch>
                <a:fillRect/>
              </a:stretch>
            </p:blipFill>
            <p:spPr>
              <a:xfrm>
                <a:off x="6488297" y="4234660"/>
                <a:ext cx="2398023" cy="1884161"/>
              </a:xfrm>
              <a:prstGeom prst="rect">
                <a:avLst/>
              </a:prstGeom>
            </p:spPr>
          </p:pic>
        </mc:Fallback>
      </mc:AlternateContent>
      <p:pic>
        <p:nvPicPr>
          <p:cNvPr id="5" name="Picture 4">
            <a:extLst>
              <a:ext uri="{FF2B5EF4-FFF2-40B4-BE49-F238E27FC236}">
                <a16:creationId xmlns:a16="http://schemas.microsoft.com/office/drawing/2014/main" id="{6C47B01F-0152-9186-739C-CC4230AB8685}"/>
              </a:ext>
            </a:extLst>
          </p:cNvPr>
          <p:cNvPicPr>
            <a:picLocks noChangeAspect="1"/>
          </p:cNvPicPr>
          <p:nvPr/>
        </p:nvPicPr>
        <p:blipFill>
          <a:blip r:embed="rId5"/>
          <a:stretch>
            <a:fillRect/>
          </a:stretch>
        </p:blipFill>
        <p:spPr>
          <a:xfrm>
            <a:off x="8001000" y="2566302"/>
            <a:ext cx="842710" cy="842710"/>
          </a:xfrm>
          <a:prstGeom prst="rect">
            <a:avLst/>
          </a:prstGeom>
        </p:spPr>
      </p:pic>
    </p:spTree>
    <p:extLst>
      <p:ext uri="{BB962C8B-B14F-4D97-AF65-F5344CB8AC3E}">
        <p14:creationId xmlns:p14="http://schemas.microsoft.com/office/powerpoint/2010/main" val="1366538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0A2F-05F4-4D7E-A838-918E6AEC51C1}"/>
              </a:ext>
            </a:extLst>
          </p:cNvPr>
          <p:cNvSpPr>
            <a:spLocks noGrp="1"/>
          </p:cNvSpPr>
          <p:nvPr>
            <p:ph type="title"/>
          </p:nvPr>
        </p:nvSpPr>
        <p:spPr>
          <a:solidFill>
            <a:srgbClr val="FFC000"/>
          </a:solidFill>
        </p:spPr>
        <p:txBody>
          <a:bodyPr/>
          <a:lstStyle/>
          <a:p>
            <a:pPr algn="ctr"/>
            <a:r>
              <a:rPr lang="en-US" noProof="0" dirty="0"/>
              <a:t>Lateral Role Relationships</a:t>
            </a:r>
          </a:p>
        </p:txBody>
      </p:sp>
      <p:sp>
        <p:nvSpPr>
          <p:cNvPr id="3" name="Content Placeholder 2">
            <a:extLst>
              <a:ext uri="{FF2B5EF4-FFF2-40B4-BE49-F238E27FC236}">
                <a16:creationId xmlns:a16="http://schemas.microsoft.com/office/drawing/2014/main" id="{899C83F8-88D0-4896-95B8-AE6E092323F8}"/>
              </a:ext>
            </a:extLst>
          </p:cNvPr>
          <p:cNvSpPr>
            <a:spLocks noGrp="1"/>
          </p:cNvSpPr>
          <p:nvPr>
            <p:ph sz="quarter" idx="11"/>
          </p:nvPr>
        </p:nvSpPr>
        <p:spPr>
          <a:xfrm>
            <a:off x="342900" y="1276709"/>
            <a:ext cx="8458200" cy="5139331"/>
          </a:xfrm>
          <a:ln>
            <a:solidFill>
              <a:schemeClr val="accent1"/>
            </a:solidFill>
          </a:ln>
        </p:spPr>
        <p:txBody>
          <a:bodyPr/>
          <a:lstStyle/>
          <a:p>
            <a:r>
              <a:rPr lang="en-US" b="1" i="1" noProof="0" dirty="0">
                <a:solidFill>
                  <a:srgbClr val="FF0000"/>
                </a:solidFill>
              </a:rPr>
              <a:t>Workflow relationships </a:t>
            </a:r>
            <a:r>
              <a:rPr lang="en-US" noProof="0" dirty="0"/>
              <a:t>emerge as materials are passed from one group to another. </a:t>
            </a:r>
          </a:p>
          <a:p>
            <a:r>
              <a:rPr lang="en-US" b="1" i="1" noProof="0" dirty="0">
                <a:solidFill>
                  <a:srgbClr val="FF0000"/>
                </a:solidFill>
              </a:rPr>
              <a:t>Service relationships </a:t>
            </a:r>
            <a:r>
              <a:rPr lang="en-US" noProof="0" dirty="0"/>
              <a:t>exist when top management centralizes an activity to which a large number of other units must gain access.</a:t>
            </a:r>
          </a:p>
          <a:p>
            <a:r>
              <a:rPr lang="en-US" b="1" i="1" noProof="0" dirty="0">
                <a:solidFill>
                  <a:srgbClr val="FF0000"/>
                </a:solidFill>
              </a:rPr>
              <a:t>Advisory relationships </a:t>
            </a:r>
            <a:r>
              <a:rPr lang="en-US" noProof="0" dirty="0"/>
              <a:t>are created when teams with problems call on centralized sources of expert knowledge. </a:t>
            </a:r>
          </a:p>
          <a:p>
            <a:r>
              <a:rPr lang="en-US" b="1" i="1" noProof="0" dirty="0">
                <a:solidFill>
                  <a:srgbClr val="FF0000"/>
                </a:solidFill>
              </a:rPr>
              <a:t>Audit relationships </a:t>
            </a:r>
            <a:r>
              <a:rPr lang="en-US" noProof="0" dirty="0"/>
              <a:t>develop when people not directly in the chain of command evaluate the methods and performances of other teams.</a:t>
            </a:r>
          </a:p>
          <a:p>
            <a:r>
              <a:rPr lang="en-US" b="1" i="1" noProof="0" dirty="0">
                <a:solidFill>
                  <a:srgbClr val="FF0000"/>
                </a:solidFill>
              </a:rPr>
              <a:t>Stabilization relationships</a:t>
            </a:r>
            <a:r>
              <a:rPr lang="en-US" i="1" noProof="0" dirty="0"/>
              <a:t> </a:t>
            </a:r>
            <a:r>
              <a:rPr lang="en-US" noProof="0" dirty="0"/>
              <a:t>involve auditing before the fact.</a:t>
            </a:r>
          </a:p>
          <a:p>
            <a:r>
              <a:rPr lang="en-US" i="1" noProof="0" dirty="0"/>
              <a:t>Liaison relationships </a:t>
            </a:r>
            <a:r>
              <a:rPr lang="en-US" noProof="0" dirty="0"/>
              <a:t>involve intermediaries between teams.</a:t>
            </a:r>
          </a:p>
        </p:txBody>
      </p:sp>
      <p:sp>
        <p:nvSpPr>
          <p:cNvPr id="6" name="Slide Number Placeholder 5">
            <a:extLst>
              <a:ext uri="{FF2B5EF4-FFF2-40B4-BE49-F238E27FC236}">
                <a16:creationId xmlns:a16="http://schemas.microsoft.com/office/drawing/2014/main" id="{6ED5CFF2-1EC2-440E-9CFA-E0BD849D13CF}"/>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1677334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3861E-99ED-4871-A572-2B508DBD2935}"/>
              </a:ext>
            </a:extLst>
          </p:cNvPr>
          <p:cNvSpPr>
            <a:spLocks noGrp="1"/>
          </p:cNvSpPr>
          <p:nvPr>
            <p:ph type="title"/>
          </p:nvPr>
        </p:nvSpPr>
        <p:spPr>
          <a:solidFill>
            <a:srgbClr val="FFC000"/>
          </a:solidFill>
        </p:spPr>
        <p:txBody>
          <a:bodyPr/>
          <a:lstStyle/>
          <a:p>
            <a:pPr algn="ctr"/>
            <a:r>
              <a:rPr lang="en-US" noProof="0" dirty="0"/>
              <a:t>Managing Conflict</a:t>
            </a:r>
          </a:p>
        </p:txBody>
      </p:sp>
      <p:sp>
        <p:nvSpPr>
          <p:cNvPr id="3" name="Content Placeholder 2">
            <a:extLst>
              <a:ext uri="{FF2B5EF4-FFF2-40B4-BE49-F238E27FC236}">
                <a16:creationId xmlns:a16="http://schemas.microsoft.com/office/drawing/2014/main" id="{FEDA5CC7-33B7-45EF-9CA2-4714C57CD77A}"/>
              </a:ext>
            </a:extLst>
          </p:cNvPr>
          <p:cNvSpPr>
            <a:spLocks noGrp="1"/>
          </p:cNvSpPr>
          <p:nvPr>
            <p:ph sz="quarter" idx="11"/>
          </p:nvPr>
        </p:nvSpPr>
        <p:spPr>
          <a:xfrm>
            <a:off x="342899" y="1276710"/>
            <a:ext cx="7754353" cy="506370"/>
          </a:xfrm>
        </p:spPr>
        <p:txBody>
          <a:bodyPr/>
          <a:lstStyle/>
          <a:p>
            <a:r>
              <a:rPr lang="en-US" noProof="0" dirty="0"/>
              <a:t>Conflict can be:</a:t>
            </a:r>
          </a:p>
        </p:txBody>
      </p:sp>
      <p:sp>
        <p:nvSpPr>
          <p:cNvPr id="4" name="Content Placeholder 3">
            <a:extLst>
              <a:ext uri="{FF2B5EF4-FFF2-40B4-BE49-F238E27FC236}">
                <a16:creationId xmlns:a16="http://schemas.microsoft.com/office/drawing/2014/main" id="{8F354FB5-335C-4612-B203-B1A48B77A63E}"/>
              </a:ext>
            </a:extLst>
          </p:cNvPr>
          <p:cNvSpPr>
            <a:spLocks noGrp="1"/>
          </p:cNvSpPr>
          <p:nvPr>
            <p:ph sz="quarter" idx="14"/>
          </p:nvPr>
        </p:nvSpPr>
        <p:spPr>
          <a:xfrm>
            <a:off x="1798722" y="1843238"/>
            <a:ext cx="6545580" cy="1558148"/>
          </a:xfrm>
        </p:spPr>
        <p:txBody>
          <a:bodyPr/>
          <a:lstStyle/>
          <a:p>
            <a:pPr marL="342900" indent="-342900">
              <a:buFont typeface="Arial" panose="020B0604020202020204" pitchFamily="34" charset="0"/>
              <a:buChar char="•"/>
            </a:pPr>
            <a:r>
              <a:rPr lang="en-US" dirty="0"/>
              <a:t>Healthy or Unhealthy.</a:t>
            </a:r>
          </a:p>
          <a:p>
            <a:pPr marL="342900" indent="-342900">
              <a:buFont typeface="Arial" panose="020B0604020202020204" pitchFamily="34" charset="0"/>
              <a:buChar char="•"/>
            </a:pPr>
            <a:r>
              <a:rPr lang="en-US" dirty="0"/>
              <a:t>P</a:t>
            </a:r>
            <a:r>
              <a:rPr lang="en-US" noProof="0" dirty="0" err="1"/>
              <a:t>roductive</a:t>
            </a:r>
            <a:r>
              <a:rPr lang="en-US" noProof="0" dirty="0"/>
              <a:t> or Unproductive</a:t>
            </a:r>
          </a:p>
          <a:p>
            <a:pPr marL="342900" indent="-342900">
              <a:buFont typeface="Arial" panose="020B0604020202020204" pitchFamily="34" charset="0"/>
              <a:buChar char="•"/>
            </a:pPr>
            <a:r>
              <a:rPr lang="en-US" dirty="0"/>
              <a:t>F</a:t>
            </a:r>
            <a:r>
              <a:rPr lang="en-US" noProof="0" dirty="0" err="1"/>
              <a:t>oster</a:t>
            </a:r>
            <a:r>
              <a:rPr lang="en-US" noProof="0" dirty="0"/>
              <a:t> creativity or not.</a:t>
            </a:r>
          </a:p>
        </p:txBody>
      </p:sp>
      <p:sp>
        <p:nvSpPr>
          <p:cNvPr id="5" name="Content Placeholder 4">
            <a:extLst>
              <a:ext uri="{FF2B5EF4-FFF2-40B4-BE49-F238E27FC236}">
                <a16:creationId xmlns:a16="http://schemas.microsoft.com/office/drawing/2014/main" id="{B6F5BC65-CE06-4131-894E-DCA5C3847E88}"/>
              </a:ext>
            </a:extLst>
          </p:cNvPr>
          <p:cNvSpPr>
            <a:spLocks noGrp="1"/>
          </p:cNvSpPr>
          <p:nvPr>
            <p:ph sz="quarter" idx="15"/>
          </p:nvPr>
        </p:nvSpPr>
        <p:spPr>
          <a:xfrm>
            <a:off x="168212" y="3774548"/>
            <a:ext cx="8975788" cy="2849906"/>
          </a:xfrm>
        </p:spPr>
        <p:txBody>
          <a:bodyPr/>
          <a:lstStyle/>
          <a:p>
            <a:pPr marL="457200" indent="-457200">
              <a:buFont typeface="Arial" panose="020B0604020202020204" pitchFamily="34" charset="0"/>
              <a:buChar char="•"/>
            </a:pPr>
            <a:r>
              <a:rPr lang="en-US" sz="3200" noProof="0" dirty="0">
                <a:solidFill>
                  <a:srgbClr val="FF0000"/>
                </a:solidFill>
              </a:rPr>
              <a:t>Ambiguities</a:t>
            </a:r>
          </a:p>
          <a:p>
            <a:pPr marL="457200" indent="-457200">
              <a:buFont typeface="Arial" panose="020B0604020202020204" pitchFamily="34" charset="0"/>
              <a:buChar char="•"/>
            </a:pPr>
            <a:r>
              <a:rPr lang="en-US" sz="3200" noProof="0" dirty="0">
                <a:solidFill>
                  <a:srgbClr val="FF0000"/>
                </a:solidFill>
              </a:rPr>
              <a:t>Competition</a:t>
            </a:r>
          </a:p>
          <a:p>
            <a:pPr marL="457200" indent="-457200">
              <a:buFont typeface="Arial" panose="020B0604020202020204" pitchFamily="34" charset="0"/>
              <a:buChar char="•"/>
            </a:pPr>
            <a:r>
              <a:rPr lang="en-US" sz="3200" dirty="0">
                <a:solidFill>
                  <a:srgbClr val="FF0000"/>
                </a:solidFill>
              </a:rPr>
              <a:t>D</a:t>
            </a:r>
            <a:r>
              <a:rPr lang="en-US" sz="3200" noProof="0" dirty="0" err="1">
                <a:solidFill>
                  <a:srgbClr val="FF0000"/>
                </a:solidFill>
              </a:rPr>
              <a:t>ifferent</a:t>
            </a:r>
            <a:r>
              <a:rPr lang="en-US" sz="3200" noProof="0" dirty="0">
                <a:solidFill>
                  <a:srgbClr val="FF0000"/>
                </a:solidFill>
              </a:rPr>
              <a:t> perspectives,</a:t>
            </a:r>
          </a:p>
          <a:p>
            <a:r>
              <a:rPr lang="en-US" sz="3200" dirty="0">
                <a:solidFill>
                  <a:srgbClr val="FF0000"/>
                </a:solidFill>
              </a:rPr>
              <a:t>		</a:t>
            </a:r>
            <a:r>
              <a:rPr lang="en-US" sz="3200" b="1" noProof="0" dirty="0">
                <a:solidFill>
                  <a:srgbClr val="FF0000"/>
                </a:solidFill>
              </a:rPr>
              <a:t>can all lead to destructive conflict.</a:t>
            </a:r>
          </a:p>
        </p:txBody>
      </p:sp>
      <p:sp>
        <p:nvSpPr>
          <p:cNvPr id="11" name="Slide Number Placeholder 10">
            <a:extLst>
              <a:ext uri="{FF2B5EF4-FFF2-40B4-BE49-F238E27FC236}">
                <a16:creationId xmlns:a16="http://schemas.microsoft.com/office/drawing/2014/main" id="{70FB65FF-3DF3-4385-9F91-44C88169681D}"/>
              </a:ext>
            </a:extLst>
          </p:cNvPr>
          <p:cNvSpPr>
            <a:spLocks noGrp="1"/>
          </p:cNvSpPr>
          <p:nvPr>
            <p:ph type="sldNum" sz="quarter" idx="10"/>
          </p:nvPr>
        </p:nvSpPr>
        <p:spPr/>
        <p:txBody>
          <a:bodyPr/>
          <a:lstStyle/>
          <a:p>
            <a:fld id="{68151E55-6873-49E2-B8D5-2F265E6F1973}" type="slidenum">
              <a:rPr lang="en-US" smtClean="0"/>
              <a:t>21</a:t>
            </a:fld>
            <a:endParaRPr lang="en-US" dirty="0"/>
          </a:p>
        </p:txBody>
      </p:sp>
      <p:pic>
        <p:nvPicPr>
          <p:cNvPr id="7" name="Graphic 6" descr="Monster with solid fill">
            <a:extLst>
              <a:ext uri="{FF2B5EF4-FFF2-40B4-BE49-F238E27FC236}">
                <a16:creationId xmlns:a16="http://schemas.microsoft.com/office/drawing/2014/main" id="{4C94E4D6-63F9-5CBB-02AA-42FE7470A9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28384" y="3046132"/>
            <a:ext cx="2668867" cy="2668867"/>
          </a:xfrm>
          <a:prstGeom prst="rect">
            <a:avLst/>
          </a:prstGeom>
        </p:spPr>
      </p:pic>
    </p:spTree>
    <p:extLst>
      <p:ext uri="{BB962C8B-B14F-4D97-AF65-F5344CB8AC3E}">
        <p14:creationId xmlns:p14="http://schemas.microsoft.com/office/powerpoint/2010/main" val="4091929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a:solidFill>
            <a:srgbClr val="FFC000"/>
          </a:solidFill>
        </p:spPr>
        <p:txBody>
          <a:bodyPr>
            <a:normAutofit/>
          </a:bodyPr>
          <a:lstStyle/>
          <a:p>
            <a:pPr algn="ctr"/>
            <a:r>
              <a:rPr lang="en-US" sz="1100" noProof="0" dirty="0"/>
              <a:t>Exhibit 14.4 </a:t>
            </a:r>
            <a:r>
              <a:rPr lang="en-US" noProof="0" dirty="0"/>
              <a:t>Conflict Management Strategies</a:t>
            </a:r>
          </a:p>
        </p:txBody>
      </p:sp>
      <p:pic>
        <p:nvPicPr>
          <p:cNvPr id="7" name="Picture 6" descr="A graphic depicts the conflict management strategies to use based on levels of assertiveness and cooperation.">
            <a:extLst>
              <a:ext uri="{FF2B5EF4-FFF2-40B4-BE49-F238E27FC236}">
                <a16:creationId xmlns:a16="http://schemas.microsoft.com/office/drawing/2014/main" id="{D4B11125-8352-407D-966C-F20F510F9B33}"/>
              </a:ext>
            </a:extLst>
          </p:cNvPr>
          <p:cNvPicPr>
            <a:picLocks noChangeAspect="1"/>
          </p:cNvPicPr>
          <p:nvPr/>
        </p:nvPicPr>
        <p:blipFill>
          <a:blip r:embed="rId3"/>
          <a:stretch>
            <a:fillRect/>
          </a:stretch>
        </p:blipFill>
        <p:spPr>
          <a:xfrm>
            <a:off x="342901" y="1054665"/>
            <a:ext cx="8254742" cy="5143069"/>
          </a:xfrm>
          <a:prstGeom prst="rect">
            <a:avLst/>
          </a:prstGeom>
        </p:spPr>
      </p:pic>
      <p:sp>
        <p:nvSpPr>
          <p:cNvPr id="3" name="Content Placeholder 2">
            <a:extLst>
              <a:ext uri="{FF2B5EF4-FFF2-40B4-BE49-F238E27FC236}">
                <a16:creationId xmlns:a16="http://schemas.microsoft.com/office/drawing/2014/main" id="{BA2026F5-4ADA-42F0-8D78-1EC287E906D9}"/>
              </a:ext>
            </a:extLst>
          </p:cNvPr>
          <p:cNvSpPr>
            <a:spLocks noGrp="1"/>
          </p:cNvSpPr>
          <p:nvPr>
            <p:ph sz="quarter" idx="11"/>
          </p:nvPr>
        </p:nvSpPr>
        <p:spPr>
          <a:xfrm>
            <a:off x="342900" y="6197734"/>
            <a:ext cx="8458200" cy="426720"/>
          </a:xfrm>
        </p:spPr>
        <p:txBody>
          <a:bodyPr/>
          <a:lstStyle/>
          <a:p>
            <a:r>
              <a:rPr lang="en-US" sz="1200" noProof="0" dirty="0"/>
              <a:t>SOURCE: K. Thomas, “Conflict and Conflict Management,” in </a:t>
            </a:r>
            <a:r>
              <a:rPr lang="en-US" sz="1200" i="1" noProof="0" dirty="0"/>
              <a:t>Handbook of Industrial and Organizational Psychology, </a:t>
            </a:r>
            <a:r>
              <a:rPr lang="en-US" sz="1200" noProof="0" dirty="0"/>
              <a:t>ed. M. D. </a:t>
            </a:r>
            <a:r>
              <a:rPr lang="en-US" sz="1200" noProof="0" dirty="0" err="1"/>
              <a:t>Dunnette</a:t>
            </a:r>
            <a:r>
              <a:rPr lang="en-US" sz="1200" noProof="0" dirty="0"/>
              <a:t> (Chicago: Rand McNally, 19</a:t>
            </a:r>
            <a:r>
              <a:rPr lang="en-US" sz="100" noProof="0" dirty="0"/>
              <a:t> </a:t>
            </a:r>
            <a:r>
              <a:rPr lang="en-US" sz="1200" noProof="0" dirty="0"/>
              <a:t>76). </a:t>
            </a:r>
          </a:p>
        </p:txBody>
      </p:sp>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2007804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A1F2-146E-4BCC-AF09-F5C21C0BDE05}"/>
              </a:ext>
            </a:extLst>
          </p:cNvPr>
          <p:cNvSpPr>
            <a:spLocks noGrp="1"/>
          </p:cNvSpPr>
          <p:nvPr>
            <p:ph type="title"/>
          </p:nvPr>
        </p:nvSpPr>
        <p:spPr>
          <a:solidFill>
            <a:srgbClr val="FFC000"/>
          </a:solidFill>
        </p:spPr>
        <p:txBody>
          <a:bodyPr/>
          <a:lstStyle/>
          <a:p>
            <a:pPr algn="ctr"/>
            <a:r>
              <a:rPr lang="en-US" noProof="0" dirty="0"/>
              <a:t>Virtual and E-conflict</a:t>
            </a:r>
          </a:p>
        </p:txBody>
      </p:sp>
      <p:sp>
        <p:nvSpPr>
          <p:cNvPr id="3" name="Content Placeholder 2">
            <a:extLst>
              <a:ext uri="{FF2B5EF4-FFF2-40B4-BE49-F238E27FC236}">
                <a16:creationId xmlns:a16="http://schemas.microsoft.com/office/drawing/2014/main" id="{579DD421-DA97-4089-8109-FBE0344B1E69}"/>
              </a:ext>
            </a:extLst>
          </p:cNvPr>
          <p:cNvSpPr>
            <a:spLocks noGrp="1"/>
          </p:cNvSpPr>
          <p:nvPr>
            <p:ph sz="quarter" idx="11"/>
          </p:nvPr>
        </p:nvSpPr>
        <p:spPr/>
        <p:txBody>
          <a:bodyPr/>
          <a:lstStyle/>
          <a:p>
            <a:pPr algn="ctr"/>
            <a:r>
              <a:rPr lang="en-US" b="1" noProof="0" dirty="0">
                <a:solidFill>
                  <a:srgbClr val="FF0000"/>
                </a:solidFill>
              </a:rPr>
              <a:t>When teams are geographically dispersed:</a:t>
            </a:r>
          </a:p>
          <a:p>
            <a:pPr algn="ctr"/>
            <a:r>
              <a:rPr lang="en-US" b="1" noProof="0" dirty="0">
                <a:solidFill>
                  <a:srgbClr val="FF0000"/>
                </a:solidFill>
              </a:rPr>
              <a:t>often the case for virtual teams</a:t>
            </a:r>
          </a:p>
          <a:p>
            <a:r>
              <a:rPr lang="en-US" dirty="0"/>
              <a:t>T</a:t>
            </a:r>
            <a:r>
              <a:rPr lang="en-US" noProof="0" dirty="0" err="1"/>
              <a:t>eam</a:t>
            </a:r>
            <a:r>
              <a:rPr lang="en-US" noProof="0" dirty="0"/>
              <a:t> members tend to experience:</a:t>
            </a:r>
          </a:p>
          <a:p>
            <a:pPr marL="3771900" lvl="7" indent="-342900"/>
            <a:r>
              <a:rPr lang="en-US" sz="3600" noProof="0" dirty="0"/>
              <a:t>more conflict and</a:t>
            </a:r>
          </a:p>
          <a:p>
            <a:pPr marL="3771900" lvl="7" indent="-342900"/>
            <a:r>
              <a:rPr lang="en-US" sz="3600" noProof="0" dirty="0"/>
              <a:t>less trust.</a:t>
            </a:r>
          </a:p>
          <a:p>
            <a:r>
              <a:rPr lang="en-US" noProof="0" dirty="0"/>
              <a:t>To limit issues:</a:t>
            </a:r>
          </a:p>
          <a:p>
            <a:pPr lvl="1"/>
            <a:r>
              <a:rPr lang="en-US" noProof="0" dirty="0"/>
              <a:t>Monitor and reduce/eliminate negative issues.</a:t>
            </a:r>
          </a:p>
          <a:p>
            <a:pPr lvl="1"/>
            <a:r>
              <a:rPr lang="en-US" noProof="0" dirty="0"/>
              <a:t>Show a willingness to cooperate and</a:t>
            </a:r>
          </a:p>
          <a:p>
            <a:pPr lvl="1"/>
            <a:r>
              <a:rPr lang="en-US" dirty="0"/>
              <a:t>B</a:t>
            </a:r>
            <a:r>
              <a:rPr lang="en-US" noProof="0" dirty="0"/>
              <a:t>e cooperative.</a:t>
            </a:r>
          </a:p>
        </p:txBody>
      </p:sp>
      <p:sp>
        <p:nvSpPr>
          <p:cNvPr id="6" name="Slide Number Placeholder 5">
            <a:extLst>
              <a:ext uri="{FF2B5EF4-FFF2-40B4-BE49-F238E27FC236}">
                <a16:creationId xmlns:a16="http://schemas.microsoft.com/office/drawing/2014/main" id="{DFAF2D48-DAD0-4CD5-A3DC-8AF6890C6062}"/>
              </a:ext>
            </a:extLst>
          </p:cNvPr>
          <p:cNvSpPr>
            <a:spLocks noGrp="1"/>
          </p:cNvSpPr>
          <p:nvPr>
            <p:ph type="sldNum" sz="quarter" idx="10"/>
          </p:nvPr>
        </p:nvSpPr>
        <p:spPr/>
        <p:txBody>
          <a:bodyPr/>
          <a:lstStyle/>
          <a:p>
            <a:fld id="{68151E55-6873-49E2-B8D5-2F265E6F1973}" type="slidenum">
              <a:rPr lang="en-US" smtClean="0"/>
              <a:t>23</a:t>
            </a:fld>
            <a:endParaRPr lang="en-US" dirty="0"/>
          </a:p>
        </p:txBody>
      </p:sp>
      <mc:AlternateContent xmlns:mc="http://schemas.openxmlformats.org/markup-compatibility/2006">
        <mc:Choice xmlns:am3d="http://schemas.microsoft.com/office/drawing/2017/model3d" Requires="am3d">
          <p:graphicFrame>
            <p:nvGraphicFramePr>
              <p:cNvPr id="4" name="3D Model 3" descr="DJ character">
                <a:extLst>
                  <a:ext uri="{FF2B5EF4-FFF2-40B4-BE49-F238E27FC236}">
                    <a16:creationId xmlns:a16="http://schemas.microsoft.com/office/drawing/2014/main" id="{A00AC86B-663F-6C8B-6B05-E92564936BC9}"/>
                  </a:ext>
                </a:extLst>
              </p:cNvPr>
              <p:cNvGraphicFramePr>
                <a:graphicFrameLocks noChangeAspect="1"/>
              </p:cNvGraphicFramePr>
              <p:nvPr>
                <p:extLst>
                  <p:ext uri="{D42A27DB-BD31-4B8C-83A1-F6EECF244321}">
                    <p14:modId xmlns:p14="http://schemas.microsoft.com/office/powerpoint/2010/main" val="1744424585"/>
                  </p:ext>
                </p:extLst>
              </p:nvPr>
            </p:nvGraphicFramePr>
            <p:xfrm>
              <a:off x="6318911" y="4093030"/>
              <a:ext cx="2825089" cy="2067139"/>
            </p:xfrm>
            <a:graphic>
              <a:graphicData uri="http://schemas.microsoft.com/office/drawing/2017/model3d">
                <am3d:model3d r:embed="rId3">
                  <am3d:spPr>
                    <a:xfrm>
                      <a:off x="0" y="0"/>
                      <a:ext cx="2825089" cy="2067139"/>
                    </a:xfrm>
                    <a:prstGeom prst="rect">
                      <a:avLst/>
                    </a:prstGeom>
                  </am3d:spPr>
                  <am3d:camera>
                    <am3d:pos x="0" y="0" z="74386144"/>
                    <am3d:up dx="0" dy="36000000" dz="0"/>
                    <am3d:lookAt x="0" y="0" z="0"/>
                    <am3d:perspective fov="2700000"/>
                  </am3d:camera>
                  <am3d:trans>
                    <am3d:meterPerModelUnit n="7753847" d="1000000"/>
                    <am3d:preTrans dx="-4729429" dy="-15398355" dz="7345453"/>
                    <am3d:scale>
                      <am3d:sx n="1000000" d="1000000"/>
                      <am3d:sy n="1000000" d="1000000"/>
                      <am3d:sz n="1000000" d="1000000"/>
                    </am3d:scale>
                    <am3d:rot ax="-100463" ay="813520" az="-23556"/>
                    <am3d:postTrans dx="0" dy="0" dz="0"/>
                  </am3d:trans>
                  <am3d:raster rName="Office3DRenderer" rVer="16.0.8326">
                    <am3d:blip r:embed="rId4"/>
                  </am3d:raster>
                  <am3d:objViewport viewportSz="361749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DJ character">
                <a:extLst>
                  <a:ext uri="{FF2B5EF4-FFF2-40B4-BE49-F238E27FC236}">
                    <a16:creationId xmlns:a16="http://schemas.microsoft.com/office/drawing/2014/main" id="{A00AC86B-663F-6C8B-6B05-E92564936BC9}"/>
                  </a:ext>
                </a:extLst>
              </p:cNvPr>
              <p:cNvPicPr>
                <a:picLocks noGrp="1" noRot="1" noChangeAspect="1" noMove="1" noResize="1" noEditPoints="1" noAdjustHandles="1" noChangeArrowheads="1" noChangeShapeType="1" noCrop="1"/>
              </p:cNvPicPr>
              <p:nvPr/>
            </p:nvPicPr>
            <p:blipFill>
              <a:blip r:embed="rId4"/>
              <a:stretch>
                <a:fillRect/>
              </a:stretch>
            </p:blipFill>
            <p:spPr>
              <a:xfrm>
                <a:off x="6318911" y="4093030"/>
                <a:ext cx="2825089" cy="2067139"/>
              </a:xfrm>
              <a:prstGeom prst="rect">
                <a:avLst/>
              </a:prstGeom>
            </p:spPr>
          </p:pic>
        </mc:Fallback>
      </mc:AlternateContent>
    </p:spTree>
    <p:extLst>
      <p:ext uri="{BB962C8B-B14F-4D97-AF65-F5344CB8AC3E}">
        <p14:creationId xmlns:p14="http://schemas.microsoft.com/office/powerpoint/2010/main" val="2695561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C5C33-DE22-46E2-848D-346A6617A646}"/>
              </a:ext>
            </a:extLst>
          </p:cNvPr>
          <p:cNvSpPr>
            <a:spLocks noGrp="1"/>
          </p:cNvSpPr>
          <p:nvPr>
            <p:ph type="title"/>
          </p:nvPr>
        </p:nvSpPr>
        <p:spPr>
          <a:solidFill>
            <a:srgbClr val="FFC000"/>
          </a:solidFill>
        </p:spPr>
        <p:txBody>
          <a:bodyPr/>
          <a:lstStyle/>
          <a:p>
            <a:pPr algn="ctr"/>
            <a:r>
              <a:rPr lang="en-US" noProof="0" dirty="0"/>
              <a:t>Being a Mediator</a:t>
            </a:r>
          </a:p>
        </p:txBody>
      </p:sp>
      <p:sp>
        <p:nvSpPr>
          <p:cNvPr id="3" name="Content Placeholder 2">
            <a:extLst>
              <a:ext uri="{FF2B5EF4-FFF2-40B4-BE49-F238E27FC236}">
                <a16:creationId xmlns:a16="http://schemas.microsoft.com/office/drawing/2014/main" id="{A9E09B05-DC9D-406F-B081-A5BD527C3A91}"/>
              </a:ext>
            </a:extLst>
          </p:cNvPr>
          <p:cNvSpPr>
            <a:spLocks noGrp="1"/>
          </p:cNvSpPr>
          <p:nvPr>
            <p:ph sz="quarter" idx="11"/>
          </p:nvPr>
        </p:nvSpPr>
        <p:spPr>
          <a:xfrm>
            <a:off x="342900" y="1276710"/>
            <a:ext cx="8458200" cy="1268370"/>
          </a:xfrm>
        </p:spPr>
        <p:txBody>
          <a:bodyPr/>
          <a:lstStyle/>
          <a:p>
            <a:r>
              <a:rPr lang="en-US" b="1" noProof="0" dirty="0">
                <a:solidFill>
                  <a:srgbClr val="FF0000"/>
                </a:solidFill>
              </a:rPr>
              <a:t>Mediator:</a:t>
            </a:r>
          </a:p>
          <a:p>
            <a:pPr lvl="1"/>
            <a:r>
              <a:rPr lang="en-US" noProof="0" dirty="0"/>
              <a:t>third party who helps to manage conflict.</a:t>
            </a:r>
          </a:p>
        </p:txBody>
      </p:sp>
      <p:sp>
        <p:nvSpPr>
          <p:cNvPr id="4" name="Content Placeholder 3">
            <a:extLst>
              <a:ext uri="{FF2B5EF4-FFF2-40B4-BE49-F238E27FC236}">
                <a16:creationId xmlns:a16="http://schemas.microsoft.com/office/drawing/2014/main" id="{2882FF6E-39FB-4EEB-8192-1703C6E8B445}"/>
              </a:ext>
            </a:extLst>
          </p:cNvPr>
          <p:cNvSpPr>
            <a:spLocks noGrp="1"/>
          </p:cNvSpPr>
          <p:nvPr>
            <p:ph sz="quarter" idx="14"/>
          </p:nvPr>
        </p:nvSpPr>
        <p:spPr>
          <a:xfrm>
            <a:off x="342900" y="2745572"/>
            <a:ext cx="8458200" cy="487706"/>
          </a:xfrm>
        </p:spPr>
        <p:txBody>
          <a:bodyPr/>
          <a:lstStyle/>
          <a:p>
            <a:r>
              <a:rPr lang="en-US" noProof="0" dirty="0"/>
              <a:t>Four-stage model of dispute resolution:</a:t>
            </a:r>
          </a:p>
        </p:txBody>
      </p:sp>
      <p:sp>
        <p:nvSpPr>
          <p:cNvPr id="5" name="Content Placeholder 4">
            <a:extLst>
              <a:ext uri="{FF2B5EF4-FFF2-40B4-BE49-F238E27FC236}">
                <a16:creationId xmlns:a16="http://schemas.microsoft.com/office/drawing/2014/main" id="{31021D2D-3CD8-46B3-8C7A-F0A0E764EA2C}"/>
              </a:ext>
            </a:extLst>
          </p:cNvPr>
          <p:cNvSpPr>
            <a:spLocks noGrp="1"/>
          </p:cNvSpPr>
          <p:nvPr>
            <p:ph sz="quarter" idx="15"/>
          </p:nvPr>
        </p:nvSpPr>
        <p:spPr>
          <a:xfrm>
            <a:off x="2261937" y="3289849"/>
            <a:ext cx="3272590" cy="1998411"/>
          </a:xfrm>
        </p:spPr>
        <p:txBody>
          <a:bodyPr/>
          <a:lstStyle/>
          <a:p>
            <a:pPr marL="402336" indent="-402336">
              <a:buFont typeface="+mj-lt"/>
              <a:buAutoNum type="arabicPeriod"/>
              <a:defRPr/>
            </a:pPr>
            <a:r>
              <a:rPr lang="en-US" noProof="0" dirty="0"/>
              <a:t>Investigate.</a:t>
            </a:r>
          </a:p>
          <a:p>
            <a:pPr marL="402336" indent="-402336">
              <a:buFont typeface="+mj-lt"/>
              <a:buAutoNum type="arabicPeriod"/>
              <a:defRPr/>
            </a:pPr>
            <a:r>
              <a:rPr lang="en-US" noProof="0" dirty="0"/>
              <a:t>Review findings.</a:t>
            </a:r>
          </a:p>
          <a:p>
            <a:pPr marL="402336" indent="-402336">
              <a:buFont typeface="+mj-lt"/>
              <a:buAutoNum type="arabicPeriod"/>
              <a:defRPr/>
            </a:pPr>
            <a:r>
              <a:rPr lang="en-US" noProof="0" dirty="0"/>
              <a:t>Apply solutions.</a:t>
            </a:r>
          </a:p>
          <a:p>
            <a:pPr marL="402336" indent="-402336">
              <a:buFont typeface="+mj-lt"/>
              <a:buAutoNum type="arabicPeriod"/>
              <a:defRPr/>
            </a:pPr>
            <a:r>
              <a:rPr lang="en-US" noProof="0" dirty="0"/>
              <a:t>Follow-up.</a:t>
            </a:r>
          </a:p>
        </p:txBody>
      </p:sp>
      <p:sp>
        <p:nvSpPr>
          <p:cNvPr id="11" name="Slide Number Placeholder 10">
            <a:extLst>
              <a:ext uri="{FF2B5EF4-FFF2-40B4-BE49-F238E27FC236}">
                <a16:creationId xmlns:a16="http://schemas.microsoft.com/office/drawing/2014/main" id="{AA5CD5CE-D105-44D7-8E35-00125E9D7F35}"/>
              </a:ext>
            </a:extLst>
          </p:cNvPr>
          <p:cNvSpPr>
            <a:spLocks noGrp="1"/>
          </p:cNvSpPr>
          <p:nvPr>
            <p:ph type="sldNum" sz="quarter" idx="10"/>
          </p:nvPr>
        </p:nvSpPr>
        <p:spPr/>
        <p:txBody>
          <a:bodyPr/>
          <a:lstStyle/>
          <a:p>
            <a:fld id="{68151E55-6873-49E2-B8D5-2F265E6F1973}" type="slidenum">
              <a:rPr lang="en-US" smtClean="0"/>
              <a:t>24</a:t>
            </a:fld>
            <a:endParaRPr lang="en-US" dirty="0"/>
          </a:p>
        </p:txBody>
      </p:sp>
      <p:pic>
        <p:nvPicPr>
          <p:cNvPr id="7" name="Graphic 6" descr="Adhesive Bandage with solid fill">
            <a:extLst>
              <a:ext uri="{FF2B5EF4-FFF2-40B4-BE49-F238E27FC236}">
                <a16:creationId xmlns:a16="http://schemas.microsoft.com/office/drawing/2014/main" id="{C8985DA2-2484-987D-4D51-67001D433E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6485" y="1453695"/>
            <a:ext cx="1494042" cy="1494042"/>
          </a:xfrm>
          <a:prstGeom prst="rect">
            <a:avLst/>
          </a:prstGeom>
        </p:spPr>
      </p:pic>
      <p:pic>
        <p:nvPicPr>
          <p:cNvPr id="9" name="Graphic 8" descr="Apple outline">
            <a:extLst>
              <a:ext uri="{FF2B5EF4-FFF2-40B4-BE49-F238E27FC236}">
                <a16:creationId xmlns:a16="http://schemas.microsoft.com/office/drawing/2014/main" id="{3D0DCDA7-CEE6-6C69-77DE-2A927EFA79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34527" y="3819822"/>
            <a:ext cx="2135809" cy="2135809"/>
          </a:xfrm>
          <a:prstGeom prst="rect">
            <a:avLst/>
          </a:prstGeom>
        </p:spPr>
      </p:pic>
    </p:spTree>
    <p:extLst>
      <p:ext uri="{BB962C8B-B14F-4D97-AF65-F5344CB8AC3E}">
        <p14:creationId xmlns:p14="http://schemas.microsoft.com/office/powerpoint/2010/main" val="824233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CC2D489-E207-47CE-9677-371520FED963}"/>
              </a:ext>
            </a:extLst>
          </p:cNvPr>
          <p:cNvSpPr>
            <a:spLocks noGrp="1"/>
          </p:cNvSpPr>
          <p:nvPr>
            <p:ph type="title"/>
          </p:nvPr>
        </p:nvSpPr>
        <p:spPr>
          <a:xfrm>
            <a:off x="342900" y="233546"/>
            <a:ext cx="8458200" cy="1450875"/>
          </a:xfrm>
          <a:solidFill>
            <a:srgbClr val="FFC000"/>
          </a:solidFill>
        </p:spPr>
        <p:txBody>
          <a:bodyPr>
            <a:normAutofit fontScale="90000"/>
          </a:bodyPr>
          <a:lstStyle/>
          <a:p>
            <a:pPr algn="ctr"/>
            <a:r>
              <a:rPr lang="en-US" noProof="0" dirty="0"/>
              <a:t>Management in Action:</a:t>
            </a:r>
            <a:br>
              <a:rPr lang="en-US" noProof="0" dirty="0"/>
            </a:br>
            <a:r>
              <a:rPr lang="en-US" noProof="0" dirty="0"/>
              <a:t> Balancing Teamwork and Diversity</a:t>
            </a:r>
            <a:br>
              <a:rPr lang="en-US" noProof="0" dirty="0"/>
            </a:br>
            <a:r>
              <a:rPr lang="en-US" noProof="0" dirty="0"/>
              <a:t>at Whole Foods</a:t>
            </a:r>
          </a:p>
        </p:txBody>
      </p:sp>
      <p:sp>
        <p:nvSpPr>
          <p:cNvPr id="9" name="Content Placeholder 8">
            <a:extLst>
              <a:ext uri="{FF2B5EF4-FFF2-40B4-BE49-F238E27FC236}">
                <a16:creationId xmlns:a16="http://schemas.microsoft.com/office/drawing/2014/main" id="{73B277BD-97F3-4668-A8E8-9C564962A3C8}"/>
              </a:ext>
            </a:extLst>
          </p:cNvPr>
          <p:cNvSpPr>
            <a:spLocks noGrp="1"/>
          </p:cNvSpPr>
          <p:nvPr>
            <p:ph sz="quarter" idx="11"/>
          </p:nvPr>
        </p:nvSpPr>
        <p:spPr>
          <a:xfrm>
            <a:off x="342900" y="1840589"/>
            <a:ext cx="8458200" cy="1588411"/>
          </a:xfrm>
          <a:solidFill>
            <a:schemeClr val="accent2">
              <a:lumMod val="40000"/>
              <a:lumOff val="60000"/>
            </a:schemeClr>
          </a:solidFill>
        </p:spPr>
        <p:txBody>
          <a:bodyPr/>
          <a:lstStyle/>
          <a:p>
            <a:r>
              <a:rPr lang="en-US" noProof="0" dirty="0"/>
              <a:t>A sense of mission and shared values unifies employees.</a:t>
            </a:r>
          </a:p>
          <a:p>
            <a:r>
              <a:rPr lang="en-US" noProof="0" dirty="0"/>
              <a:t>The company stresses a commitment to diversity in hiring</a:t>
            </a:r>
          </a:p>
          <a:p>
            <a:r>
              <a:rPr lang="en-US" dirty="0"/>
              <a:t>		</a:t>
            </a:r>
            <a:r>
              <a:rPr lang="en-US" noProof="0" dirty="0"/>
              <a:t>posing a challenge to team cohesiveness.</a:t>
            </a:r>
          </a:p>
        </p:txBody>
      </p:sp>
      <p:sp>
        <p:nvSpPr>
          <p:cNvPr id="11" name="Content Placeholder 10">
            <a:extLst>
              <a:ext uri="{FF2B5EF4-FFF2-40B4-BE49-F238E27FC236}">
                <a16:creationId xmlns:a16="http://schemas.microsoft.com/office/drawing/2014/main" id="{EC212240-5103-4405-ACDB-C87937691113}"/>
              </a:ext>
            </a:extLst>
          </p:cNvPr>
          <p:cNvSpPr>
            <a:spLocks noGrp="1"/>
          </p:cNvSpPr>
          <p:nvPr>
            <p:ph sz="quarter" idx="14"/>
          </p:nvPr>
        </p:nvSpPr>
        <p:spPr>
          <a:xfrm>
            <a:off x="342900" y="3585168"/>
            <a:ext cx="8458200" cy="2503213"/>
          </a:xfrm>
          <a:solidFill>
            <a:schemeClr val="accent2">
              <a:lumMod val="20000"/>
              <a:lumOff val="80000"/>
            </a:schemeClr>
          </a:solidFill>
        </p:spPr>
        <p:txBody>
          <a:bodyPr/>
          <a:lstStyle/>
          <a:p>
            <a:pPr lvl="1"/>
            <a:r>
              <a:rPr lang="en-US" noProof="0" dirty="0"/>
              <a:t>Whole Foods empowers the individual to help bring a diverse workforce together. </a:t>
            </a:r>
          </a:p>
          <a:p>
            <a:pPr lvl="1"/>
            <a:r>
              <a:rPr lang="en-US" noProof="0" dirty="0"/>
              <a:t>What other strategies can be employed?</a:t>
            </a:r>
          </a:p>
          <a:p>
            <a:pPr lvl="1"/>
            <a:r>
              <a:rPr lang="en-US" noProof="0" dirty="0"/>
              <a:t>How does diversity pose a challenge to cohesive teams?</a:t>
            </a:r>
          </a:p>
          <a:p>
            <a:pPr lvl="1"/>
            <a:r>
              <a:rPr lang="en-US" dirty="0"/>
              <a:t>How</a:t>
            </a:r>
            <a:r>
              <a:rPr lang="en-US" noProof="0" dirty="0"/>
              <a:t> can it be a benefit?</a:t>
            </a:r>
          </a:p>
        </p:txBody>
      </p:sp>
      <p:sp>
        <p:nvSpPr>
          <p:cNvPr id="7" name="Slide Number Placeholder 6">
            <a:extLst>
              <a:ext uri="{FF2B5EF4-FFF2-40B4-BE49-F238E27FC236}">
                <a16:creationId xmlns:a16="http://schemas.microsoft.com/office/drawing/2014/main" id="{7B5CAE98-69CA-4F0F-8A02-570131C86F58}"/>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738690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8C74-4B7C-43C7-923B-1BB2525AC23A}"/>
              </a:ext>
            </a:extLst>
          </p:cNvPr>
          <p:cNvSpPr>
            <a:spLocks noGrp="1"/>
          </p:cNvSpPr>
          <p:nvPr>
            <p:ph type="title"/>
          </p:nvPr>
        </p:nvSpPr>
        <p:spPr>
          <a:solidFill>
            <a:schemeClr val="accent2"/>
          </a:solidFill>
        </p:spPr>
        <p:txBody>
          <a:bodyPr/>
          <a:lstStyle/>
          <a:p>
            <a:pPr algn="ctr"/>
            <a:r>
              <a:rPr lang="en-US" noProof="0" dirty="0"/>
              <a:t>In Review</a:t>
            </a:r>
          </a:p>
        </p:txBody>
      </p:sp>
      <p:sp>
        <p:nvSpPr>
          <p:cNvPr id="3" name="Content Placeholder 2">
            <a:extLst>
              <a:ext uri="{FF2B5EF4-FFF2-40B4-BE49-F238E27FC236}">
                <a16:creationId xmlns:a16="http://schemas.microsoft.com/office/drawing/2014/main" id="{E0D7A76D-017F-4568-B718-0B842BFB04F7}"/>
              </a:ext>
            </a:extLst>
          </p:cNvPr>
          <p:cNvSpPr>
            <a:spLocks noGrp="1"/>
          </p:cNvSpPr>
          <p:nvPr>
            <p:ph sz="quarter" idx="11"/>
          </p:nvPr>
        </p:nvSpPr>
        <p:spPr/>
        <p:txBody>
          <a:bodyPr/>
          <a:lstStyle/>
          <a:p>
            <a:pPr marL="402336" indent="-402336">
              <a:buFont typeface="+mj-lt"/>
              <a:buAutoNum type="arabicPeriod"/>
            </a:pPr>
            <a:r>
              <a:rPr lang="en-US" noProof="0" dirty="0"/>
              <a:t>Discuss how teams can contribute to an organization’s effectiveness.</a:t>
            </a:r>
          </a:p>
          <a:p>
            <a:pPr marL="402336" indent="-402336">
              <a:buFont typeface="+mj-lt"/>
              <a:buAutoNum type="arabicPeriod"/>
            </a:pPr>
            <a:r>
              <a:rPr lang="en-US" noProof="0" dirty="0"/>
              <a:t>Describe different types of teams.</a:t>
            </a:r>
          </a:p>
          <a:p>
            <a:pPr marL="402336" indent="-402336">
              <a:buFont typeface="+mj-lt"/>
              <a:buAutoNum type="arabicPeriod"/>
            </a:pPr>
            <a:r>
              <a:rPr lang="en-US" noProof="0" dirty="0"/>
              <a:t>Summarize how groups become teams.</a:t>
            </a:r>
          </a:p>
          <a:p>
            <a:pPr marL="402336" indent="-402336">
              <a:buFont typeface="+mj-lt"/>
              <a:buAutoNum type="arabicPeriod"/>
            </a:pPr>
            <a:r>
              <a:rPr lang="en-US" noProof="0" dirty="0"/>
              <a:t>Explain why groups sometimes fail.</a:t>
            </a:r>
          </a:p>
          <a:p>
            <a:pPr marL="402336" indent="-402336">
              <a:buFont typeface="+mj-lt"/>
              <a:buAutoNum type="arabicPeriod"/>
            </a:pPr>
            <a:r>
              <a:rPr lang="en-US" noProof="0" dirty="0"/>
              <a:t>Describe how to build an effective team.</a:t>
            </a:r>
          </a:p>
          <a:p>
            <a:pPr marL="402336" indent="-402336">
              <a:buFont typeface="+mj-lt"/>
              <a:buAutoNum type="arabicPeriod"/>
            </a:pPr>
            <a:r>
              <a:rPr lang="en-US" noProof="0" dirty="0"/>
              <a:t>List methods for managing a team’s relationships with other teams.</a:t>
            </a:r>
          </a:p>
          <a:p>
            <a:pPr marL="402336" indent="-402336">
              <a:buFont typeface="+mj-lt"/>
              <a:buAutoNum type="arabicPeriod"/>
            </a:pPr>
            <a:r>
              <a:rPr lang="en-US" noProof="0" dirty="0"/>
              <a:t>Identify ways to manage conflict.</a:t>
            </a:r>
          </a:p>
        </p:txBody>
      </p:sp>
      <p:sp>
        <p:nvSpPr>
          <p:cNvPr id="6" name="Slide Number Placeholder 5">
            <a:extLst>
              <a:ext uri="{FF2B5EF4-FFF2-40B4-BE49-F238E27FC236}">
                <a16:creationId xmlns:a16="http://schemas.microsoft.com/office/drawing/2014/main" id="{8DC535FD-FC8E-44C1-AC6A-D709FDAA9D99}"/>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274443882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MainContentSlideMaster">
  <a:themeElements>
    <a:clrScheme name="Custom 20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5.xml><?xml version="1.0" encoding="utf-8"?>
<a:theme xmlns:a="http://schemas.openxmlformats.org/drawingml/2006/main" name="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6.xml><?xml version="1.0" encoding="utf-8"?>
<a:theme xmlns:a="http://schemas.openxmlformats.org/drawingml/2006/main" name="1_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Template>
  <TotalTime>4899</TotalTime>
  <Words>4021</Words>
  <Application>Microsoft Office PowerPoint</Application>
  <PresentationFormat>On-screen Show (4:3)</PresentationFormat>
  <Paragraphs>323</Paragraphs>
  <Slides>26</Slides>
  <Notes>26</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26</vt:i4>
      </vt:variant>
    </vt:vector>
  </HeadingPairs>
  <TitlesOfParts>
    <vt:vector size="36" baseType="lpstr">
      <vt:lpstr>ＭＳ Ｐゴシック</vt:lpstr>
      <vt:lpstr>Arial</vt:lpstr>
      <vt:lpstr>Calibri</vt:lpstr>
      <vt:lpstr>Times New Roman</vt:lpstr>
      <vt:lpstr>Title Slides Master</vt:lpstr>
      <vt:lpstr>MainContentSlideMaster</vt:lpstr>
      <vt:lpstr>ClosingMaster</vt:lpstr>
      <vt:lpstr>DividerSlideMaster</vt:lpstr>
      <vt:lpstr>ImageDescriptionAppendixSlideMaster</vt:lpstr>
      <vt:lpstr>1_ImageDescriptionAppendixSlideMaster</vt:lpstr>
      <vt:lpstr>PowerPoint Presentation</vt:lpstr>
      <vt:lpstr>Learning Objectives</vt:lpstr>
      <vt:lpstr>Management in Action Teamwork at Whole Foods</vt:lpstr>
      <vt:lpstr>The Contributions of Teams</vt:lpstr>
      <vt:lpstr>Types of Teams 1</vt:lpstr>
      <vt:lpstr>Types of Teams 2</vt:lpstr>
      <vt:lpstr>Exhibit 14.1 Best Practices of Virtual Team Leaders</vt:lpstr>
      <vt:lpstr>Self-Managed Teams</vt:lpstr>
      <vt:lpstr>Management in Action Self-Managed Teams at Whole Foods</vt:lpstr>
      <vt:lpstr>Work Groups and Real Teams</vt:lpstr>
      <vt:lpstr>Exhibit 14.2 Stages of Team Development</vt:lpstr>
      <vt:lpstr>Teaming Challenges</vt:lpstr>
      <vt:lpstr>Building Effective Teams</vt:lpstr>
      <vt:lpstr>Performance Focus</vt:lpstr>
      <vt:lpstr>Motivating Teamwork</vt:lpstr>
      <vt:lpstr>SPOTLIGHT ON…  Co-Working–Is It Here to Stay?</vt:lpstr>
      <vt:lpstr>Norms and Roles</vt:lpstr>
      <vt:lpstr>Exhibit 14.3 Cohesiveness, Performance Norms, and Group Performance</vt:lpstr>
      <vt:lpstr>Building Cohesiveness and High-Performance Norms</vt:lpstr>
      <vt:lpstr>Lateral Role Relationships</vt:lpstr>
      <vt:lpstr>Managing Conflict</vt:lpstr>
      <vt:lpstr>Exhibit 14.4 Conflict Management Strategies</vt:lpstr>
      <vt:lpstr>Virtual and E-conflict</vt:lpstr>
      <vt:lpstr>Being a Mediator</vt:lpstr>
      <vt:lpstr>Management in Action:  Balancing Teamwork and Diversity at Whole Foods</vt:lpstr>
      <vt:lpstr>In Review</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P Moran</dc:creator>
  <cp:keywords/>
  <cp:lastModifiedBy>P Moran</cp:lastModifiedBy>
  <cp:revision>750</cp:revision>
  <dcterms:created xsi:type="dcterms:W3CDTF">2021-07-01T13:49:16Z</dcterms:created>
  <dcterms:modified xsi:type="dcterms:W3CDTF">2025-03-15T05:02:59Z</dcterms:modified>
</cp:coreProperties>
</file>