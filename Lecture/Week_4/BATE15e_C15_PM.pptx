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7.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6" r:id="rId6"/>
    <p:sldMasterId id="2147483719" r:id="rId7"/>
    <p:sldMasterId id="2147483739" r:id="rId8"/>
  </p:sldMasterIdLst>
  <p:notesMasterIdLst>
    <p:notesMasterId r:id="rId44"/>
  </p:notesMasterIdLst>
  <p:sldIdLst>
    <p:sldId id="568" r:id="rId9"/>
    <p:sldId id="506" r:id="rId10"/>
    <p:sldId id="757" r:id="rId11"/>
    <p:sldId id="711" r:id="rId12"/>
    <p:sldId id="846" r:id="rId13"/>
    <p:sldId id="847" r:id="rId14"/>
    <p:sldId id="848" r:id="rId15"/>
    <p:sldId id="849" r:id="rId16"/>
    <p:sldId id="850" r:id="rId17"/>
    <p:sldId id="851" r:id="rId18"/>
    <p:sldId id="852" r:id="rId19"/>
    <p:sldId id="853" r:id="rId20"/>
    <p:sldId id="854" r:id="rId21"/>
    <p:sldId id="855" r:id="rId22"/>
    <p:sldId id="856" r:id="rId23"/>
    <p:sldId id="857" r:id="rId24"/>
    <p:sldId id="858" r:id="rId25"/>
    <p:sldId id="859" r:id="rId26"/>
    <p:sldId id="860" r:id="rId27"/>
    <p:sldId id="861" r:id="rId28"/>
    <p:sldId id="862" r:id="rId29"/>
    <p:sldId id="863" r:id="rId30"/>
    <p:sldId id="864" r:id="rId31"/>
    <p:sldId id="865" r:id="rId32"/>
    <p:sldId id="866" r:id="rId33"/>
    <p:sldId id="867" r:id="rId34"/>
    <p:sldId id="868" r:id="rId35"/>
    <p:sldId id="869" r:id="rId36"/>
    <p:sldId id="870" r:id="rId37"/>
    <p:sldId id="871" r:id="rId38"/>
    <p:sldId id="872" r:id="rId39"/>
    <p:sldId id="260" r:id="rId40"/>
    <p:sldId id="258" r:id="rId41"/>
    <p:sldId id="653" r:id="rId42"/>
    <p:sldId id="84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568"/>
            <p14:sldId id="506"/>
            <p14:sldId id="757"/>
            <p14:sldId id="711"/>
            <p14:sldId id="846"/>
            <p14:sldId id="847"/>
            <p14:sldId id="848"/>
            <p14:sldId id="849"/>
            <p14:sldId id="850"/>
            <p14:sldId id="851"/>
            <p14:sldId id="852"/>
            <p14:sldId id="853"/>
            <p14:sldId id="854"/>
            <p14:sldId id="855"/>
            <p14:sldId id="856"/>
            <p14:sldId id="857"/>
            <p14:sldId id="858"/>
            <p14:sldId id="859"/>
            <p14:sldId id="860"/>
            <p14:sldId id="861"/>
            <p14:sldId id="862"/>
            <p14:sldId id="863"/>
            <p14:sldId id="864"/>
            <p14:sldId id="865"/>
            <p14:sldId id="866"/>
            <p14:sldId id="867"/>
            <p14:sldId id="868"/>
            <p14:sldId id="869"/>
            <p14:sldId id="870"/>
            <p14:sldId id="871"/>
            <p14:sldId id="872"/>
            <p14:sldId id="260"/>
          </p14:sldIdLst>
        </p14:section>
        <p14:section name="Appendix: Image Descriptions for Unsighted Students" id="{9E859B0B-078E-463E-89A6-21C20DD280C4}">
          <p14:sldIdLst>
            <p14:sldId id="258"/>
            <p14:sldId id="653"/>
            <p14:sldId id="845"/>
          </p14:sldIdLst>
        </p14:section>
      </p14:sectionLst>
    </p:ext>
    <p:ext uri="{EFAFB233-063F-42B5-8137-9DF3F51BA10A}">
      <p15:sldGuideLst xmlns:p15="http://schemas.microsoft.com/office/powerpoint/2012/main">
        <p15:guide id="2" pos="456" userDrawn="1">
          <p15:clr>
            <a:srgbClr val="A4A3A4"/>
          </p15:clr>
        </p15:guide>
        <p15:guide id="3" orient="horz" pos="2256" userDrawn="1">
          <p15:clr>
            <a:srgbClr val="A4A3A4"/>
          </p15:clr>
        </p15:guide>
        <p15:guide id="4" pos="56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41B"/>
    <a:srgbClr val="C0161E"/>
    <a:srgbClr val="069598"/>
    <a:srgbClr val="F4CCCC"/>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B1270E-256C-4957-B7A8-133B7BF0E12C}" v="6" dt="2025-02-23T12:27:42.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31" autoAdjust="0"/>
    <p:restoredTop sz="88091" autoAdjust="0"/>
  </p:normalViewPr>
  <p:slideViewPr>
    <p:cSldViewPr snapToGrid="0" showGuides="1">
      <p:cViewPr varScale="1">
        <p:scale>
          <a:sx n="97" d="100"/>
          <a:sy n="97" d="100"/>
        </p:scale>
        <p:origin x="2220" y="90"/>
      </p:cViewPr>
      <p:guideLst>
        <p:guide pos="456"/>
        <p:guide orient="horz" pos="2256"/>
        <p:guide pos="5664"/>
      </p:guideLst>
    </p:cSldViewPr>
  </p:slideViewPr>
  <p:outlineViewPr>
    <p:cViewPr>
      <p:scale>
        <a:sx n="33" d="100"/>
        <a:sy n="33" d="100"/>
      </p:scale>
      <p:origin x="0" y="-29958"/>
    </p:cViewPr>
  </p:outlineViewPr>
  <p:notesTextViewPr>
    <p:cViewPr>
      <p:scale>
        <a:sx n="125" d="100"/>
        <a:sy n="125" d="100"/>
      </p:scale>
      <p:origin x="0" y="0"/>
    </p:cViewPr>
  </p:notesTextViewPr>
  <p:sorterViewPr>
    <p:cViewPr>
      <p:scale>
        <a:sx n="100" d="100"/>
        <a:sy n="100" d="100"/>
      </p:scale>
      <p:origin x="0" y="-306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theme" Target="theme/theme1.xml"/><Relationship Id="rId8" Type="http://schemas.openxmlformats.org/officeDocument/2006/relationships/slideMaster" Target="slideMasters/slideMaster8.xml"/><Relationship Id="rId51"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Moran" userId="204e4a19ae7aee6c" providerId="LiveId" clId="{E6B1270E-256C-4957-B7A8-133B7BF0E12C}"/>
    <pc:docChg chg="undo custSel modSld modMainMaster">
      <pc:chgData name="P Moran" userId="204e4a19ae7aee6c" providerId="LiveId" clId="{E6B1270E-256C-4957-B7A8-133B7BF0E12C}" dt="2025-02-23T12:30:15.569" v="326" actId="14100"/>
      <pc:docMkLst>
        <pc:docMk/>
      </pc:docMkLst>
      <pc:sldChg chg="modSp mod">
        <pc:chgData name="P Moran" userId="204e4a19ae7aee6c" providerId="LiveId" clId="{E6B1270E-256C-4957-B7A8-133B7BF0E12C}" dt="2025-02-23T12:01:13.560" v="76" actId="14100"/>
        <pc:sldMkLst>
          <pc:docMk/>
          <pc:sldMk cId="1879684892" sldId="711"/>
        </pc:sldMkLst>
        <pc:spChg chg="mod">
          <ac:chgData name="P Moran" userId="204e4a19ae7aee6c" providerId="LiveId" clId="{E6B1270E-256C-4957-B7A8-133B7BF0E12C}" dt="2025-02-23T12:01:13.560" v="76" actId="14100"/>
          <ac:spMkLst>
            <pc:docMk/>
            <pc:sldMk cId="1879684892" sldId="711"/>
            <ac:spMk id="2" creationId="{94C9B556-F28B-4161-87E4-BB737E7C228F}"/>
          </ac:spMkLst>
        </pc:spChg>
      </pc:sldChg>
      <pc:sldChg chg="modSp mod">
        <pc:chgData name="P Moran" userId="204e4a19ae7aee6c" providerId="LiveId" clId="{E6B1270E-256C-4957-B7A8-133B7BF0E12C}" dt="2025-02-23T12:00:58.141" v="73" actId="6549"/>
        <pc:sldMkLst>
          <pc:docMk/>
          <pc:sldMk cId="473777503" sldId="757"/>
        </pc:sldMkLst>
        <pc:spChg chg="mod">
          <ac:chgData name="P Moran" userId="204e4a19ae7aee6c" providerId="LiveId" clId="{E6B1270E-256C-4957-B7A8-133B7BF0E12C}" dt="2025-02-23T11:58:52.421" v="4" actId="113"/>
          <ac:spMkLst>
            <pc:docMk/>
            <pc:sldMk cId="473777503" sldId="757"/>
            <ac:spMk id="2" creationId="{B4B3DF24-955F-4806-B85B-DB3D3C34D106}"/>
          </ac:spMkLst>
        </pc:spChg>
        <pc:spChg chg="mod">
          <ac:chgData name="P Moran" userId="204e4a19ae7aee6c" providerId="LiveId" clId="{E6B1270E-256C-4957-B7A8-133B7BF0E12C}" dt="2025-02-23T12:00:58.141" v="73" actId="6549"/>
          <ac:spMkLst>
            <pc:docMk/>
            <pc:sldMk cId="473777503" sldId="757"/>
            <ac:spMk id="3" creationId="{9DBEFC25-5793-46C1-BE3D-314E3734C9B4}"/>
          </ac:spMkLst>
        </pc:spChg>
      </pc:sldChg>
      <pc:sldChg chg="modSp mod">
        <pc:chgData name="P Moran" userId="204e4a19ae7aee6c" providerId="LiveId" clId="{E6B1270E-256C-4957-B7A8-133B7BF0E12C}" dt="2025-02-23T12:02:07.442" v="86" actId="207"/>
        <pc:sldMkLst>
          <pc:docMk/>
          <pc:sldMk cId="1940965545" sldId="846"/>
        </pc:sldMkLst>
        <pc:spChg chg="mod">
          <ac:chgData name="P Moran" userId="204e4a19ae7aee6c" providerId="LiveId" clId="{E6B1270E-256C-4957-B7A8-133B7BF0E12C}" dt="2025-02-23T12:01:22.712" v="77" actId="207"/>
          <ac:spMkLst>
            <pc:docMk/>
            <pc:sldMk cId="1940965545" sldId="846"/>
            <ac:spMk id="2" creationId="{EB2CFDBC-AD33-446D-AFD4-D7D94C62E800}"/>
          </ac:spMkLst>
        </pc:spChg>
        <pc:spChg chg="mod">
          <ac:chgData name="P Moran" userId="204e4a19ae7aee6c" providerId="LiveId" clId="{E6B1270E-256C-4957-B7A8-133B7BF0E12C}" dt="2025-02-23T12:01:51.240" v="82" actId="14100"/>
          <ac:spMkLst>
            <pc:docMk/>
            <pc:sldMk cId="1940965545" sldId="846"/>
            <ac:spMk id="3" creationId="{0790F366-158B-4B17-94AB-4B94618A272A}"/>
          </ac:spMkLst>
        </pc:spChg>
        <pc:spChg chg="mod">
          <ac:chgData name="P Moran" userId="204e4a19ae7aee6c" providerId="LiveId" clId="{E6B1270E-256C-4957-B7A8-133B7BF0E12C}" dt="2025-02-23T12:02:07.442" v="86" actId="207"/>
          <ac:spMkLst>
            <pc:docMk/>
            <pc:sldMk cId="1940965545" sldId="846"/>
            <ac:spMk id="4" creationId="{A18821F9-DE9E-41A8-903A-F42E3A561BED}"/>
          </ac:spMkLst>
        </pc:spChg>
      </pc:sldChg>
      <pc:sldChg chg="modSp mod">
        <pc:chgData name="P Moran" userId="204e4a19ae7aee6c" providerId="LiveId" clId="{E6B1270E-256C-4957-B7A8-133B7BF0E12C}" dt="2025-02-23T12:02:39.649" v="95" actId="207"/>
        <pc:sldMkLst>
          <pc:docMk/>
          <pc:sldMk cId="1809929478" sldId="847"/>
        </pc:sldMkLst>
        <pc:spChg chg="mod">
          <ac:chgData name="P Moran" userId="204e4a19ae7aee6c" providerId="LiveId" clId="{E6B1270E-256C-4957-B7A8-133B7BF0E12C}" dt="2025-02-23T12:02:15.300" v="88" actId="122"/>
          <ac:spMkLst>
            <pc:docMk/>
            <pc:sldMk cId="1809929478" sldId="847"/>
            <ac:spMk id="2" creationId="{EB2CFDBC-AD33-446D-AFD4-D7D94C62E800}"/>
          </ac:spMkLst>
        </pc:spChg>
        <pc:spChg chg="mod">
          <ac:chgData name="P Moran" userId="204e4a19ae7aee6c" providerId="LiveId" clId="{E6B1270E-256C-4957-B7A8-133B7BF0E12C}" dt="2025-02-23T12:02:33.834" v="94" actId="207"/>
          <ac:spMkLst>
            <pc:docMk/>
            <pc:sldMk cId="1809929478" sldId="847"/>
            <ac:spMk id="3" creationId="{0790F366-158B-4B17-94AB-4B94618A272A}"/>
          </ac:spMkLst>
        </pc:spChg>
        <pc:spChg chg="mod">
          <ac:chgData name="P Moran" userId="204e4a19ae7aee6c" providerId="LiveId" clId="{E6B1270E-256C-4957-B7A8-133B7BF0E12C}" dt="2025-02-23T12:02:39.649" v="95" actId="207"/>
          <ac:spMkLst>
            <pc:docMk/>
            <pc:sldMk cId="1809929478" sldId="847"/>
            <ac:spMk id="4" creationId="{A18821F9-DE9E-41A8-903A-F42E3A561BED}"/>
          </ac:spMkLst>
        </pc:spChg>
      </pc:sldChg>
      <pc:sldChg chg="modSp mod">
        <pc:chgData name="P Moran" userId="204e4a19ae7aee6c" providerId="LiveId" clId="{E6B1270E-256C-4957-B7A8-133B7BF0E12C}" dt="2025-02-23T12:03:03.597" v="101" actId="14100"/>
        <pc:sldMkLst>
          <pc:docMk/>
          <pc:sldMk cId="3288701558" sldId="848"/>
        </pc:sldMkLst>
        <pc:spChg chg="mod">
          <ac:chgData name="P Moran" userId="204e4a19ae7aee6c" providerId="LiveId" clId="{E6B1270E-256C-4957-B7A8-133B7BF0E12C}" dt="2025-02-23T12:02:50.052" v="97" actId="122"/>
          <ac:spMkLst>
            <pc:docMk/>
            <pc:sldMk cId="3288701558" sldId="848"/>
            <ac:spMk id="2" creationId="{EB2CFDBC-AD33-446D-AFD4-D7D94C62E800}"/>
          </ac:spMkLst>
        </pc:spChg>
        <pc:spChg chg="mod">
          <ac:chgData name="P Moran" userId="204e4a19ae7aee6c" providerId="LiveId" clId="{E6B1270E-256C-4957-B7A8-133B7BF0E12C}" dt="2025-02-23T12:03:03.597" v="101" actId="14100"/>
          <ac:spMkLst>
            <pc:docMk/>
            <pc:sldMk cId="3288701558" sldId="848"/>
            <ac:spMk id="4" creationId="{A18821F9-DE9E-41A8-903A-F42E3A561BED}"/>
          </ac:spMkLst>
        </pc:spChg>
      </pc:sldChg>
      <pc:sldChg chg="modSp mod">
        <pc:chgData name="P Moran" userId="204e4a19ae7aee6c" providerId="LiveId" clId="{E6B1270E-256C-4957-B7A8-133B7BF0E12C}" dt="2025-02-23T12:03:10.929" v="103" actId="207"/>
        <pc:sldMkLst>
          <pc:docMk/>
          <pc:sldMk cId="1771462673" sldId="849"/>
        </pc:sldMkLst>
        <pc:spChg chg="mod">
          <ac:chgData name="P Moran" userId="204e4a19ae7aee6c" providerId="LiveId" clId="{E6B1270E-256C-4957-B7A8-133B7BF0E12C}" dt="2025-02-23T12:03:10.929" v="103" actId="207"/>
          <ac:spMkLst>
            <pc:docMk/>
            <pc:sldMk cId="1771462673" sldId="849"/>
            <ac:spMk id="2" creationId="{EB2CFDBC-AD33-446D-AFD4-D7D94C62E800}"/>
          </ac:spMkLst>
        </pc:spChg>
      </pc:sldChg>
      <pc:sldChg chg="modSp mod">
        <pc:chgData name="P Moran" userId="204e4a19ae7aee6c" providerId="LiveId" clId="{E6B1270E-256C-4957-B7A8-133B7BF0E12C}" dt="2025-02-23T12:03:18.692" v="105" actId="122"/>
        <pc:sldMkLst>
          <pc:docMk/>
          <pc:sldMk cId="1327844142" sldId="850"/>
        </pc:sldMkLst>
        <pc:spChg chg="mod">
          <ac:chgData name="P Moran" userId="204e4a19ae7aee6c" providerId="LiveId" clId="{E6B1270E-256C-4957-B7A8-133B7BF0E12C}" dt="2025-02-23T12:03:18.692" v="105" actId="122"/>
          <ac:spMkLst>
            <pc:docMk/>
            <pc:sldMk cId="1327844142" sldId="850"/>
            <ac:spMk id="2" creationId="{EB2CFDBC-AD33-446D-AFD4-D7D94C62E800}"/>
          </ac:spMkLst>
        </pc:spChg>
      </pc:sldChg>
      <pc:sldChg chg="modSp mod">
        <pc:chgData name="P Moran" userId="204e4a19ae7aee6c" providerId="LiveId" clId="{E6B1270E-256C-4957-B7A8-133B7BF0E12C}" dt="2025-02-23T12:03:25.436" v="107" actId="122"/>
        <pc:sldMkLst>
          <pc:docMk/>
          <pc:sldMk cId="885526044" sldId="851"/>
        </pc:sldMkLst>
        <pc:spChg chg="mod">
          <ac:chgData name="P Moran" userId="204e4a19ae7aee6c" providerId="LiveId" clId="{E6B1270E-256C-4957-B7A8-133B7BF0E12C}" dt="2025-02-23T12:03:25.436" v="107" actId="122"/>
          <ac:spMkLst>
            <pc:docMk/>
            <pc:sldMk cId="885526044" sldId="851"/>
            <ac:spMk id="2" creationId="{682D243E-2EC5-405B-8217-FCF5B92E121F}"/>
          </ac:spMkLst>
        </pc:spChg>
      </pc:sldChg>
      <pc:sldChg chg="modSp mod">
        <pc:chgData name="P Moran" userId="204e4a19ae7aee6c" providerId="LiveId" clId="{E6B1270E-256C-4957-B7A8-133B7BF0E12C}" dt="2025-02-23T12:03:57.961" v="111" actId="20577"/>
        <pc:sldMkLst>
          <pc:docMk/>
          <pc:sldMk cId="1090324454" sldId="852"/>
        </pc:sldMkLst>
        <pc:spChg chg="mod">
          <ac:chgData name="P Moran" userId="204e4a19ae7aee6c" providerId="LiveId" clId="{E6B1270E-256C-4957-B7A8-133B7BF0E12C}" dt="2025-02-23T12:03:53.795" v="109" actId="122"/>
          <ac:spMkLst>
            <pc:docMk/>
            <pc:sldMk cId="1090324454" sldId="852"/>
            <ac:spMk id="2" creationId="{7B483084-0890-4B01-B572-5C211BD08611}"/>
          </ac:spMkLst>
        </pc:spChg>
        <pc:spChg chg="mod">
          <ac:chgData name="P Moran" userId="204e4a19ae7aee6c" providerId="LiveId" clId="{E6B1270E-256C-4957-B7A8-133B7BF0E12C}" dt="2025-02-23T12:03:57.961" v="111" actId="20577"/>
          <ac:spMkLst>
            <pc:docMk/>
            <pc:sldMk cId="1090324454" sldId="852"/>
            <ac:spMk id="3" creationId="{B9904D89-779D-4A67-931A-2383BF12B0E0}"/>
          </ac:spMkLst>
        </pc:spChg>
      </pc:sldChg>
      <pc:sldChg chg="modSp mod">
        <pc:chgData name="P Moran" userId="204e4a19ae7aee6c" providerId="LiveId" clId="{E6B1270E-256C-4957-B7A8-133B7BF0E12C}" dt="2025-02-23T12:04:26.465" v="113" actId="122"/>
        <pc:sldMkLst>
          <pc:docMk/>
          <pc:sldMk cId="3445271000" sldId="853"/>
        </pc:sldMkLst>
        <pc:spChg chg="mod">
          <ac:chgData name="P Moran" userId="204e4a19ae7aee6c" providerId="LiveId" clId="{E6B1270E-256C-4957-B7A8-133B7BF0E12C}" dt="2025-02-23T12:04:26.465" v="113" actId="122"/>
          <ac:spMkLst>
            <pc:docMk/>
            <pc:sldMk cId="3445271000" sldId="853"/>
            <ac:spMk id="2" creationId="{94C9B556-F28B-4161-87E4-BB737E7C228F}"/>
          </ac:spMkLst>
        </pc:spChg>
      </pc:sldChg>
      <pc:sldChg chg="modSp mod">
        <pc:chgData name="P Moran" userId="204e4a19ae7aee6c" providerId="LiveId" clId="{E6B1270E-256C-4957-B7A8-133B7BF0E12C}" dt="2025-02-23T12:05:07.628" v="121" actId="6549"/>
        <pc:sldMkLst>
          <pc:docMk/>
          <pc:sldMk cId="3416925651" sldId="854"/>
        </pc:sldMkLst>
        <pc:spChg chg="mod">
          <ac:chgData name="P Moran" userId="204e4a19ae7aee6c" providerId="LiveId" clId="{E6B1270E-256C-4957-B7A8-133B7BF0E12C}" dt="2025-02-23T12:04:39.323" v="115" actId="122"/>
          <ac:spMkLst>
            <pc:docMk/>
            <pc:sldMk cId="3416925651" sldId="854"/>
            <ac:spMk id="2" creationId="{D7D4ACD4-295E-4189-8BBD-D9B7844F0CFE}"/>
          </ac:spMkLst>
        </pc:spChg>
        <pc:spChg chg="mod">
          <ac:chgData name="P Moran" userId="204e4a19ae7aee6c" providerId="LiveId" clId="{E6B1270E-256C-4957-B7A8-133B7BF0E12C}" dt="2025-02-23T12:05:07.628" v="121" actId="6549"/>
          <ac:spMkLst>
            <pc:docMk/>
            <pc:sldMk cId="3416925651" sldId="854"/>
            <ac:spMk id="3" creationId="{E1BB056E-FE4F-4D75-9B45-952B35561C7B}"/>
          </ac:spMkLst>
        </pc:spChg>
        <pc:spChg chg="mod">
          <ac:chgData name="P Moran" userId="204e4a19ae7aee6c" providerId="LiveId" clId="{E6B1270E-256C-4957-B7A8-133B7BF0E12C}" dt="2025-02-23T12:04:59.073" v="119" actId="14100"/>
          <ac:spMkLst>
            <pc:docMk/>
            <pc:sldMk cId="3416925651" sldId="854"/>
            <ac:spMk id="4" creationId="{C90437E9-A322-40E7-91E4-3CE9A233B126}"/>
          </ac:spMkLst>
        </pc:spChg>
      </pc:sldChg>
      <pc:sldChg chg="modSp mod">
        <pc:chgData name="P Moran" userId="204e4a19ae7aee6c" providerId="LiveId" clId="{E6B1270E-256C-4957-B7A8-133B7BF0E12C}" dt="2025-02-23T12:08:00.158" v="133" actId="207"/>
        <pc:sldMkLst>
          <pc:docMk/>
          <pc:sldMk cId="987444919" sldId="855"/>
        </pc:sldMkLst>
        <pc:spChg chg="mod">
          <ac:chgData name="P Moran" userId="204e4a19ae7aee6c" providerId="LiveId" clId="{E6B1270E-256C-4957-B7A8-133B7BF0E12C}" dt="2025-02-23T12:07:26.931" v="124" actId="122"/>
          <ac:spMkLst>
            <pc:docMk/>
            <pc:sldMk cId="987444919" sldId="855"/>
            <ac:spMk id="2" creationId="{F6E1CF0B-1565-464C-A414-3DE77BC93E99}"/>
          </ac:spMkLst>
        </pc:spChg>
        <pc:spChg chg="mod">
          <ac:chgData name="P Moran" userId="204e4a19ae7aee6c" providerId="LiveId" clId="{E6B1270E-256C-4957-B7A8-133B7BF0E12C}" dt="2025-02-23T12:08:00.158" v="133" actId="207"/>
          <ac:spMkLst>
            <pc:docMk/>
            <pc:sldMk cId="987444919" sldId="855"/>
            <ac:spMk id="3" creationId="{42185AC0-BDE4-4A2C-8683-7639316B9F48}"/>
          </ac:spMkLst>
        </pc:spChg>
      </pc:sldChg>
      <pc:sldChg chg="modSp mod">
        <pc:chgData name="P Moran" userId="204e4a19ae7aee6c" providerId="LiveId" clId="{E6B1270E-256C-4957-B7A8-133B7BF0E12C}" dt="2025-02-23T12:08:52.950" v="147" actId="6549"/>
        <pc:sldMkLst>
          <pc:docMk/>
          <pc:sldMk cId="4192905465" sldId="856"/>
        </pc:sldMkLst>
        <pc:spChg chg="mod">
          <ac:chgData name="P Moran" userId="204e4a19ae7aee6c" providerId="LiveId" clId="{E6B1270E-256C-4957-B7A8-133B7BF0E12C}" dt="2025-02-23T12:08:20.137" v="135" actId="207"/>
          <ac:spMkLst>
            <pc:docMk/>
            <pc:sldMk cId="4192905465" sldId="856"/>
            <ac:spMk id="2" creationId="{967BE4BB-8D39-4BC0-9CA2-65A584A7F8C1}"/>
          </ac:spMkLst>
        </pc:spChg>
        <pc:spChg chg="mod">
          <ac:chgData name="P Moran" userId="204e4a19ae7aee6c" providerId="LiveId" clId="{E6B1270E-256C-4957-B7A8-133B7BF0E12C}" dt="2025-02-23T12:08:52.950" v="147" actId="6549"/>
          <ac:spMkLst>
            <pc:docMk/>
            <pc:sldMk cId="4192905465" sldId="856"/>
            <ac:spMk id="3" creationId="{5EC13DF2-2941-447C-AC8D-F173C8B3903F}"/>
          </ac:spMkLst>
        </pc:spChg>
      </pc:sldChg>
      <pc:sldChg chg="modSp mod">
        <pc:chgData name="P Moran" userId="204e4a19ae7aee6c" providerId="LiveId" clId="{E6B1270E-256C-4957-B7A8-133B7BF0E12C}" dt="2025-02-23T12:09:19.302" v="153" actId="20577"/>
        <pc:sldMkLst>
          <pc:docMk/>
          <pc:sldMk cId="986081769" sldId="857"/>
        </pc:sldMkLst>
        <pc:spChg chg="mod">
          <ac:chgData name="P Moran" userId="204e4a19ae7aee6c" providerId="LiveId" clId="{E6B1270E-256C-4957-B7A8-133B7BF0E12C}" dt="2025-02-23T12:09:09.041" v="149" actId="207"/>
          <ac:spMkLst>
            <pc:docMk/>
            <pc:sldMk cId="986081769" sldId="857"/>
            <ac:spMk id="2" creationId="{CC5DA6E7-8D94-430D-A35A-0CF793384631}"/>
          </ac:spMkLst>
        </pc:spChg>
        <pc:spChg chg="mod">
          <ac:chgData name="P Moran" userId="204e4a19ae7aee6c" providerId="LiveId" clId="{E6B1270E-256C-4957-B7A8-133B7BF0E12C}" dt="2025-02-23T12:09:19.302" v="153" actId="20577"/>
          <ac:spMkLst>
            <pc:docMk/>
            <pc:sldMk cId="986081769" sldId="857"/>
            <ac:spMk id="3" creationId="{5F442393-6CEF-49E1-99DE-05898C0A4197}"/>
          </ac:spMkLst>
        </pc:spChg>
      </pc:sldChg>
      <pc:sldChg chg="modSp mod">
        <pc:chgData name="P Moran" userId="204e4a19ae7aee6c" providerId="LiveId" clId="{E6B1270E-256C-4957-B7A8-133B7BF0E12C}" dt="2025-02-23T12:10:27.204" v="158" actId="113"/>
        <pc:sldMkLst>
          <pc:docMk/>
          <pc:sldMk cId="4101260075" sldId="858"/>
        </pc:sldMkLst>
        <pc:spChg chg="mod">
          <ac:chgData name="P Moran" userId="204e4a19ae7aee6c" providerId="LiveId" clId="{E6B1270E-256C-4957-B7A8-133B7BF0E12C}" dt="2025-02-23T12:09:55.739" v="156" actId="20577"/>
          <ac:spMkLst>
            <pc:docMk/>
            <pc:sldMk cId="4101260075" sldId="858"/>
            <ac:spMk id="2" creationId="{87A95247-FFC7-4381-A2B3-20CB5BCABA84}"/>
          </ac:spMkLst>
        </pc:spChg>
        <pc:spChg chg="mod">
          <ac:chgData name="P Moran" userId="204e4a19ae7aee6c" providerId="LiveId" clId="{E6B1270E-256C-4957-B7A8-133B7BF0E12C}" dt="2025-02-23T12:10:27.204" v="158" actId="113"/>
          <ac:spMkLst>
            <pc:docMk/>
            <pc:sldMk cId="4101260075" sldId="858"/>
            <ac:spMk id="3" creationId="{E399E22F-D9BE-4520-A1E3-F0923B1EC2EB}"/>
          </ac:spMkLst>
        </pc:spChg>
      </pc:sldChg>
      <pc:sldChg chg="modSp mod">
        <pc:chgData name="P Moran" userId="204e4a19ae7aee6c" providerId="LiveId" clId="{E6B1270E-256C-4957-B7A8-133B7BF0E12C}" dt="2025-02-23T12:12:26.274" v="162" actId="20577"/>
        <pc:sldMkLst>
          <pc:docMk/>
          <pc:sldMk cId="3976390104" sldId="859"/>
        </pc:sldMkLst>
        <pc:spChg chg="mod">
          <ac:chgData name="P Moran" userId="204e4a19ae7aee6c" providerId="LiveId" clId="{E6B1270E-256C-4957-B7A8-133B7BF0E12C}" dt="2025-02-23T12:12:19.683" v="160" actId="122"/>
          <ac:spMkLst>
            <pc:docMk/>
            <pc:sldMk cId="3976390104" sldId="859"/>
            <ac:spMk id="2" creationId="{BEBCFD30-0D42-4EF8-8C46-FF8870BEC47B}"/>
          </ac:spMkLst>
        </pc:spChg>
        <pc:spChg chg="mod">
          <ac:chgData name="P Moran" userId="204e4a19ae7aee6c" providerId="LiveId" clId="{E6B1270E-256C-4957-B7A8-133B7BF0E12C}" dt="2025-02-23T12:12:26.274" v="162" actId="20577"/>
          <ac:spMkLst>
            <pc:docMk/>
            <pc:sldMk cId="3976390104" sldId="859"/>
            <ac:spMk id="3" creationId="{1200A77C-2DD4-47FA-B501-0DA719CC7369}"/>
          </ac:spMkLst>
        </pc:spChg>
      </pc:sldChg>
      <pc:sldChg chg="modSp mod">
        <pc:chgData name="P Moran" userId="204e4a19ae7aee6c" providerId="LiveId" clId="{E6B1270E-256C-4957-B7A8-133B7BF0E12C}" dt="2025-02-23T12:13:26.828" v="167" actId="122"/>
        <pc:sldMkLst>
          <pc:docMk/>
          <pc:sldMk cId="2183804243" sldId="860"/>
        </pc:sldMkLst>
        <pc:spChg chg="mod">
          <ac:chgData name="P Moran" userId="204e4a19ae7aee6c" providerId="LiveId" clId="{E6B1270E-256C-4957-B7A8-133B7BF0E12C}" dt="2025-02-23T12:13:26.828" v="167" actId="122"/>
          <ac:spMkLst>
            <pc:docMk/>
            <pc:sldMk cId="2183804243" sldId="860"/>
            <ac:spMk id="2" creationId="{571AD325-A01C-4696-B820-6E3067DDB2AC}"/>
          </ac:spMkLst>
        </pc:spChg>
        <pc:graphicFrameChg chg="mod modGraphic">
          <ac:chgData name="P Moran" userId="204e4a19ae7aee6c" providerId="LiveId" clId="{E6B1270E-256C-4957-B7A8-133B7BF0E12C}" dt="2025-02-23T12:13:17.049" v="164" actId="14100"/>
          <ac:graphicFrameMkLst>
            <pc:docMk/>
            <pc:sldMk cId="2183804243" sldId="860"/>
            <ac:graphicFrameMk id="7" creationId="{24EDC1EA-D856-431D-A68F-20AB92D2D8C1}"/>
          </ac:graphicFrameMkLst>
        </pc:graphicFrameChg>
      </pc:sldChg>
      <pc:sldChg chg="modSp mod">
        <pc:chgData name="P Moran" userId="204e4a19ae7aee6c" providerId="LiveId" clId="{E6B1270E-256C-4957-B7A8-133B7BF0E12C}" dt="2025-02-23T12:15:55.590" v="254" actId="20577"/>
        <pc:sldMkLst>
          <pc:docMk/>
          <pc:sldMk cId="945314806" sldId="861"/>
        </pc:sldMkLst>
        <pc:spChg chg="mod">
          <ac:chgData name="P Moran" userId="204e4a19ae7aee6c" providerId="LiveId" clId="{E6B1270E-256C-4957-B7A8-133B7BF0E12C}" dt="2025-02-23T12:14:10.922" v="169" actId="122"/>
          <ac:spMkLst>
            <pc:docMk/>
            <pc:sldMk cId="945314806" sldId="861"/>
            <ac:spMk id="2" creationId="{88C74516-5EB2-4775-89CA-24731CF8F81C}"/>
          </ac:spMkLst>
        </pc:spChg>
        <pc:spChg chg="mod">
          <ac:chgData name="P Moran" userId="204e4a19ae7aee6c" providerId="LiveId" clId="{E6B1270E-256C-4957-B7A8-133B7BF0E12C}" dt="2025-02-23T12:15:55.590" v="254" actId="20577"/>
          <ac:spMkLst>
            <pc:docMk/>
            <pc:sldMk cId="945314806" sldId="861"/>
            <ac:spMk id="3" creationId="{59D42094-C77A-47CD-85CA-696F74D90193}"/>
          </ac:spMkLst>
        </pc:spChg>
      </pc:sldChg>
      <pc:sldChg chg="addSp modSp mod">
        <pc:chgData name="P Moran" userId="204e4a19ae7aee6c" providerId="LiveId" clId="{E6B1270E-256C-4957-B7A8-133B7BF0E12C}" dt="2025-02-23T12:19:19.489" v="269" actId="14100"/>
        <pc:sldMkLst>
          <pc:docMk/>
          <pc:sldMk cId="808013654" sldId="862"/>
        </pc:sldMkLst>
        <pc:spChg chg="mod">
          <ac:chgData name="P Moran" userId="204e4a19ae7aee6c" providerId="LiveId" clId="{E6B1270E-256C-4957-B7A8-133B7BF0E12C}" dt="2025-02-23T12:16:22.235" v="256" actId="122"/>
          <ac:spMkLst>
            <pc:docMk/>
            <pc:sldMk cId="808013654" sldId="862"/>
            <ac:spMk id="2" creationId="{DDD88873-184F-4106-BD04-29F28783788E}"/>
          </ac:spMkLst>
        </pc:spChg>
        <pc:spChg chg="mod">
          <ac:chgData name="P Moran" userId="204e4a19ae7aee6c" providerId="LiveId" clId="{E6B1270E-256C-4957-B7A8-133B7BF0E12C}" dt="2025-02-23T12:16:40.091" v="262" actId="20577"/>
          <ac:spMkLst>
            <pc:docMk/>
            <pc:sldMk cId="808013654" sldId="862"/>
            <ac:spMk id="3" creationId="{3BD1CA36-E2BA-4AD0-A0B2-56679BB4B4DF}"/>
          </ac:spMkLst>
        </pc:spChg>
        <pc:picChg chg="add mod">
          <ac:chgData name="P Moran" userId="204e4a19ae7aee6c" providerId="LiveId" clId="{E6B1270E-256C-4957-B7A8-133B7BF0E12C}" dt="2025-02-23T12:19:19.489" v="269" actId="14100"/>
          <ac:picMkLst>
            <pc:docMk/>
            <pc:sldMk cId="808013654" sldId="862"/>
            <ac:picMk id="5" creationId="{27A63653-CF82-D156-FFB9-9EC9D63E07DD}"/>
          </ac:picMkLst>
        </pc:picChg>
      </pc:sldChg>
      <pc:sldChg chg="addSp modSp mod">
        <pc:chgData name="P Moran" userId="204e4a19ae7aee6c" providerId="LiveId" clId="{E6B1270E-256C-4957-B7A8-133B7BF0E12C}" dt="2025-02-23T12:21:06.585" v="279" actId="1076"/>
        <pc:sldMkLst>
          <pc:docMk/>
          <pc:sldMk cId="3625966106" sldId="863"/>
        </pc:sldMkLst>
        <pc:spChg chg="mod">
          <ac:chgData name="P Moran" userId="204e4a19ae7aee6c" providerId="LiveId" clId="{E6B1270E-256C-4957-B7A8-133B7BF0E12C}" dt="2025-02-23T12:19:30.924" v="271" actId="122"/>
          <ac:spMkLst>
            <pc:docMk/>
            <pc:sldMk cId="3625966106" sldId="863"/>
            <ac:spMk id="8" creationId="{86853DF4-403E-4271-9DF1-17FE913AE0CD}"/>
          </ac:spMkLst>
        </pc:spChg>
        <pc:spChg chg="mod">
          <ac:chgData name="P Moran" userId="204e4a19ae7aee6c" providerId="LiveId" clId="{E6B1270E-256C-4957-B7A8-133B7BF0E12C}" dt="2025-02-23T12:19:51.490" v="276" actId="14100"/>
          <ac:spMkLst>
            <pc:docMk/>
            <pc:sldMk cId="3625966106" sldId="863"/>
            <ac:spMk id="11" creationId="{DD712D7B-82B0-4D80-82D0-6C64CDB2BC3C}"/>
          </ac:spMkLst>
        </pc:spChg>
        <pc:spChg chg="mod">
          <ac:chgData name="P Moran" userId="204e4a19ae7aee6c" providerId="LiveId" clId="{E6B1270E-256C-4957-B7A8-133B7BF0E12C}" dt="2025-02-23T12:19:45.198" v="274" actId="14100"/>
          <ac:spMkLst>
            <pc:docMk/>
            <pc:sldMk cId="3625966106" sldId="863"/>
            <ac:spMk id="12" creationId="{7DC32B9C-CAE9-4EEF-BD3D-DEF9EBB116A1}"/>
          </ac:spMkLst>
        </pc:spChg>
        <pc:picChg chg="add mod">
          <ac:chgData name="P Moran" userId="204e4a19ae7aee6c" providerId="LiveId" clId="{E6B1270E-256C-4957-B7A8-133B7BF0E12C}" dt="2025-02-23T12:21:06.585" v="279" actId="1076"/>
          <ac:picMkLst>
            <pc:docMk/>
            <pc:sldMk cId="3625966106" sldId="863"/>
            <ac:picMk id="3" creationId="{3BB4BABA-9C69-8F07-387A-212C9AF85A3E}"/>
          </ac:picMkLst>
        </pc:picChg>
      </pc:sldChg>
      <pc:sldChg chg="addSp modSp mod">
        <pc:chgData name="P Moran" userId="204e4a19ae7aee6c" providerId="LiveId" clId="{E6B1270E-256C-4957-B7A8-133B7BF0E12C}" dt="2025-02-23T12:23:09.617" v="287" actId="1076"/>
        <pc:sldMkLst>
          <pc:docMk/>
          <pc:sldMk cId="931203069" sldId="865"/>
        </pc:sldMkLst>
        <pc:spChg chg="mod">
          <ac:chgData name="P Moran" userId="204e4a19ae7aee6c" providerId="LiveId" clId="{E6B1270E-256C-4957-B7A8-133B7BF0E12C}" dt="2025-02-23T12:22:01.291" v="281" actId="122"/>
          <ac:spMkLst>
            <pc:docMk/>
            <pc:sldMk cId="931203069" sldId="865"/>
            <ac:spMk id="2" creationId="{973DF977-FDD0-4DE5-BD4B-E3CC74F4A15A}"/>
          </ac:spMkLst>
        </pc:spChg>
        <pc:spChg chg="mod">
          <ac:chgData name="P Moran" userId="204e4a19ae7aee6c" providerId="LiveId" clId="{E6B1270E-256C-4957-B7A8-133B7BF0E12C}" dt="2025-02-23T12:22:11.441" v="283" actId="14100"/>
          <ac:spMkLst>
            <pc:docMk/>
            <pc:sldMk cId="931203069" sldId="865"/>
            <ac:spMk id="4" creationId="{7D0E5AEF-ACEB-47FF-A340-401DFADAE940}"/>
          </ac:spMkLst>
        </pc:spChg>
        <pc:picChg chg="add mod">
          <ac:chgData name="P Moran" userId="204e4a19ae7aee6c" providerId="LiveId" clId="{E6B1270E-256C-4957-B7A8-133B7BF0E12C}" dt="2025-02-23T12:23:09.617" v="287" actId="1076"/>
          <ac:picMkLst>
            <pc:docMk/>
            <pc:sldMk cId="931203069" sldId="865"/>
            <ac:picMk id="6" creationId="{42533536-20EC-9914-5019-DECE0EBEF933}"/>
          </ac:picMkLst>
        </pc:picChg>
      </pc:sldChg>
      <pc:sldChg chg="modSp mod">
        <pc:chgData name="P Moran" userId="204e4a19ae7aee6c" providerId="LiveId" clId="{E6B1270E-256C-4957-B7A8-133B7BF0E12C}" dt="2025-02-23T12:23:45.003" v="293" actId="20577"/>
        <pc:sldMkLst>
          <pc:docMk/>
          <pc:sldMk cId="3697524228" sldId="866"/>
        </pc:sldMkLst>
        <pc:spChg chg="mod">
          <ac:chgData name="P Moran" userId="204e4a19ae7aee6c" providerId="LiveId" clId="{E6B1270E-256C-4957-B7A8-133B7BF0E12C}" dt="2025-02-23T12:23:36.499" v="289" actId="122"/>
          <ac:spMkLst>
            <pc:docMk/>
            <pc:sldMk cId="3697524228" sldId="866"/>
            <ac:spMk id="2" creationId="{A7D0BE74-D9D3-4CF4-9FD4-3A5164A74646}"/>
          </ac:spMkLst>
        </pc:spChg>
        <pc:spChg chg="mod">
          <ac:chgData name="P Moran" userId="204e4a19ae7aee6c" providerId="LiveId" clId="{E6B1270E-256C-4957-B7A8-133B7BF0E12C}" dt="2025-02-23T12:23:45.003" v="293" actId="20577"/>
          <ac:spMkLst>
            <pc:docMk/>
            <pc:sldMk cId="3697524228" sldId="866"/>
            <ac:spMk id="3" creationId="{C91C2E4E-2DF6-469D-8665-C96179212EDB}"/>
          </ac:spMkLst>
        </pc:spChg>
      </pc:sldChg>
      <pc:sldChg chg="addSp modSp mod">
        <pc:chgData name="P Moran" userId="204e4a19ae7aee6c" providerId="LiveId" clId="{E6B1270E-256C-4957-B7A8-133B7BF0E12C}" dt="2025-02-23T12:25:18.562" v="302" actId="1076"/>
        <pc:sldMkLst>
          <pc:docMk/>
          <pc:sldMk cId="2793083706" sldId="867"/>
        </pc:sldMkLst>
        <pc:spChg chg="mod">
          <ac:chgData name="P Moran" userId="204e4a19ae7aee6c" providerId="LiveId" clId="{E6B1270E-256C-4957-B7A8-133B7BF0E12C}" dt="2025-02-23T12:24:34.508" v="295" actId="122"/>
          <ac:spMkLst>
            <pc:docMk/>
            <pc:sldMk cId="2793083706" sldId="867"/>
            <ac:spMk id="2" creationId="{F6124DE9-0A29-4A2F-9077-71E568F82B4F}"/>
          </ac:spMkLst>
        </pc:spChg>
        <pc:spChg chg="mod">
          <ac:chgData name="P Moran" userId="204e4a19ae7aee6c" providerId="LiveId" clId="{E6B1270E-256C-4957-B7A8-133B7BF0E12C}" dt="2025-02-23T12:24:42.009" v="298" actId="20577"/>
          <ac:spMkLst>
            <pc:docMk/>
            <pc:sldMk cId="2793083706" sldId="867"/>
            <ac:spMk id="3" creationId="{64794312-A2E3-477F-B795-28AB979972AF}"/>
          </ac:spMkLst>
        </pc:spChg>
        <pc:picChg chg="add mod">
          <ac:chgData name="P Moran" userId="204e4a19ae7aee6c" providerId="LiveId" clId="{E6B1270E-256C-4957-B7A8-133B7BF0E12C}" dt="2025-02-23T12:25:18.562" v="302" actId="1076"/>
          <ac:picMkLst>
            <pc:docMk/>
            <pc:sldMk cId="2793083706" sldId="867"/>
            <ac:picMk id="5" creationId="{3FB6533F-AD3D-CED5-F245-509F63BC9702}"/>
          </ac:picMkLst>
        </pc:picChg>
      </pc:sldChg>
      <pc:sldChg chg="addSp modSp mod">
        <pc:chgData name="P Moran" userId="204e4a19ae7aee6c" providerId="LiveId" clId="{E6B1270E-256C-4957-B7A8-133B7BF0E12C}" dt="2025-02-23T12:27:47.961" v="316" actId="1076"/>
        <pc:sldMkLst>
          <pc:docMk/>
          <pc:sldMk cId="4065498092" sldId="868"/>
        </pc:sldMkLst>
        <pc:spChg chg="mod">
          <ac:chgData name="P Moran" userId="204e4a19ae7aee6c" providerId="LiveId" clId="{E6B1270E-256C-4957-B7A8-133B7BF0E12C}" dt="2025-02-23T12:25:47.396" v="304" actId="122"/>
          <ac:spMkLst>
            <pc:docMk/>
            <pc:sldMk cId="4065498092" sldId="868"/>
            <ac:spMk id="2" creationId="{FAF041AE-057B-4957-BD5F-BB6A4D2947D9}"/>
          </ac:spMkLst>
        </pc:spChg>
        <pc:spChg chg="mod">
          <ac:chgData name="P Moran" userId="204e4a19ae7aee6c" providerId="LiveId" clId="{E6B1270E-256C-4957-B7A8-133B7BF0E12C}" dt="2025-02-23T12:26:01.921" v="310" actId="14100"/>
          <ac:spMkLst>
            <pc:docMk/>
            <pc:sldMk cId="4065498092" sldId="868"/>
            <ac:spMk id="3" creationId="{0556A300-5BF5-41F8-B96D-DFC0FAF9FD33}"/>
          </ac:spMkLst>
        </pc:spChg>
        <pc:picChg chg="add mod">
          <ac:chgData name="P Moran" userId="204e4a19ae7aee6c" providerId="LiveId" clId="{E6B1270E-256C-4957-B7A8-133B7BF0E12C}" dt="2025-02-23T12:27:47.961" v="316" actId="1076"/>
          <ac:picMkLst>
            <pc:docMk/>
            <pc:sldMk cId="4065498092" sldId="868"/>
            <ac:picMk id="5" creationId="{CD237929-3C38-FE1A-7D50-7FA48D5FB908}"/>
          </ac:picMkLst>
        </pc:picChg>
      </pc:sldChg>
      <pc:sldChg chg="modSp mod">
        <pc:chgData name="P Moran" userId="204e4a19ae7aee6c" providerId="LiveId" clId="{E6B1270E-256C-4957-B7A8-133B7BF0E12C}" dt="2025-02-23T12:26:53.384" v="314" actId="14100"/>
        <pc:sldMkLst>
          <pc:docMk/>
          <pc:sldMk cId="3726250918" sldId="869"/>
        </pc:sldMkLst>
        <pc:spChg chg="mod">
          <ac:chgData name="P Moran" userId="204e4a19ae7aee6c" providerId="LiveId" clId="{E6B1270E-256C-4957-B7A8-133B7BF0E12C}" dt="2025-02-23T12:26:43.547" v="312" actId="122"/>
          <ac:spMkLst>
            <pc:docMk/>
            <pc:sldMk cId="3726250918" sldId="869"/>
            <ac:spMk id="2" creationId="{A6B394B9-7EFC-411B-A397-9F29A022071C}"/>
          </ac:spMkLst>
        </pc:spChg>
        <pc:spChg chg="mod">
          <ac:chgData name="P Moran" userId="204e4a19ae7aee6c" providerId="LiveId" clId="{E6B1270E-256C-4957-B7A8-133B7BF0E12C}" dt="2025-02-23T12:26:53.384" v="314" actId="14100"/>
          <ac:spMkLst>
            <pc:docMk/>
            <pc:sldMk cId="3726250918" sldId="869"/>
            <ac:spMk id="5" creationId="{D0FA03B7-E3E8-4A57-8F65-D5414FF87AF3}"/>
          </ac:spMkLst>
        </pc:spChg>
      </pc:sldChg>
      <pc:sldChg chg="modSp mod">
        <pc:chgData name="P Moran" userId="204e4a19ae7aee6c" providerId="LiveId" clId="{E6B1270E-256C-4957-B7A8-133B7BF0E12C}" dt="2025-02-23T12:28:16.603" v="322" actId="207"/>
        <pc:sldMkLst>
          <pc:docMk/>
          <pc:sldMk cId="4172010173" sldId="870"/>
        </pc:sldMkLst>
        <pc:spChg chg="mod">
          <ac:chgData name="P Moran" userId="204e4a19ae7aee6c" providerId="LiveId" clId="{E6B1270E-256C-4957-B7A8-133B7BF0E12C}" dt="2025-02-23T12:28:01.864" v="318" actId="122"/>
          <ac:spMkLst>
            <pc:docMk/>
            <pc:sldMk cId="4172010173" sldId="870"/>
            <ac:spMk id="2" creationId="{BB51F602-BF5F-4E1F-8A25-466C846AF8C2}"/>
          </ac:spMkLst>
        </pc:spChg>
        <pc:spChg chg="mod">
          <ac:chgData name="P Moran" userId="204e4a19ae7aee6c" providerId="LiveId" clId="{E6B1270E-256C-4957-B7A8-133B7BF0E12C}" dt="2025-02-23T12:28:16.603" v="322" actId="207"/>
          <ac:spMkLst>
            <pc:docMk/>
            <pc:sldMk cId="4172010173" sldId="870"/>
            <ac:spMk id="3" creationId="{02F748AB-52BC-4351-92EB-618365F3845C}"/>
          </ac:spMkLst>
        </pc:spChg>
      </pc:sldChg>
      <pc:sldChg chg="modSp mod">
        <pc:chgData name="P Moran" userId="204e4a19ae7aee6c" providerId="LiveId" clId="{E6B1270E-256C-4957-B7A8-133B7BF0E12C}" dt="2025-02-23T12:30:15.569" v="326" actId="14100"/>
        <pc:sldMkLst>
          <pc:docMk/>
          <pc:sldMk cId="3308850394" sldId="871"/>
        </pc:sldMkLst>
        <pc:spChg chg="mod">
          <ac:chgData name="P Moran" userId="204e4a19ae7aee6c" providerId="LiveId" clId="{E6B1270E-256C-4957-B7A8-133B7BF0E12C}" dt="2025-02-23T12:30:09.867" v="324" actId="122"/>
          <ac:spMkLst>
            <pc:docMk/>
            <pc:sldMk cId="3308850394" sldId="871"/>
            <ac:spMk id="2" creationId="{8BFAFC03-5DE3-4AE8-B9D8-BE23AEBA54EA}"/>
          </ac:spMkLst>
        </pc:spChg>
        <pc:spChg chg="mod">
          <ac:chgData name="P Moran" userId="204e4a19ae7aee6c" providerId="LiveId" clId="{E6B1270E-256C-4957-B7A8-133B7BF0E12C}" dt="2025-02-23T12:30:15.569" v="326" actId="14100"/>
          <ac:spMkLst>
            <pc:docMk/>
            <pc:sldMk cId="3308850394" sldId="871"/>
            <ac:spMk id="4" creationId="{C6C4616D-FE66-4072-907B-7CF7998538AE}"/>
          </ac:spMkLst>
        </pc:spChg>
      </pc:sldChg>
      <pc:sldMasterChg chg="addSp">
        <pc:chgData name="P Moran" userId="204e4a19ae7aee6c" providerId="LiveId" clId="{E6B1270E-256C-4957-B7A8-133B7BF0E12C}" dt="2025-02-23T11:58:26.215" v="0"/>
        <pc:sldMasterMkLst>
          <pc:docMk/>
          <pc:sldMasterMk cId="1520108134" sldId="2147483719"/>
        </pc:sldMasterMkLst>
        <pc:spChg chg="add">
          <ac:chgData name="P Moran" userId="204e4a19ae7aee6c" providerId="LiveId" clId="{E6B1270E-256C-4957-B7A8-133B7BF0E12C}" dt="2025-02-23T11:58:26.215" v="0"/>
          <ac:spMkLst>
            <pc:docMk/>
            <pc:sldMasterMk cId="1520108134" sldId="2147483719"/>
            <ac:spMk id="3" creationId="{0D595CE4-ACE7-69CA-2977-048C327691D3}"/>
          </ac:spMkLst>
        </pc:spChg>
        <pc:spChg chg="add">
          <ac:chgData name="P Moran" userId="204e4a19ae7aee6c" providerId="LiveId" clId="{E6B1270E-256C-4957-B7A8-133B7BF0E12C}" dt="2025-02-23T11:58:26.215" v="0"/>
          <ac:spMkLst>
            <pc:docMk/>
            <pc:sldMasterMk cId="1520108134" sldId="2147483719"/>
            <ac:spMk id="4" creationId="{3B0ABD0D-C985-9803-EC26-D11ECB3B2515}"/>
          </ac:spMkLst>
        </pc:spChg>
        <pc:picChg chg="add">
          <ac:chgData name="P Moran" userId="204e4a19ae7aee6c" providerId="LiveId" clId="{E6B1270E-256C-4957-B7A8-133B7BF0E12C}" dt="2025-02-23T11:58:26.215" v="0"/>
          <ac:picMkLst>
            <pc:docMk/>
            <pc:sldMasterMk cId="1520108134" sldId="2147483719"/>
            <ac:picMk id="2" creationId="{57C05E4D-BA1B-ECD8-60D5-E5A358575881}"/>
          </ac:picMkLst>
        </pc:pic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15294-8BCE-4B15-84C9-4E8D5074478D}" type="datetimeFigureOut">
              <a:rPr lang="en-US" smtClean="0"/>
              <a:t>2/23/2025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56329-1779-487C-B587-BBABA473AA7C}" type="slidenum">
              <a:rPr lang="en-US" smtClean="0"/>
              <a:t>‹#›</a:t>
            </a:fld>
            <a:endParaRPr lang="en-US"/>
          </a:p>
        </p:txBody>
      </p:sp>
    </p:spTree>
    <p:extLst>
      <p:ext uri="{BB962C8B-B14F-4D97-AF65-F5344CB8AC3E}">
        <p14:creationId xmlns:p14="http://schemas.microsoft.com/office/powerpoint/2010/main" val="1955805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0D6C90F6-6BF9-4708-BB7D-CA22F176AE07}" type="slidenum">
              <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12289" name="Slide Image Placeholder 1"/>
          <p:cNvSpPr>
            <a:spLocks noGrp="1" noRot="1" noChangeAspect="1" noTextEdit="1"/>
          </p:cNvSpPr>
          <p:nvPr>
            <p:ph type="sldImg"/>
          </p:nvPr>
        </p:nvSpPr>
        <p:spPr>
          <a:xfrm>
            <a:off x="992188" y="768350"/>
            <a:ext cx="5114925" cy="3836988"/>
          </a:xfrm>
          <a:ln/>
        </p:spPr>
      </p:sp>
      <p:sp>
        <p:nvSpPr>
          <p:cNvPr id="12290" name="Notes Placeholder 2"/>
          <p:cNvSpPr>
            <a:spLocks noGrp="1"/>
          </p:cNvSpPr>
          <p:nvPr>
            <p:ph type="body" idx="1"/>
          </p:nvPr>
        </p:nvSpPr>
        <p:spPr>
          <a:noFill/>
          <a:ln/>
        </p:spPr>
        <p:txBody>
          <a:bodyPr/>
          <a:lstStyle/>
          <a:p>
            <a:endParaRPr lang="en-US" baseline="0" dirty="0">
              <a:ea typeface="ＭＳ Ｐゴシック"/>
              <a:cs typeface="ＭＳ Ｐゴシック"/>
            </a:endParaRPr>
          </a:p>
        </p:txBody>
      </p:sp>
      <p:sp>
        <p:nvSpPr>
          <p:cNvPr id="12291"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marL="0" marR="0" lvl="0" indent="0" algn="r" defTabSz="990600" rtl="0" eaLnBrk="1" fontAlgn="base" latinLnBrk="0" hangingPunct="1">
              <a:lnSpc>
                <a:spcPct val="100000"/>
              </a:lnSpc>
              <a:spcBef>
                <a:spcPct val="0"/>
              </a:spcBef>
              <a:spcAft>
                <a:spcPct val="0"/>
              </a:spcAft>
              <a:buClrTx/>
              <a:buSzTx/>
              <a:buFontTx/>
              <a:buNone/>
              <a:tabLst/>
              <a:defRPr/>
            </a:pPr>
            <a:fld id="{105165CB-49A6-4291-B934-0D35AB6D5249}" type="slidenum">
              <a:rPr kumimoji="0" lang="en-AU" sz="1300" b="0" i="0" u="none" strike="noStrike" kern="1200" cap="none" spc="0" normalizeH="0" baseline="0" noProof="0">
                <a:ln>
                  <a:noFill/>
                </a:ln>
                <a:solidFill>
                  <a:srgbClr val="000000"/>
                </a:solidFill>
                <a:effectLst/>
                <a:uLnTx/>
                <a:uFillTx/>
                <a:latin typeface="Arial" charset="0"/>
                <a:ea typeface="ＭＳ Ｐゴシック"/>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a:cs typeface="+mn-cs"/>
            </a:endParaRPr>
          </a:p>
        </p:txBody>
      </p:sp>
    </p:spTree>
    <p:extLst>
      <p:ext uri="{BB962C8B-B14F-4D97-AF65-F5344CB8AC3E}">
        <p14:creationId xmlns:p14="http://schemas.microsoft.com/office/powerpoint/2010/main" val="9117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endParaRPr lang="en-US" sz="1200" dirty="0"/>
          </a:p>
        </p:txBody>
      </p:sp>
      <p:sp>
        <p:nvSpPr>
          <p:cNvPr id="4" name="Slide Number Placeholder 3"/>
          <p:cNvSpPr>
            <a:spLocks noGrp="1"/>
          </p:cNvSpPr>
          <p:nvPr>
            <p:ph type="sldNum" sz="quarter" idx="5"/>
          </p:nvPr>
        </p:nvSpPr>
        <p:spPr/>
        <p:txBody>
          <a:bodyPr/>
          <a:lstStyle/>
          <a:p>
            <a:fld id="{35356329-1779-487C-B587-BBABA473AA7C}" type="slidenum">
              <a:rPr lang="en-US" smtClean="0"/>
              <a:t>2</a:t>
            </a:fld>
            <a:endParaRPr lang="en-US"/>
          </a:p>
        </p:txBody>
      </p:sp>
    </p:spTree>
    <p:extLst>
      <p:ext uri="{BB962C8B-B14F-4D97-AF65-F5344CB8AC3E}">
        <p14:creationId xmlns:p14="http://schemas.microsoft.com/office/powerpoint/2010/main" val="245462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t>Examples of how organizations like Slack communicate with employees during difficulty times continues later in the chapter. </a:t>
            </a:r>
          </a:p>
        </p:txBody>
      </p:sp>
      <p:sp>
        <p:nvSpPr>
          <p:cNvPr id="4" name="Slide Number Placeholder 3"/>
          <p:cNvSpPr>
            <a:spLocks noGrp="1"/>
          </p:cNvSpPr>
          <p:nvPr>
            <p:ph type="sldNum" sz="quarter" idx="5"/>
          </p:nvPr>
        </p:nvSpPr>
        <p:spPr/>
        <p:txBody>
          <a:bodyPr/>
          <a:lstStyle/>
          <a:p>
            <a:fld id="{35356329-1779-487C-B587-BBABA473AA7C}" type="slidenum">
              <a:rPr lang="en-US" smtClean="0"/>
              <a:t>3</a:t>
            </a:fld>
            <a:endParaRPr lang="en-US"/>
          </a:p>
        </p:txBody>
      </p:sp>
    </p:spTree>
    <p:extLst>
      <p:ext uri="{BB962C8B-B14F-4D97-AF65-F5344CB8AC3E}">
        <p14:creationId xmlns:p14="http://schemas.microsoft.com/office/powerpoint/2010/main" val="39001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Communication</a:t>
            </a:r>
            <a:r>
              <a:rPr lang="en-US" i="0" dirty="0"/>
              <a:t> is the transmission of information and meaning from one party to another through the use of shared symbols. </a:t>
            </a:r>
            <a:r>
              <a:rPr lang="en-US" b="1" i="0" dirty="0"/>
              <a:t>Exhibit 15.1 </a:t>
            </a:r>
            <a:r>
              <a:rPr lang="en-US" i="0" dirty="0"/>
              <a:t>shows a general model of how one person communicates to another.</a:t>
            </a:r>
          </a:p>
        </p:txBody>
      </p:sp>
      <p:sp>
        <p:nvSpPr>
          <p:cNvPr id="4" name="Slide Number Placeholder 3"/>
          <p:cNvSpPr>
            <a:spLocks noGrp="1"/>
          </p:cNvSpPr>
          <p:nvPr>
            <p:ph type="sldNum" sz="quarter" idx="5"/>
          </p:nvPr>
        </p:nvSpPr>
        <p:spPr/>
        <p:txBody>
          <a:bodyPr/>
          <a:lstStyle/>
          <a:p>
            <a:fld id="{35356329-1779-487C-B587-BBABA473AA7C}" type="slidenum">
              <a:rPr lang="en-US" smtClean="0"/>
              <a:t>4</a:t>
            </a:fld>
            <a:endParaRPr lang="en-US"/>
          </a:p>
        </p:txBody>
      </p:sp>
    </p:spTree>
    <p:extLst>
      <p:ext uri="{BB962C8B-B14F-4D97-AF65-F5344CB8AC3E}">
        <p14:creationId xmlns:p14="http://schemas.microsoft.com/office/powerpoint/2010/main" val="3543051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True </a:t>
            </a:r>
            <a:r>
              <a:rPr lang="en-US" b="1" dirty="0"/>
              <a:t>two-way communication </a:t>
            </a:r>
            <a:r>
              <a:rPr lang="en-US" dirty="0"/>
              <a:t>means not only that the receiver provides feedback but also that the sender is receptive to the feedback. In these constructive exchanges, information is shared between both parties rather than merely delivered from one person to the other. Because it is faster and easier for the sender, </a:t>
            </a:r>
            <a:r>
              <a:rPr lang="en-US" b="1" dirty="0"/>
              <a:t>one-way communication </a:t>
            </a:r>
            <a:r>
              <a:rPr lang="en-US" dirty="0"/>
              <a:t>is very common. A busy executive finds it easier to dash off an email message than to discuss a problem in person with a subordinate.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5</a:t>
            </a:fld>
            <a:endParaRPr lang="en-US"/>
          </a:p>
        </p:txBody>
      </p:sp>
    </p:spTree>
    <p:extLst>
      <p:ext uri="{BB962C8B-B14F-4D97-AF65-F5344CB8AC3E}">
        <p14:creationId xmlns:p14="http://schemas.microsoft.com/office/powerpoint/2010/main" val="2301759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Senders don’t convey information effectively, and people’s </a:t>
            </a:r>
            <a:r>
              <a:rPr lang="en-US" b="1" dirty="0"/>
              <a:t>perceptual</a:t>
            </a:r>
            <a:r>
              <a:rPr lang="en-US" dirty="0"/>
              <a:t> and </a:t>
            </a:r>
            <a:r>
              <a:rPr lang="en-US" b="1" dirty="0"/>
              <a:t>filtering</a:t>
            </a:r>
            <a:r>
              <a:rPr lang="en-US" dirty="0"/>
              <a:t> processes create misinterpretations. Senders filter when they tell the boss what they think the boss wants to hear, or give unwarranted compliments rather than honest criticism. Receivers also filter information; they may fail to recognize a message's importance or attend to some aspects of it but not others. </a:t>
            </a:r>
          </a:p>
        </p:txBody>
      </p:sp>
      <p:sp>
        <p:nvSpPr>
          <p:cNvPr id="4" name="Slide Number Placeholder 3"/>
          <p:cNvSpPr>
            <a:spLocks noGrp="1"/>
          </p:cNvSpPr>
          <p:nvPr>
            <p:ph type="sldNum" sz="quarter" idx="5"/>
          </p:nvPr>
        </p:nvSpPr>
        <p:spPr/>
        <p:txBody>
          <a:bodyPr/>
          <a:lstStyle/>
          <a:p>
            <a:fld id="{35356329-1779-487C-B587-BBABA473AA7C}" type="slidenum">
              <a:rPr lang="en-US" smtClean="0"/>
              <a:t>6</a:t>
            </a:fld>
            <a:endParaRPr lang="en-US"/>
          </a:p>
        </p:txBody>
      </p:sp>
    </p:spTree>
    <p:extLst>
      <p:ext uri="{BB962C8B-B14F-4D97-AF65-F5344CB8AC3E}">
        <p14:creationId xmlns:p14="http://schemas.microsoft.com/office/powerpoint/2010/main" val="1014670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move through a variety of channels including verbal, written, and digital. Each channel has advantages and disadvantages. </a:t>
            </a:r>
          </a:p>
          <a:p>
            <a:endParaRPr lang="en-US" dirty="0"/>
          </a:p>
          <a:p>
            <a:r>
              <a:rPr lang="en-US" dirty="0"/>
              <a:t>Advantages of </a:t>
            </a:r>
            <a:r>
              <a:rPr lang="en-US" b="1" dirty="0"/>
              <a:t>verbal communication </a:t>
            </a:r>
            <a:r>
              <a:rPr lang="en-US" dirty="0"/>
              <a:t>are that questions can be asked and answered, feedback can be immediate and direct, receivers can sense the sender’s sincerity or lack thereof, and it's often more persuasive than written. However, verbal communication has disadvantages too: It can lead to spontaneous, ill-considered statements (and regret), and there is no permanent record of it unless you make an effort to record it.</a:t>
            </a:r>
          </a:p>
          <a:p>
            <a:endParaRPr lang="en-US" dirty="0"/>
          </a:p>
          <a:p>
            <a:r>
              <a:rPr lang="en-US" dirty="0"/>
              <a:t>Advantages of </a:t>
            </a:r>
            <a:r>
              <a:rPr lang="en-US" b="1" dirty="0"/>
              <a:t>written communication</a:t>
            </a:r>
            <a:r>
              <a:rPr lang="en-US" dirty="0"/>
              <a:t> are that you can revise and perfect them and save them in a permanent record. Your message stays the same even if relayed through many people, and receivers have more time to analyze the message. Disadvantages are that the sender has no control over where, when, or if the message is read; the sender does not receive immediate feedback; the receiver may not understand parts of the message; and the message might not contain all the information others need.</a:t>
            </a:r>
          </a:p>
        </p:txBody>
      </p:sp>
      <p:sp>
        <p:nvSpPr>
          <p:cNvPr id="4" name="Slide Number Placeholder 3"/>
          <p:cNvSpPr>
            <a:spLocks noGrp="1"/>
          </p:cNvSpPr>
          <p:nvPr>
            <p:ph type="sldNum" sz="quarter" idx="5"/>
          </p:nvPr>
        </p:nvSpPr>
        <p:spPr/>
        <p:txBody>
          <a:bodyPr/>
          <a:lstStyle/>
          <a:p>
            <a:fld id="{35356329-1779-487C-B587-BBABA473AA7C}" type="slidenum">
              <a:rPr lang="en-US" smtClean="0"/>
              <a:t>7</a:t>
            </a:fld>
            <a:endParaRPr lang="en-US"/>
          </a:p>
        </p:txBody>
      </p:sp>
    </p:spTree>
    <p:extLst>
      <p:ext uri="{BB962C8B-B14F-4D97-AF65-F5344CB8AC3E}">
        <p14:creationId xmlns:p14="http://schemas.microsoft.com/office/powerpoint/2010/main" val="293207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Verbal communication </a:t>
            </a:r>
            <a:r>
              <a:rPr lang="en-US" dirty="0"/>
              <a:t>includes face-to-face discussions, phone conversations, meetings, and formal presentations and speeches. Its advantages are that questions can be asked and answered, feedback can be immediate and direct, receivers can sense the sender’s sincerity or lack thereof, and it's often more persuasive than written. However, verbal communication has disadvantages too: It can lead to spontaneous, ill-considered statements (and regret), and there is no permanent record of it unless you make an effort to record it.</a:t>
            </a:r>
          </a:p>
        </p:txBody>
      </p:sp>
      <p:sp>
        <p:nvSpPr>
          <p:cNvPr id="4" name="Slide Number Placeholder 3"/>
          <p:cNvSpPr>
            <a:spLocks noGrp="1"/>
          </p:cNvSpPr>
          <p:nvPr>
            <p:ph type="sldNum" sz="quarter" idx="5"/>
          </p:nvPr>
        </p:nvSpPr>
        <p:spPr/>
        <p:txBody>
          <a:bodyPr/>
          <a:lstStyle/>
          <a:p>
            <a:fld id="{35356329-1779-487C-B587-BBABA473AA7C}" type="slidenum">
              <a:rPr lang="en-US" smtClean="0"/>
              <a:t>8</a:t>
            </a:fld>
            <a:endParaRPr lang="en-US"/>
          </a:p>
        </p:txBody>
      </p:sp>
    </p:spTree>
    <p:extLst>
      <p:ext uri="{BB962C8B-B14F-4D97-AF65-F5344CB8AC3E}">
        <p14:creationId xmlns:p14="http://schemas.microsoft.com/office/powerpoint/2010/main" val="99595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Written communication </a:t>
            </a:r>
            <a:r>
              <a:rPr lang="en-US" dirty="0"/>
              <a:t>includes emails, texts, memos, reports, spreadsheets, brochures, etc. </a:t>
            </a:r>
          </a:p>
          <a:p>
            <a:endParaRPr lang="en-US" dirty="0"/>
          </a:p>
          <a:p>
            <a:r>
              <a:rPr lang="en-US" dirty="0"/>
              <a:t>You can always revise and perfect written communications, and once relayed to others, it remains consistent. The received has more time to analyze and comprehend the message. </a:t>
            </a:r>
          </a:p>
          <a:p>
            <a:endParaRPr lang="en-US" dirty="0"/>
          </a:p>
          <a:p>
            <a:r>
              <a:rPr lang="en-US" dirty="0"/>
              <a:t>However, there are drawbacks: The sender has no control over where, when, or if the message is read. Once it is read, there is not immediate feedback for the sender. And the receiver may not understand the message, and it might be incomplete.</a:t>
            </a:r>
          </a:p>
        </p:txBody>
      </p:sp>
      <p:sp>
        <p:nvSpPr>
          <p:cNvPr id="4" name="Slide Number Placeholder 3"/>
          <p:cNvSpPr>
            <a:spLocks noGrp="1"/>
          </p:cNvSpPr>
          <p:nvPr>
            <p:ph type="sldNum" sz="quarter" idx="5"/>
          </p:nvPr>
        </p:nvSpPr>
        <p:spPr/>
        <p:txBody>
          <a:bodyPr/>
          <a:lstStyle/>
          <a:p>
            <a:fld id="{35356329-1779-487C-B587-BBABA473AA7C}" type="slidenum">
              <a:rPr lang="en-US" smtClean="0"/>
              <a:t>9</a:t>
            </a:fld>
            <a:endParaRPr lang="en-US"/>
          </a:p>
        </p:txBody>
      </p:sp>
    </p:spTree>
    <p:extLst>
      <p:ext uri="{BB962C8B-B14F-4D97-AF65-F5344CB8AC3E}">
        <p14:creationId xmlns:p14="http://schemas.microsoft.com/office/powerpoint/2010/main" val="534586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Guidelines for </a:t>
            </a:r>
            <a:r>
              <a:rPr lang="en-US" b="1" dirty="0"/>
              <a:t>social media</a:t>
            </a:r>
            <a:r>
              <a:rPr lang="en-US" dirty="0"/>
              <a:t>:</a:t>
            </a:r>
          </a:p>
          <a:p>
            <a:pPr marL="228600" indent="-228600">
              <a:buAutoNum type="arabicParenR"/>
            </a:pPr>
            <a:r>
              <a:rPr lang="en-US" dirty="0"/>
              <a:t>Use reasonable etiquette and treat people respectfully, </a:t>
            </a:r>
          </a:p>
          <a:p>
            <a:pPr marL="228600" indent="-228600">
              <a:buAutoNum type="arabicParenR"/>
            </a:pPr>
            <a:r>
              <a:rPr lang="en-US" dirty="0"/>
              <a:t>Identify and represent yourself (usually you are not representing your employer), </a:t>
            </a:r>
          </a:p>
          <a:p>
            <a:pPr marL="228600" indent="-228600">
              <a:buAutoNum type="arabicParenR"/>
            </a:pPr>
            <a:r>
              <a:rPr lang="en-US" dirty="0"/>
              <a:t>Be factual and don’t violate company disclosure policies, and</a:t>
            </a:r>
          </a:p>
          <a:p>
            <a:pPr marL="228600" indent="-228600">
              <a:buAutoNum type="arabicParenR"/>
            </a:pPr>
            <a:r>
              <a:rPr lang="en-US" dirty="0"/>
              <a:t>Review the message before posting it (remember, it will become a permanent record).</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10</a:t>
            </a:fld>
            <a:endParaRPr lang="en-US"/>
          </a:p>
        </p:txBody>
      </p:sp>
    </p:spTree>
    <p:extLst>
      <p:ext uri="{BB962C8B-B14F-4D97-AF65-F5344CB8AC3E}">
        <p14:creationId xmlns:p14="http://schemas.microsoft.com/office/powerpoint/2010/main" val="1728243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Based on the philosophy that management’s focus should be on what people do, not where they are, </a:t>
            </a:r>
            <a:r>
              <a:rPr lang="en-US" i="0" dirty="0"/>
              <a:t>the </a:t>
            </a:r>
            <a:r>
              <a:rPr lang="en-US" b="1" i="0" dirty="0"/>
              <a:t>virtual office</a:t>
            </a:r>
            <a:r>
              <a:rPr lang="en-US" i="0" dirty="0"/>
              <a:t> </a:t>
            </a:r>
            <a:r>
              <a:rPr lang="en-US" dirty="0"/>
              <a:t>is a mobile office in which people can work anywhere—their home, car, airport, coffee houses, customers’ offices—as long as they have the tools to communicate with customers and colleagues.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11</a:t>
            </a:fld>
            <a:endParaRPr lang="en-US"/>
          </a:p>
        </p:txBody>
      </p:sp>
    </p:spTree>
    <p:extLst>
      <p:ext uri="{BB962C8B-B14F-4D97-AF65-F5344CB8AC3E}">
        <p14:creationId xmlns:p14="http://schemas.microsoft.com/office/powerpoint/2010/main" val="3456004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communication channels convey more information than others. </a:t>
            </a:r>
            <a:r>
              <a:rPr lang="en-US" sz="1200" b="0" i="0" u="none" strike="noStrike" kern="1200" baseline="0" dirty="0">
                <a:solidFill>
                  <a:schemeClr val="tx1"/>
                </a:solidFill>
                <a:latin typeface="+mn-lt"/>
                <a:ea typeface="+mn-ea"/>
                <a:cs typeface="+mn-cs"/>
              </a:rPr>
              <a:t>The degree to which a communication channel conveys information </a:t>
            </a:r>
            <a:r>
              <a:rPr lang="en-US" dirty="0"/>
              <a:t>is </a:t>
            </a:r>
            <a:r>
              <a:rPr lang="en-US" i="0" dirty="0"/>
              <a:t>called </a:t>
            </a:r>
            <a:r>
              <a:rPr lang="en-US" b="1" i="0" dirty="0"/>
              <a:t>media richness</a:t>
            </a:r>
            <a:r>
              <a:rPr lang="en-US" i="0" dirty="0"/>
              <a:t>. </a:t>
            </a:r>
          </a:p>
        </p:txBody>
      </p:sp>
      <p:sp>
        <p:nvSpPr>
          <p:cNvPr id="4" name="Slide Number Placeholder 3"/>
          <p:cNvSpPr>
            <a:spLocks noGrp="1"/>
          </p:cNvSpPr>
          <p:nvPr>
            <p:ph type="sldNum" sz="quarter" idx="5"/>
          </p:nvPr>
        </p:nvSpPr>
        <p:spPr/>
        <p:txBody>
          <a:bodyPr/>
          <a:lstStyle/>
          <a:p>
            <a:fld id="{35356329-1779-487C-B587-BBABA473AA7C}" type="slidenum">
              <a:rPr lang="en-US" smtClean="0"/>
              <a:t>12</a:t>
            </a:fld>
            <a:endParaRPr lang="en-US"/>
          </a:p>
        </p:txBody>
      </p:sp>
    </p:spTree>
    <p:extLst>
      <p:ext uri="{BB962C8B-B14F-4D97-AF65-F5344CB8AC3E}">
        <p14:creationId xmlns:p14="http://schemas.microsoft.com/office/powerpoint/2010/main" val="549873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1" i="0" dirty="0"/>
              <a:t>Questions:</a:t>
            </a:r>
          </a:p>
          <a:p>
            <a:pPr marL="342900" indent="-342900">
              <a:buFont typeface="Arial" panose="020B0604020202020204" pitchFamily="34" charset="0"/>
              <a:buChar char="•"/>
            </a:pPr>
            <a:r>
              <a:rPr lang="en-US" sz="1200" b="1" dirty="0"/>
              <a:t>What is your intuitive assessment analysis of the cost/–benefit ratio for SoundCloud's multiple different communication channels?</a:t>
            </a:r>
          </a:p>
          <a:p>
            <a:pPr marL="0" indent="0">
              <a:buFont typeface="Arial" panose="020B0604020202020204" pitchFamily="34" charset="0"/>
              <a:buNone/>
            </a:pPr>
            <a:r>
              <a:rPr lang="en-US" sz="1200" dirty="0"/>
              <a:t>Students may offer as benefits how the multiple platforms not only allow but encourage communication across multiple locations. The All Hands meeting allows for all employees to hear the same message and the manager surveys provide immediate feedback. However, the multiple methods have higher costs in terms of financial and time costs. Student ratios will vary based on their assessment of the benefits relative to the costs.</a:t>
            </a:r>
            <a:br>
              <a:rPr lang="en-US" sz="1200" dirty="0"/>
            </a:br>
            <a:endParaRPr lang="en-US" sz="1200" b="1" i="1" kern="1200" dirty="0">
              <a:solidFill>
                <a:schemeClr val="tx1"/>
              </a:solidFill>
              <a:latin typeface="+mn-lt"/>
              <a:ea typeface="+mn-ea"/>
              <a:cs typeface="+mn-cs"/>
            </a:endParaRPr>
          </a:p>
          <a:p>
            <a:pPr marL="342900" indent="-342900">
              <a:buFont typeface="Arial" panose="020B0604020202020204" pitchFamily="34" charset="0"/>
              <a:buChar char="•"/>
            </a:pPr>
            <a:r>
              <a:rPr lang="en-US" sz="1200" b="1" kern="1200" dirty="0">
                <a:solidFill>
                  <a:schemeClr val="tx1"/>
                </a:solidFill>
                <a:latin typeface="+mn-lt"/>
                <a:ea typeface="+mn-ea"/>
                <a:cs typeface="+mn-cs"/>
              </a:rPr>
              <a:t>What communication content is missing? What would you most want to make sure the company isn't overlooking or neglecting?</a:t>
            </a:r>
          </a:p>
          <a:p>
            <a:pPr marL="0" indent="0">
              <a:buFont typeface="Arial" panose="020B0604020202020204" pitchFamily="34" charset="0"/>
              <a:buNone/>
            </a:pPr>
            <a:r>
              <a:rPr lang="en-US" sz="1200" dirty="0"/>
              <a:t>Student’s answers will vary. Look for example of new technologies or those reaching more widespread adoption. They might also point to the need for smaller group meetings or even one-on-one meeting with managers to clarify what the new information means for an employee’s day to day work.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13</a:t>
            </a:fld>
            <a:endParaRPr lang="en-US"/>
          </a:p>
        </p:txBody>
      </p:sp>
    </p:spTree>
    <p:extLst>
      <p:ext uri="{BB962C8B-B14F-4D97-AF65-F5344CB8AC3E}">
        <p14:creationId xmlns:p14="http://schemas.microsoft.com/office/powerpoint/2010/main" val="864167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Recall that your first draft rarely is as good as it could be. If you have time, revise it. Go through your entire message and delete all unnecessary words, sentences, and paragraphs. Use specific, concrete words rather than abstract phrases.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14</a:t>
            </a:fld>
            <a:endParaRPr lang="en-US"/>
          </a:p>
        </p:txBody>
      </p:sp>
    </p:spTree>
    <p:extLst>
      <p:ext uri="{BB962C8B-B14F-4D97-AF65-F5344CB8AC3E}">
        <p14:creationId xmlns:p14="http://schemas.microsoft.com/office/powerpoint/2010/main" val="3819984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Whether speaking or writing, you should consider the receiver’s background—cultural as well as technical—and adjust your language accordingly. Learning host country languages and customs will give you an edge over competitors who do not.</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15</a:t>
            </a:fld>
            <a:endParaRPr lang="en-US"/>
          </a:p>
        </p:txBody>
      </p:sp>
    </p:spTree>
    <p:extLst>
      <p:ext uri="{BB962C8B-B14F-4D97-AF65-F5344CB8AC3E}">
        <p14:creationId xmlns:p14="http://schemas.microsoft.com/office/powerpoint/2010/main" val="3880636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People send and interpret signals other than those that are spoken or written. Nonverbal messages can support or undermine the stated message. Often nonverbal cues make a greater impact than other signals. In employees’ eyes, managers’ actions often speak louder than the words they choose.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16</a:t>
            </a:fld>
            <a:endParaRPr lang="en-US"/>
          </a:p>
        </p:txBody>
      </p:sp>
    </p:spTree>
    <p:extLst>
      <p:ext uri="{BB962C8B-B14F-4D97-AF65-F5344CB8AC3E}">
        <p14:creationId xmlns:p14="http://schemas.microsoft.com/office/powerpoint/2010/main" val="1089793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Questions:</a:t>
            </a:r>
          </a:p>
          <a:p>
            <a:pPr marL="342900" indent="-342900">
              <a:buAutoNum type="arabicPeriod"/>
            </a:pPr>
            <a:r>
              <a:rPr lang="en-US" sz="1200" b="1" dirty="0"/>
              <a:t>How can stories offer a more powerful communication tool than a presentation of data and facts? What examples come to mind?</a:t>
            </a:r>
          </a:p>
          <a:p>
            <a:r>
              <a:rPr lang="en-US" sz="1200" i="0" kern="1200" dirty="0">
                <a:solidFill>
                  <a:schemeClr val="tx1"/>
                </a:solidFill>
                <a:effectLst/>
                <a:latin typeface="+mn-lt"/>
                <a:ea typeface="+mn-ea"/>
                <a:cs typeface="+mn-cs"/>
              </a:rPr>
              <a:t>A well-told story interests and informs stakeholders about the work of the organization, builds their commitment and advocacy, spreads the word about the organization’s impact, and can even help secure funding that contributes to its survival. Stories can establish a shared vision with readers or listeners and motivate them to join the social enterprise’s campaign or become part of its community.</a:t>
            </a:r>
          </a:p>
          <a:p>
            <a:pPr marL="0" lvl="0" indent="0">
              <a:buFont typeface="Arial" panose="020B0604020202020204" pitchFamily="34" charset="0"/>
              <a:buNone/>
            </a:pPr>
            <a:endParaRPr lang="en-AU" sz="1200" b="1" kern="1200" dirty="0">
              <a:solidFill>
                <a:schemeClr val="tx1"/>
              </a:solidFill>
              <a:effectLst/>
              <a:latin typeface="+mn-lt"/>
              <a:ea typeface="+mn-ea"/>
              <a:cs typeface="+mn-cs"/>
            </a:endParaRPr>
          </a:p>
          <a:p>
            <a:pPr marL="344488" indent="-344488" algn="l" defTabSz="914400" rtl="0" eaLnBrk="1" latinLnBrk="0" hangingPunct="1">
              <a:buNone/>
            </a:pPr>
            <a:r>
              <a:rPr lang="en-US" sz="1200" b="1" i="1" kern="1200" dirty="0">
                <a:solidFill>
                  <a:schemeClr val="tx1"/>
                </a:solidFill>
                <a:latin typeface="+mn-lt"/>
                <a:ea typeface="+mn-ea"/>
                <a:cs typeface="+mn-cs"/>
              </a:rPr>
              <a:t>2</a:t>
            </a:r>
            <a:r>
              <a:rPr lang="en-US" sz="1200" b="1" kern="1200" dirty="0">
                <a:solidFill>
                  <a:schemeClr val="tx1"/>
                </a:solidFill>
                <a:latin typeface="+mn-lt"/>
                <a:ea typeface="+mn-ea"/>
                <a:cs typeface="+mn-cs"/>
              </a:rPr>
              <a:t>. What does a social enterprise need to know about its audience to communicate stories of the organization’s success?</a:t>
            </a:r>
          </a:p>
          <a:p>
            <a:r>
              <a:rPr lang="en-US" sz="1200" i="0" kern="1200" dirty="0">
                <a:solidFill>
                  <a:schemeClr val="tx1"/>
                </a:solidFill>
                <a:effectLst/>
                <a:latin typeface="+mn-lt"/>
                <a:ea typeface="+mn-ea"/>
                <a:cs typeface="+mn-cs"/>
              </a:rPr>
              <a:t>While story elements will be the substantially the same, the target of the communication will call for different elements of the story to be emphasized. Ideally, the story will be customized to target the particular interest of the audience and are more likely to focus on impact versus profitability.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17</a:t>
            </a:fld>
            <a:endParaRPr lang="en-US"/>
          </a:p>
        </p:txBody>
      </p:sp>
    </p:spTree>
    <p:extLst>
      <p:ext uri="{BB962C8B-B14F-4D97-AF65-F5344CB8AC3E}">
        <p14:creationId xmlns:p14="http://schemas.microsoft.com/office/powerpoint/2010/main" val="1313638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become effective at sending verbal, written, and nonverbal messages, you are halfway toward becoming a complete communicator. However, you must also develop adequate receiving capabilities. Receivers need good listening, reading, and observational skills.</a:t>
            </a:r>
          </a:p>
          <a:p>
            <a:endParaRPr lang="en-US" dirty="0"/>
          </a:p>
          <a:p>
            <a:r>
              <a:rPr lang="en-US" dirty="0"/>
              <a:t>Managers need good listening skills. Although people often assume that good listening is easy and natural, in fact it is difficult and not nearly as common as needed. </a:t>
            </a:r>
          </a:p>
          <a:p>
            <a:endParaRPr lang="en-US" dirty="0"/>
          </a:p>
          <a:p>
            <a:r>
              <a:rPr lang="en-US" dirty="0"/>
              <a:t>A basic technique called </a:t>
            </a:r>
            <a:r>
              <a:rPr lang="en-US" b="1" i="0" dirty="0"/>
              <a:t>reflection</a:t>
            </a:r>
            <a:r>
              <a:rPr lang="en-US" dirty="0"/>
              <a:t> helps people listen well. This technique places a greater emphasis on listening than on talking. When the listener reflects to the speaker, who then signals accuracy or corrects misunderstandings, the result is better understanding.</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18</a:t>
            </a:fld>
            <a:endParaRPr lang="en-US"/>
          </a:p>
        </p:txBody>
      </p:sp>
    </p:spTree>
    <p:extLst>
      <p:ext uri="{BB962C8B-B14F-4D97-AF65-F5344CB8AC3E}">
        <p14:creationId xmlns:p14="http://schemas.microsoft.com/office/powerpoint/2010/main" val="1993044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Employers are dismayed by college graduates’ poor communication skills. A demonstrated ability to communicate effectively will make you a more attractive job candidate. You can do many things to improve your communication skills, both as a sender and as a receiver. Beyond this basic point, senders can improve their skills in persuasion, writing, language, and nonverbal signaling. </a:t>
            </a:r>
          </a:p>
          <a:p>
            <a:endParaRPr lang="en-US" b="1" dirty="0"/>
          </a:p>
          <a:p>
            <a:r>
              <a:rPr lang="en-US" b="1" dirty="0"/>
              <a:t>Exhibit 15.3 </a:t>
            </a:r>
            <a:r>
              <a:rPr lang="en-US" dirty="0"/>
              <a:t>(abbreviated</a:t>
            </a:r>
            <a:r>
              <a:rPr lang="en-US" baseline="0" dirty="0"/>
              <a:t> on this slide) </a:t>
            </a:r>
            <a:r>
              <a:rPr lang="en-US" dirty="0"/>
              <a:t>offers some useful tips on formal presentations.</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19</a:t>
            </a:fld>
            <a:endParaRPr lang="en-US"/>
          </a:p>
        </p:txBody>
      </p:sp>
    </p:spTree>
    <p:extLst>
      <p:ext uri="{BB962C8B-B14F-4D97-AF65-F5344CB8AC3E}">
        <p14:creationId xmlns:p14="http://schemas.microsoft.com/office/powerpoint/2010/main" val="3913341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taking courses to increase your reading speed and comprehension skills. And don’t limit your reading to items about your particular job skills or technical expertise; read materials that fall outside your immediate concerns. You never know when a creative idea that will help you in your work will be inspired by a novel, a biography, a sports story, or an article about a problem in another business or industry.</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20</a:t>
            </a:fld>
            <a:endParaRPr lang="en-US"/>
          </a:p>
        </p:txBody>
      </p:sp>
    </p:spTree>
    <p:extLst>
      <p:ext uri="{BB962C8B-B14F-4D97-AF65-F5344CB8AC3E}">
        <p14:creationId xmlns:p14="http://schemas.microsoft.com/office/powerpoint/2010/main" val="2104157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communicators are good also at observing and interpreting nonverbal communications. For example, by reading nonverbal cues, a presenter can determine how her talk is going and adjust her approach if necessary. People can decode nonverbal signals to determine whether a sender is being truthful or deceitful. Many corporate executives rely heavily on reports from the field and don’t travel to remote locations to observe firsthand what is going on. Reports are no substitute for actually seeing things happen in practice.</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21</a:t>
            </a:fld>
            <a:endParaRPr lang="en-US"/>
          </a:p>
        </p:txBody>
      </p:sp>
    </p:spTree>
    <p:extLst>
      <p:ext uri="{BB962C8B-B14F-4D97-AF65-F5344CB8AC3E}">
        <p14:creationId xmlns:p14="http://schemas.microsoft.com/office/powerpoint/2010/main" val="2160184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Communications travel downward, upward, horizontally, and informally.</a:t>
            </a:r>
          </a:p>
          <a:p>
            <a:endParaRPr lang="en-US" b="1" i="1" dirty="0"/>
          </a:p>
          <a:p>
            <a:r>
              <a:rPr lang="en-US" b="1" dirty="0"/>
              <a:t>Downward communication </a:t>
            </a:r>
            <a:r>
              <a:rPr lang="en-US" dirty="0"/>
              <a:t>that provides relevant information can enhance employee identification with the company, supportive attitudes, and decisions consistent with the organization’s objectives.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22</a:t>
            </a:fld>
            <a:endParaRPr lang="en-US"/>
          </a:p>
        </p:txBody>
      </p:sp>
    </p:spTree>
    <p:extLst>
      <p:ext uri="{BB962C8B-B14F-4D97-AF65-F5344CB8AC3E}">
        <p14:creationId xmlns:p14="http://schemas.microsoft.com/office/powerpoint/2010/main" val="1084421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communications cascade downward from one person to another through successive organizational levels, much information is lost. The hypothetical data in Exhibit 15.4 suggest that by the time messages reach lower levels, receivers may get very little useful information. The more authority levels through which communication pass, the more information will be lost or distorted. Flatter organizations with fewer hierarchical levels benefit from less filtering.</a:t>
            </a:r>
          </a:p>
        </p:txBody>
      </p:sp>
      <p:sp>
        <p:nvSpPr>
          <p:cNvPr id="4" name="Slide Number Placeholder 3"/>
          <p:cNvSpPr>
            <a:spLocks noGrp="1"/>
          </p:cNvSpPr>
          <p:nvPr>
            <p:ph type="sldNum" sz="quarter" idx="5"/>
          </p:nvPr>
        </p:nvSpPr>
        <p:spPr/>
        <p:txBody>
          <a:bodyPr/>
          <a:lstStyle/>
          <a:p>
            <a:fld id="{35356329-1779-487C-B587-BBABA473AA7C}" type="slidenum">
              <a:rPr lang="en-US" smtClean="0"/>
              <a:t>23</a:t>
            </a:fld>
            <a:endParaRPr lang="en-US"/>
          </a:p>
        </p:txBody>
      </p:sp>
    </p:spTree>
    <p:extLst>
      <p:ext uri="{BB962C8B-B14F-4D97-AF65-F5344CB8AC3E}">
        <p14:creationId xmlns:p14="http://schemas.microsoft.com/office/powerpoint/2010/main" val="3355150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Good </a:t>
            </a:r>
            <a:r>
              <a:rPr lang="en-US" sz="1200" b="1" i="0" u="none" strike="noStrike" kern="1200" baseline="0" dirty="0">
                <a:solidFill>
                  <a:schemeClr val="tx1"/>
                </a:solidFill>
                <a:latin typeface="+mn-lt"/>
                <a:ea typeface="+mn-ea"/>
                <a:cs typeface="+mn-cs"/>
              </a:rPr>
              <a:t>coaching</a:t>
            </a:r>
            <a:r>
              <a:rPr lang="en-US" sz="1200" b="0" i="0" u="none" strike="noStrike" kern="1200" baseline="0" dirty="0">
                <a:solidFill>
                  <a:schemeClr val="tx1"/>
                </a:solidFill>
                <a:latin typeface="+mn-lt"/>
                <a:ea typeface="+mn-ea"/>
                <a:cs typeface="+mn-cs"/>
              </a:rPr>
              <a:t> helps you think through problems and opportunities, identify options, and learn from experience. Good coaches ask good questions, listen well, provide input, and encourage people to also think for themselves. </a:t>
            </a:r>
          </a:p>
          <a:p>
            <a:endParaRPr lang="en-US" sz="1200" b="1"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Open-book management </a:t>
            </a:r>
            <a:r>
              <a:rPr lang="en-US" sz="1200" b="0" i="0" u="none" strike="noStrike" kern="1200" baseline="0" dirty="0">
                <a:solidFill>
                  <a:schemeClr val="tx1"/>
                </a:solidFill>
                <a:latin typeface="+mn-lt"/>
                <a:ea typeface="+mn-ea"/>
                <a:cs typeface="+mn-cs"/>
              </a:rPr>
              <a:t>is controversial because many managers prefer to keep such information to themselves. Sharing strategic plans and financial information with employees could lead to leaks to competitors or to employee dissatisfaction with their pay. </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24</a:t>
            </a:fld>
            <a:endParaRPr lang="en-US"/>
          </a:p>
        </p:txBody>
      </p:sp>
    </p:spTree>
    <p:extLst>
      <p:ext uri="{BB962C8B-B14F-4D97-AF65-F5344CB8AC3E}">
        <p14:creationId xmlns:p14="http://schemas.microsoft.com/office/powerpoint/2010/main" val="537439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Useful upward communication must be reinforced and not punished. The person who tries to talk to the manager about an important issue must not be brushed off repeatedly. An announced open-door policy must truly be open door. Ideally, people trust their bosses and know that they will not hold a grudge against whoever delivers negative information. Managers should truly listen and learn, not punish the messenger for being honest, and take action on valid ideas.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25</a:t>
            </a:fld>
            <a:endParaRPr lang="en-US"/>
          </a:p>
        </p:txBody>
      </p:sp>
    </p:spTree>
    <p:extLst>
      <p:ext uri="{BB962C8B-B14F-4D97-AF65-F5344CB8AC3E}">
        <p14:creationId xmlns:p14="http://schemas.microsoft.com/office/powerpoint/2010/main" val="9650558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Much information needs to be shared among people on the same hierarchical level. Such </a:t>
            </a:r>
            <a:r>
              <a:rPr lang="en-US" b="1" i="0" dirty="0"/>
              <a:t>horizontal communication</a:t>
            </a:r>
            <a:r>
              <a:rPr lang="en-US" dirty="0"/>
              <a:t> can take place among people in the same work team or in different departments. For example, a purchasing agent discusses a problem with a production engineer, and a task force of department heads meets to discuss a widespread concern. Communicating with others outside the firm, including potential investors, is another vital type of horizontal communication.</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26</a:t>
            </a:fld>
            <a:endParaRPr lang="en-US"/>
          </a:p>
        </p:txBody>
      </p:sp>
    </p:spTree>
    <p:extLst>
      <p:ext uri="{BB962C8B-B14F-4D97-AF65-F5344CB8AC3E}">
        <p14:creationId xmlns:p14="http://schemas.microsoft.com/office/powerpoint/2010/main" val="20427558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Communications differ in their levels of formality. Formal communications are official, management-sanctioned episodes of information transmission. </a:t>
            </a:r>
            <a:r>
              <a:rPr lang="en-US" b="1" dirty="0"/>
              <a:t>Informal communication</a:t>
            </a:r>
            <a:r>
              <a:rPr lang="en-US" dirty="0"/>
              <a:t> is more unofficial. People gossip; employees complain about their bosses; friends talk about their favorite sports teams; work teams tell newcomers how to get by.</a:t>
            </a:r>
          </a:p>
          <a:p>
            <a:endParaRPr lang="en-US" dirty="0"/>
          </a:p>
          <a:p>
            <a:r>
              <a:rPr lang="en-US" dirty="0"/>
              <a:t>The </a:t>
            </a:r>
            <a:r>
              <a:rPr lang="en-US" b="1" i="0" dirty="0"/>
              <a:t>grapevine</a:t>
            </a:r>
            <a:r>
              <a:rPr lang="en-US" i="0" dirty="0"/>
              <a:t> </a:t>
            </a:r>
            <a:r>
              <a:rPr lang="en-US" dirty="0"/>
              <a:t>is the social network of informal communications. You should develop a good network of people willing and able to help. However, the grapevine can be destructive when misinformation proliferates and harms people and operations.</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27</a:t>
            </a:fld>
            <a:endParaRPr lang="en-US"/>
          </a:p>
        </p:txBody>
      </p:sp>
    </p:spTree>
    <p:extLst>
      <p:ext uri="{BB962C8B-B14F-4D97-AF65-F5344CB8AC3E}">
        <p14:creationId xmlns:p14="http://schemas.microsoft.com/office/powerpoint/2010/main" val="3307548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between words and action is one type of integrity, which creates trust. </a:t>
            </a:r>
            <a:r>
              <a:rPr lang="en-US" b="1" dirty="0"/>
              <a:t>Transparency</a:t>
            </a:r>
            <a:r>
              <a:rPr lang="en-US" dirty="0"/>
              <a:t>, too, strengthens people’s trust in an organization and in one another. These are vital contributors to personal, team, and organizational effectiveness.</a:t>
            </a:r>
          </a:p>
        </p:txBody>
      </p:sp>
      <p:sp>
        <p:nvSpPr>
          <p:cNvPr id="4" name="Slide Number Placeholder 3"/>
          <p:cNvSpPr>
            <a:spLocks noGrp="1"/>
          </p:cNvSpPr>
          <p:nvPr>
            <p:ph type="sldNum" sz="quarter" idx="5"/>
          </p:nvPr>
        </p:nvSpPr>
        <p:spPr/>
        <p:txBody>
          <a:bodyPr/>
          <a:lstStyle/>
          <a:p>
            <a:fld id="{35356329-1779-487C-B587-BBABA473AA7C}" type="slidenum">
              <a:rPr lang="en-US" smtClean="0"/>
              <a:t>28</a:t>
            </a:fld>
            <a:endParaRPr lang="en-US"/>
          </a:p>
        </p:txBody>
      </p:sp>
    </p:spTree>
    <p:extLst>
      <p:ext uri="{BB962C8B-B14F-4D97-AF65-F5344CB8AC3E}">
        <p14:creationId xmlns:p14="http://schemas.microsoft.com/office/powerpoint/2010/main" val="885744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executives know how important it is to be more open with information than tradition used to dictate, and employees do want more information than less. You will often hear of a desire for more </a:t>
            </a:r>
            <a:r>
              <a:rPr lang="en-US" b="1" i="0" dirty="0"/>
              <a:t>transparency</a:t>
            </a:r>
            <a:r>
              <a:rPr lang="en-US" i="0" dirty="0"/>
              <a:t>:</a:t>
            </a:r>
            <a:r>
              <a:rPr lang="en-US" dirty="0"/>
              <a:t> people’s receiving relevant, high-quality information defined by </a:t>
            </a:r>
            <a:r>
              <a:rPr lang="en-US" i="1" dirty="0"/>
              <a:t>accuracy</a:t>
            </a:r>
            <a:r>
              <a:rPr lang="en-US" dirty="0"/>
              <a:t>, </a:t>
            </a:r>
            <a:r>
              <a:rPr lang="en-US" i="1" dirty="0"/>
              <a:t>timeliness</a:t>
            </a:r>
            <a:r>
              <a:rPr lang="en-US" dirty="0"/>
              <a:t>, and full </a:t>
            </a:r>
            <a:r>
              <a:rPr lang="en-US" i="1" dirty="0"/>
              <a:t>disclosure</a:t>
            </a:r>
            <a:r>
              <a:rPr lang="en-US" dirty="0"/>
              <a:t>. This free flow does not imply a random free-for-all of unlimited communication and information overload. It implies information available </a:t>
            </a:r>
            <a:r>
              <a:rPr lang="en-US" i="1" dirty="0"/>
              <a:t>as needed</a:t>
            </a:r>
            <a:r>
              <a:rPr lang="en-US" dirty="0"/>
              <a:t> moving </a:t>
            </a:r>
            <a:r>
              <a:rPr lang="en-US" i="1" dirty="0"/>
              <a:t>fast and easily</a:t>
            </a:r>
            <a:r>
              <a:rPr lang="en-US" dirty="0"/>
              <a:t> enough that the organization functions far better as a whole than as separate parts.</a:t>
            </a:r>
          </a:p>
          <a:p>
            <a:endParaRPr lang="en-US" dirty="0"/>
          </a:p>
          <a:p>
            <a:r>
              <a:rPr lang="en-US" b="1" dirty="0"/>
              <a:t>Boundarylessness</a:t>
            </a:r>
            <a:r>
              <a:rPr lang="en-US" dirty="0"/>
              <a:t> facilitates dialogue by turning psychological barriers into permeable membranes. GE’s famous Workout program is a series of meetings characterized by extremely frank, tough discussions among people of different units and hierarchical levels. Well over a million GE employees have attended Workout programs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29</a:t>
            </a:fld>
            <a:endParaRPr lang="en-US"/>
          </a:p>
        </p:txBody>
      </p:sp>
    </p:spTree>
    <p:extLst>
      <p:ext uri="{BB962C8B-B14F-4D97-AF65-F5344CB8AC3E}">
        <p14:creationId xmlns:p14="http://schemas.microsoft.com/office/powerpoint/2010/main" val="1453723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What do you think of Bumble’s central message of “Ladies first"? What are its advantages? What are some potential drawbacks?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advantage is in flipping the script in which party starts a two-way conversation. This make Bumble stand out providing a market advantage. A potential drawback would be if the size of the market preferring this approach is too small or less likely to lead to continued use of the service because the receiving party is less interested in continuing the communication.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Bumble is trying to create a more collaborative environment for female employees. How can two-communication be used to realize this goal?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Two-way communication is more difficult and time-consuming than one-way communication. However, it is more accurate: fewer mistakes occur, and fewer problems arise later. When receivers have a chance to ask questions, share concerns, and make suggestions or modifications, they understand more precisely what the sender is communicating and what they should do with the information and two-way communication is a prime contributor to performance. Bumble can mine the grapevine for information shared informally and turn it into a two-way communication channel with upper management.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sz="1200" b="0" i="1"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30</a:t>
            </a:fld>
            <a:endParaRPr lang="en-US"/>
          </a:p>
        </p:txBody>
      </p:sp>
    </p:spTree>
    <p:extLst>
      <p:ext uri="{BB962C8B-B14F-4D97-AF65-F5344CB8AC3E}">
        <p14:creationId xmlns:p14="http://schemas.microsoft.com/office/powerpoint/2010/main" val="1814321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This slide may be used as a review of the lesson and to facilitate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Managerial Control is discussed in the next chapter.</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31</a:t>
            </a:fld>
            <a:endParaRPr lang="en-US"/>
          </a:p>
        </p:txBody>
      </p:sp>
    </p:spTree>
    <p:extLst>
      <p:ext uri="{BB962C8B-B14F-4D97-AF65-F5344CB8AC3E}">
        <p14:creationId xmlns:p14="http://schemas.microsoft.com/office/powerpoint/2010/main" val="935775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emf"/><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emf"/><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emf"/><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jp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 Id="rId5" Type="http://schemas.openxmlformats.org/officeDocument/2006/relationships/image" Target="../media/image12.jpg"/><Relationship Id="rId4" Type="http://schemas.openxmlformats.org/officeDocument/2006/relationships/image" Target="../media/image11.jp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emf"/><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3.jpe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emf"/><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7.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6" name="Content Placeholder 5">
            <a:extLst>
              <a:ext uri="{FF2B5EF4-FFF2-40B4-BE49-F238E27FC236}">
                <a16:creationId xmlns:a16="http://schemas.microsoft.com/office/drawing/2014/main" id="{95FB06C8-11A0-4E73-A5CE-7801EB091162}"/>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515965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693BA5A3-DAB5-45C2-AE6D-5271B0A7976C}"/>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pic>
        <p:nvPicPr>
          <p:cNvPr id="7" name="Picture 6" descr="ATC Building powerpoint.jpg"/>
          <p:cNvPicPr>
            <a:picLocks noChangeAspect="1"/>
          </p:cNvPicPr>
          <p:nvPr userDrawn="1"/>
        </p:nvPicPr>
        <p:blipFill rotWithShape="1">
          <a:blip r:embed="rId2">
            <a:extLst>
              <a:ext uri="{28A0092B-C50C-407E-A947-70E740481C1C}">
                <a14:useLocalDpi xmlns:a14="http://schemas.microsoft.com/office/drawing/2010/main" val="0"/>
              </a:ext>
            </a:extLst>
          </a:blip>
          <a:srcRect r="11220"/>
          <a:stretch/>
        </p:blipFill>
        <p:spPr>
          <a:xfrm>
            <a:off x="0" y="-1"/>
            <a:ext cx="9144000" cy="6866467"/>
          </a:xfrm>
          <a:prstGeom prst="rect">
            <a:avLst/>
          </a:prstGeom>
        </p:spPr>
      </p:pic>
      <p:pic>
        <p:nvPicPr>
          <p:cNvPr id="8" name="Picture 7"/>
          <p:cNvPicPr>
            <a:picLocks noChangeAspect="1"/>
          </p:cNvPicPr>
          <p:nvPr userDrawn="1"/>
        </p:nvPicPr>
        <p:blipFill>
          <a:blip r:embed="rId3"/>
          <a:stretch>
            <a:fillRect/>
          </a:stretch>
        </p:blipFill>
        <p:spPr>
          <a:xfrm>
            <a:off x="6268085" y="5346700"/>
            <a:ext cx="2456815" cy="927100"/>
          </a:xfrm>
          <a:prstGeom prst="rect">
            <a:avLst/>
          </a:prstGeom>
        </p:spPr>
      </p:pic>
      <p:pic>
        <p:nvPicPr>
          <p:cNvPr id="9" name="Picture 8" descr="DVC Bubbl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8001" y="741679"/>
            <a:ext cx="6776085" cy="3755676"/>
          </a:xfrm>
          <a:prstGeom prst="rect">
            <a:avLst/>
          </a:prstGeom>
        </p:spPr>
      </p:pic>
      <p:sp>
        <p:nvSpPr>
          <p:cNvPr id="11" name="Text Placeholder 9"/>
          <p:cNvSpPr>
            <a:spLocks noGrp="1"/>
          </p:cNvSpPr>
          <p:nvPr>
            <p:ph type="body" sz="quarter" idx="13" hasCustomPrompt="1"/>
          </p:nvPr>
        </p:nvSpPr>
        <p:spPr>
          <a:xfrm>
            <a:off x="295275" y="1200150"/>
            <a:ext cx="5200651" cy="1419367"/>
          </a:xfrm>
          <a:prstGeom prst="rect">
            <a:avLst/>
          </a:prstGeom>
        </p:spPr>
        <p:txBody>
          <a:bodyPr/>
          <a:lstStyle>
            <a:lvl1pPr marL="0" indent="0">
              <a:defRPr sz="2700" baseline="0">
                <a:solidFill>
                  <a:schemeClr val="tx1"/>
                </a:solidFill>
              </a:defRPr>
            </a:lvl1pPr>
          </a:lstStyle>
          <a:p>
            <a:pPr lvl="0"/>
            <a:r>
              <a:rPr lang="en-US" dirty="0"/>
              <a:t>Presentation title</a:t>
            </a:r>
          </a:p>
        </p:txBody>
      </p:sp>
      <p:sp>
        <p:nvSpPr>
          <p:cNvPr id="12" name="Text Placeholder 13"/>
          <p:cNvSpPr>
            <a:spLocks noGrp="1"/>
          </p:cNvSpPr>
          <p:nvPr>
            <p:ph type="body" sz="quarter" idx="14" hasCustomPrompt="1"/>
          </p:nvPr>
        </p:nvSpPr>
        <p:spPr>
          <a:xfrm>
            <a:off x="304800" y="3114676"/>
            <a:ext cx="4133850" cy="1133475"/>
          </a:xfrm>
          <a:prstGeom prst="rect">
            <a:avLst/>
          </a:prstGeom>
        </p:spPr>
        <p:txBody>
          <a:bodyPr/>
          <a:lstStyle>
            <a:lvl1pPr marL="0" indent="0">
              <a:defRPr baseline="0"/>
            </a:lvl1pPr>
          </a:lstStyle>
          <a:p>
            <a:pPr lvl="0"/>
            <a:r>
              <a:rPr lang="en-US" dirty="0"/>
              <a:t>Presenter</a:t>
            </a:r>
          </a:p>
        </p:txBody>
      </p:sp>
      <p:pic>
        <p:nvPicPr>
          <p:cNvPr id="13" name="Picture 7" descr="swin logo v.png"/>
          <p:cNvPicPr>
            <a:picLocks noChangeAspect="1"/>
          </p:cNvPicPr>
          <p:nvPr userDrawn="1"/>
        </p:nvPicPr>
        <p:blipFill>
          <a:blip r:embed="rId5"/>
          <a:srcRect/>
          <a:stretch>
            <a:fillRect/>
          </a:stretch>
        </p:blipFill>
        <p:spPr bwMode="auto">
          <a:xfrm>
            <a:off x="7699376" y="0"/>
            <a:ext cx="1444625" cy="2882900"/>
          </a:xfrm>
          <a:prstGeom prst="rect">
            <a:avLst/>
          </a:prstGeom>
          <a:noFill/>
          <a:ln w="9525">
            <a:noFill/>
            <a:miter lim="800000"/>
            <a:headEnd/>
            <a:tailEnd/>
          </a:ln>
        </p:spPr>
      </p:pic>
    </p:spTree>
    <p:extLst>
      <p:ext uri="{BB962C8B-B14F-4D97-AF65-F5344CB8AC3E}">
        <p14:creationId xmlns:p14="http://schemas.microsoft.com/office/powerpoint/2010/main" val="270859986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03133A46-43F0-4734-A847-009F11688B7F}"/>
              </a:ext>
            </a:extLst>
          </p:cNvPr>
          <p:cNvSpPr>
            <a:spLocks noGrp="1"/>
          </p:cNvSpPr>
          <p:nvPr>
            <p:ph type="body" sz="quarter" idx="14"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vl2pPr>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2pPr>
              <a:spcBef>
                <a:spcPts val="1000"/>
              </a:spcBef>
              <a:spcAft>
                <a:spcPts val="0"/>
              </a:spcAft>
              <a:defRPr/>
            </a:lvl2pPr>
            <a:lvl3pPr>
              <a:spcBef>
                <a:spcPts val="1000"/>
              </a:spcBef>
              <a:spcAft>
                <a:spcPts val="0"/>
              </a:spcAft>
              <a:defRPr/>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F07503B-138D-44F5-84FC-A7637F059B66}"/>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5840A85-FE10-45F4-81E4-A52DE2319ED9}"/>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72A1E447-C26A-4D25-8792-9B7C6A839F37}"/>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CA880A79-A85B-437C-BC20-FC23BDD36F54}"/>
              </a:ext>
            </a:extLst>
          </p:cNvPr>
          <p:cNvSpPr>
            <a:spLocks noGrp="1"/>
          </p:cNvSpPr>
          <p:nvPr>
            <p:ph type="body" sz="quarter" idx="16"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893AC4A-29B0-44AE-8CE5-26A7096591D7}"/>
              </a:ext>
            </a:extLst>
          </p:cNvPr>
          <p:cNvSpPr>
            <a:spLocks noGrp="1"/>
          </p:cNvSpPr>
          <p:nvPr>
            <p:ph type="body" sz="quarter" idx="19"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553357"/>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810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474668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9749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20368"/>
            <a:ext cx="8458200" cy="49528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87044"/>
            <a:ext cx="8458200" cy="497349"/>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223090"/>
            <a:ext cx="8458200" cy="4891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870885"/>
            <a:ext cx="8458200" cy="428155"/>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481749"/>
            <a:ext cx="8458200" cy="436533"/>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CBC0FE29-09D4-4E55-BCD6-2FA65595DD14}"/>
              </a:ext>
            </a:extLst>
          </p:cNvPr>
          <p:cNvSpPr>
            <a:spLocks noGrp="1"/>
          </p:cNvSpPr>
          <p:nvPr>
            <p:ph sz="quarter" idx="19" hasCustomPrompt="1"/>
          </p:nvPr>
        </p:nvSpPr>
        <p:spPr>
          <a:xfrm>
            <a:off x="342900" y="5091317"/>
            <a:ext cx="8458200" cy="436533"/>
          </a:xfr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CDAC9D78-8CE5-4E8D-AA81-3FCEE7371FFF}"/>
              </a:ext>
            </a:extLst>
          </p:cNvPr>
          <p:cNvSpPr>
            <a:spLocks noGrp="1"/>
          </p:cNvSpPr>
          <p:nvPr>
            <p:ph sz="quarter" idx="20" hasCustomPrompt="1"/>
          </p:nvPr>
        </p:nvSpPr>
        <p:spPr>
          <a:xfrm>
            <a:off x="342900" y="5711422"/>
            <a:ext cx="8458200" cy="436533"/>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7" name="Content Placeholder 9">
            <a:extLst>
              <a:ext uri="{FF2B5EF4-FFF2-40B4-BE49-F238E27FC236}">
                <a16:creationId xmlns:a16="http://schemas.microsoft.com/office/drawing/2014/main" id="{E3C60504-9967-4D01-B408-D8C146D1DFFA}"/>
              </a:ext>
            </a:extLst>
          </p:cNvPr>
          <p:cNvSpPr>
            <a:spLocks noGrp="1"/>
          </p:cNvSpPr>
          <p:nvPr>
            <p:ph sz="quarter" idx="21" hasCustomPrompt="1"/>
          </p:nvPr>
        </p:nvSpPr>
        <p:spPr>
          <a:xfrm>
            <a:off x="344638" y="6684963"/>
            <a:ext cx="8458200" cy="436533"/>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8" name="Content Placeholder 10">
            <a:extLst>
              <a:ext uri="{FF2B5EF4-FFF2-40B4-BE49-F238E27FC236}">
                <a16:creationId xmlns:a16="http://schemas.microsoft.com/office/drawing/2014/main" id="{A99C91D1-85FB-4150-AE75-34B22018BC06}"/>
              </a:ext>
            </a:extLst>
          </p:cNvPr>
          <p:cNvSpPr>
            <a:spLocks noGrp="1"/>
          </p:cNvSpPr>
          <p:nvPr>
            <p:ph sz="quarter" idx="22" hasCustomPrompt="1"/>
          </p:nvPr>
        </p:nvSpPr>
        <p:spPr>
          <a:xfrm>
            <a:off x="342900" y="7328393"/>
            <a:ext cx="8458200" cy="436533"/>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3407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solidFill>
                  <a:srgbClr val="15499F"/>
                </a:solidFill>
              </a:defRPr>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8946740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992443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5875130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5750754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BF25DC59-5AB2-417D-B46A-F09F380F8F67}"/>
              </a:ext>
            </a:extLst>
          </p:cNvPr>
          <p:cNvSpPr>
            <a:spLocks noGrp="1"/>
          </p:cNvSpPr>
          <p:nvPr>
            <p:ph sz="quarter" idx="10"/>
          </p:nvPr>
        </p:nvSpPr>
        <p:spPr>
          <a:xfrm>
            <a:off x="277813" y="6526213"/>
            <a:ext cx="8699500" cy="2047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395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469231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890800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Content Placeholder 2">
            <a:extLst>
              <a:ext uri="{FF2B5EF4-FFF2-40B4-BE49-F238E27FC236}">
                <a16:creationId xmlns:a16="http://schemas.microsoft.com/office/drawing/2014/main" id="{490B3C5B-11B7-40DF-8C64-810D6BDA38D4}"/>
              </a:ext>
            </a:extLst>
          </p:cNvPr>
          <p:cNvSpPr>
            <a:spLocks noGrp="1"/>
          </p:cNvSpPr>
          <p:nvPr>
            <p:ph sz="quarter" idx="16" hasCustomPrompt="1"/>
          </p:nvPr>
        </p:nvSpPr>
        <p:spPr>
          <a:xfrm>
            <a:off x="342900" y="2190333"/>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0A10E1C6-4B3F-4C63-942D-1E6D75385F15}"/>
              </a:ext>
            </a:extLst>
          </p:cNvPr>
          <p:cNvSpPr>
            <a:spLocks noGrp="1"/>
          </p:cNvSpPr>
          <p:nvPr>
            <p:ph sz="quarter" idx="17" hasCustomPrompt="1"/>
          </p:nvPr>
        </p:nvSpPr>
        <p:spPr>
          <a:xfrm>
            <a:off x="342900" y="2911070"/>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9" name="Content Placeholder 4">
            <a:extLst>
              <a:ext uri="{FF2B5EF4-FFF2-40B4-BE49-F238E27FC236}">
                <a16:creationId xmlns:a16="http://schemas.microsoft.com/office/drawing/2014/main" id="{ED735AF3-A935-487D-8BC0-2ADACC4D12C5}"/>
              </a:ext>
            </a:extLst>
          </p:cNvPr>
          <p:cNvSpPr>
            <a:spLocks noGrp="1"/>
          </p:cNvSpPr>
          <p:nvPr>
            <p:ph sz="quarter" idx="18" hasCustomPrompt="1"/>
          </p:nvPr>
        </p:nvSpPr>
        <p:spPr>
          <a:xfrm>
            <a:off x="342900" y="3603884"/>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Content Placeholder 5">
            <a:extLst>
              <a:ext uri="{FF2B5EF4-FFF2-40B4-BE49-F238E27FC236}">
                <a16:creationId xmlns:a16="http://schemas.microsoft.com/office/drawing/2014/main" id="{058448AB-B8F6-4BD0-8F77-9F55C60D013C}"/>
              </a:ext>
            </a:extLst>
          </p:cNvPr>
          <p:cNvSpPr>
            <a:spLocks noGrp="1"/>
          </p:cNvSpPr>
          <p:nvPr>
            <p:ph sz="quarter" idx="19" hasCustomPrompt="1"/>
          </p:nvPr>
        </p:nvSpPr>
        <p:spPr>
          <a:xfrm>
            <a:off x="342900" y="4373367"/>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2" name="Content Placeholder 6">
            <a:extLst>
              <a:ext uri="{FF2B5EF4-FFF2-40B4-BE49-F238E27FC236}">
                <a16:creationId xmlns:a16="http://schemas.microsoft.com/office/drawing/2014/main" id="{FDE29B8C-DC5B-4D69-A6E1-B037A10230B9}"/>
              </a:ext>
            </a:extLst>
          </p:cNvPr>
          <p:cNvSpPr>
            <a:spLocks noGrp="1"/>
          </p:cNvSpPr>
          <p:nvPr>
            <p:ph sz="quarter" idx="20" hasCustomPrompt="1"/>
          </p:nvPr>
        </p:nvSpPr>
        <p:spPr>
          <a:xfrm>
            <a:off x="342900" y="5109425"/>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3" name="Content Placeholder 7">
            <a:extLst>
              <a:ext uri="{FF2B5EF4-FFF2-40B4-BE49-F238E27FC236}">
                <a16:creationId xmlns:a16="http://schemas.microsoft.com/office/drawing/2014/main" id="{D6B72EA2-E700-4D29-8572-424762F78C33}"/>
              </a:ext>
            </a:extLst>
          </p:cNvPr>
          <p:cNvSpPr>
            <a:spLocks noGrp="1"/>
          </p:cNvSpPr>
          <p:nvPr>
            <p:ph sz="quarter" idx="21" hasCustomPrompt="1"/>
          </p:nvPr>
        </p:nvSpPr>
        <p:spPr>
          <a:xfrm>
            <a:off x="342900" y="5743672"/>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51294063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4D3A09E2-C861-4D48-B4DB-F718B64FF46D}"/>
              </a:ext>
            </a:extLst>
          </p:cNvPr>
          <p:cNvSpPr txBox="1">
            <a:spLocks/>
          </p:cNvSpPr>
          <p:nvPr userDrawn="1"/>
        </p:nvSpPr>
        <p:spPr>
          <a:xfrm>
            <a:off x="342900" y="235525"/>
            <a:ext cx="8458200" cy="822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dirty="0"/>
              <a:t>Slide Title</a:t>
            </a:r>
            <a:br>
              <a:rPr lang="en-US" dirty="0"/>
            </a:b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6585788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logo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89EEF8-F59E-404A-ADC6-4CDB120479DB}"/>
              </a:ext>
            </a:extLst>
          </p:cNvPr>
          <p:cNvPicPr>
            <a:picLocks noChangeAspect="1"/>
          </p:cNvPicPr>
          <p:nvPr/>
        </p:nvPicPr>
        <p:blipFill>
          <a:blip r:embed="rId2"/>
          <a:stretch>
            <a:fillRect/>
          </a:stretch>
        </p:blipFill>
        <p:spPr>
          <a:xfrm>
            <a:off x="7488515" y="422097"/>
            <a:ext cx="1321966" cy="855390"/>
          </a:xfrm>
          <a:prstGeom prst="rect">
            <a:avLst/>
          </a:prstGeom>
          <a:ln w="6350">
            <a:noFill/>
          </a:ln>
        </p:spPr>
      </p:pic>
      <p:pic>
        <p:nvPicPr>
          <p:cNvPr id="3" name="Picture 2">
            <a:extLst>
              <a:ext uri="{FF2B5EF4-FFF2-40B4-BE49-F238E27FC236}">
                <a16:creationId xmlns:a16="http://schemas.microsoft.com/office/drawing/2014/main" id="{3AA94B2B-C868-468D-91DC-8F17D0A5F9D5}"/>
              </a:ext>
            </a:extLst>
          </p:cNvPr>
          <p:cNvPicPr>
            <a:picLocks noChangeAspect="1"/>
          </p:cNvPicPr>
          <p:nvPr/>
        </p:nvPicPr>
        <p:blipFill>
          <a:blip r:embed="rId2"/>
          <a:stretch>
            <a:fillRect/>
          </a:stretch>
        </p:blipFill>
        <p:spPr>
          <a:xfrm>
            <a:off x="7488515" y="422097"/>
            <a:ext cx="1321966" cy="855390"/>
          </a:xfrm>
          <a:prstGeom prst="rect">
            <a:avLst/>
          </a:prstGeom>
          <a:ln w="6350">
            <a:noFill/>
          </a:ln>
        </p:spPr>
      </p:pic>
    </p:spTree>
    <p:extLst>
      <p:ext uri="{BB962C8B-B14F-4D97-AF65-F5344CB8AC3E}">
        <p14:creationId xmlns:p14="http://schemas.microsoft.com/office/powerpoint/2010/main" val="140978986"/>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mall logo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9D304B-F131-D04E-9BB2-C234FACCF3FA}"/>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3" name="Picture 2">
            <a:extLst>
              <a:ext uri="{FF2B5EF4-FFF2-40B4-BE49-F238E27FC236}">
                <a16:creationId xmlns:a16="http://schemas.microsoft.com/office/drawing/2014/main" id="{A7CE54F5-4EC8-495D-B871-5FDD7F4764F9}"/>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spTree>
    <p:extLst>
      <p:ext uri="{BB962C8B-B14F-4D97-AF65-F5344CB8AC3E}">
        <p14:creationId xmlns:p14="http://schemas.microsoft.com/office/powerpoint/2010/main" val="505395938"/>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539197" y="2445781"/>
            <a:ext cx="5364646"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4" name="Subtitle 2">
            <a:extLst>
              <a:ext uri="{FF2B5EF4-FFF2-40B4-BE49-F238E27FC236}">
                <a16:creationId xmlns:a16="http://schemas.microsoft.com/office/drawing/2014/main" id="{19EECD76-5546-394C-A08F-DB8E115F0080}"/>
              </a:ext>
            </a:extLst>
          </p:cNvPr>
          <p:cNvSpPr>
            <a:spLocks noGrp="1"/>
          </p:cNvSpPr>
          <p:nvPr>
            <p:ph type="subTitle" idx="1" hasCustomPrompt="1"/>
          </p:nvPr>
        </p:nvSpPr>
        <p:spPr>
          <a:xfrm>
            <a:off x="539197" y="3382500"/>
            <a:ext cx="5364646"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539197" y="4114378"/>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539197" y="4442370"/>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52909" t="68124" r="2" b="10595"/>
          <a:stretch/>
        </p:blipFill>
        <p:spPr>
          <a:xfrm>
            <a:off x="6076507" y="3233855"/>
            <a:ext cx="2746793"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7488515" y="422097"/>
            <a:ext cx="1321966"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03750" y="323389"/>
            <a:ext cx="2529741" cy="1336079"/>
          </a:xfrm>
          <a:prstGeom prst="rect">
            <a:avLst/>
          </a:prstGeom>
        </p:spPr>
      </p:pic>
    </p:spTree>
    <p:extLst>
      <p:ext uri="{BB962C8B-B14F-4D97-AF65-F5344CB8AC3E}">
        <p14:creationId xmlns:p14="http://schemas.microsoft.com/office/powerpoint/2010/main" val="1988108382"/>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slide with one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1" y="1869345"/>
            <a:ext cx="4213781"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1" y="2806064"/>
            <a:ext cx="4213781"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grpSp>
        <p:nvGrpSpPr>
          <p:cNvPr id="17" name="Group 16">
            <a:extLst>
              <a:ext uri="{FF2B5EF4-FFF2-40B4-BE49-F238E27FC236}">
                <a16:creationId xmlns:a16="http://schemas.microsoft.com/office/drawing/2014/main" id="{A83BEE6D-49FB-440F-98D5-CB1C44202049}"/>
              </a:ext>
            </a:extLst>
          </p:cNvPr>
          <p:cNvGrpSpPr/>
          <p:nvPr/>
        </p:nvGrpSpPr>
        <p:grpSpPr>
          <a:xfrm>
            <a:off x="4168440" y="4760536"/>
            <a:ext cx="4213781" cy="1980506"/>
            <a:chOff x="5557919" y="4760536"/>
            <a:chExt cx="5618375" cy="1980506"/>
          </a:xfrm>
        </p:grpSpPr>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77968" r="-4719" b="9263"/>
            <a:stretch/>
          </p:blipFill>
          <p:spPr>
            <a:xfrm>
              <a:off x="5557919" y="4760536"/>
              <a:ext cx="5618375" cy="1980506"/>
            </a:xfrm>
            <a:prstGeom prst="rect">
              <a:avLst/>
            </a:prstGeom>
          </p:spPr>
        </p:pic>
        <p:sp>
          <p:nvSpPr>
            <p:cNvPr id="16" name="Rectangle 15">
              <a:extLst>
                <a:ext uri="{FF2B5EF4-FFF2-40B4-BE49-F238E27FC236}">
                  <a16:creationId xmlns:a16="http://schemas.microsoft.com/office/drawing/2014/main" id="{3637A5EF-1CCA-4630-996C-77608B56F8B3}"/>
                </a:ext>
              </a:extLst>
            </p:cNvPr>
            <p:cNvSpPr/>
            <p:nvPr/>
          </p:nvSpPr>
          <p:spPr>
            <a:xfrm>
              <a:off x="6748272" y="4837176"/>
              <a:ext cx="4361688" cy="99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Picture Placeholder 14">
            <a:extLst>
              <a:ext uri="{FF2B5EF4-FFF2-40B4-BE49-F238E27FC236}">
                <a16:creationId xmlns:a16="http://schemas.microsoft.com/office/drawing/2014/main" id="{D6B6C16E-6CB1-4D84-B65E-7BE162FA3C70}"/>
              </a:ext>
            </a:extLst>
          </p:cNvPr>
          <p:cNvSpPr>
            <a:spLocks noGrp="1"/>
          </p:cNvSpPr>
          <p:nvPr>
            <p:ph type="pic" sz="quarter" idx="12" hasCustomPrompt="1"/>
          </p:nvPr>
        </p:nvSpPr>
        <p:spPr>
          <a:xfrm>
            <a:off x="5214882" y="404814"/>
            <a:ext cx="3625453" cy="5197475"/>
          </a:xfrm>
          <a:prstGeom prst="rect">
            <a:avLst/>
          </a:prstGeom>
        </p:spPr>
        <p:txBody>
          <a:bodyPr/>
          <a:lstStyle>
            <a:lvl1pPr>
              <a:defRPr sz="1050"/>
            </a:lvl1pPr>
          </a:lstStyle>
          <a:p>
            <a:r>
              <a:rPr lang="en-US" dirty="0"/>
              <a:t>Click icon to add image</a:t>
            </a:r>
          </a:p>
        </p:txBody>
      </p:sp>
    </p:spTree>
    <p:extLst>
      <p:ext uri="{BB962C8B-B14F-4D97-AF65-F5344CB8AC3E}">
        <p14:creationId xmlns:p14="http://schemas.microsoft.com/office/powerpoint/2010/main" val="2617535086"/>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lide with two imag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0" y="1869345"/>
            <a:ext cx="4879573"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0" y="2806064"/>
            <a:ext cx="4879573"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6" name="Picture 15">
            <a:extLst>
              <a:ext uri="{FF2B5EF4-FFF2-40B4-BE49-F238E27FC236}">
                <a16:creationId xmlns:a16="http://schemas.microsoft.com/office/drawing/2014/main" id="{71B7D4E7-3C73-7A4A-946D-63804544EC4C}"/>
              </a:ext>
            </a:extLst>
          </p:cNvPr>
          <p:cNvPicPr>
            <a:picLocks noChangeAspect="1"/>
          </p:cNvPicPr>
          <p:nvPr/>
        </p:nvPicPr>
        <p:blipFill rotWithShape="1">
          <a:blip r:embed="rId3"/>
          <a:srcRect l="52634" t="78297" r="1" b="10595"/>
          <a:stretch/>
        </p:blipFill>
        <p:spPr>
          <a:xfrm>
            <a:off x="6060385" y="4811775"/>
            <a:ext cx="2762916" cy="1722838"/>
          </a:xfrm>
          <a:prstGeom prst="rect">
            <a:avLst/>
          </a:prstGeom>
        </p:spPr>
      </p:pic>
      <p:pic>
        <p:nvPicPr>
          <p:cNvPr id="11" name="Picture 10">
            <a:extLst>
              <a:ext uri="{FF2B5EF4-FFF2-40B4-BE49-F238E27FC236}">
                <a16:creationId xmlns:a16="http://schemas.microsoft.com/office/drawing/2014/main" id="{4E0CDDDD-6F87-BF44-8B03-FC4E347C60AE}"/>
              </a:ext>
            </a:extLst>
          </p:cNvPr>
          <p:cNvPicPr>
            <a:picLocks noChangeAspect="1"/>
          </p:cNvPicPr>
          <p:nvPr/>
        </p:nvPicPr>
        <p:blipFill rotWithShape="1">
          <a:blip r:embed="rId3"/>
          <a:srcRect l="37923" t="71919" r="51711" b="23057"/>
          <a:stretch/>
        </p:blipFill>
        <p:spPr>
          <a:xfrm>
            <a:off x="5202283" y="3822521"/>
            <a:ext cx="604655" cy="779297"/>
          </a:xfrm>
          <a:prstGeom prst="rect">
            <a:avLst/>
          </a:prstGeom>
        </p:spPr>
      </p:pic>
      <p:sp>
        <p:nvSpPr>
          <p:cNvPr id="21" name="Picture Placeholder 7">
            <a:extLst>
              <a:ext uri="{FF2B5EF4-FFF2-40B4-BE49-F238E27FC236}">
                <a16:creationId xmlns:a16="http://schemas.microsoft.com/office/drawing/2014/main" id="{A52323EE-F917-4344-990B-84E13A1D887E}"/>
              </a:ext>
            </a:extLst>
          </p:cNvPr>
          <p:cNvSpPr>
            <a:spLocks noGrp="1"/>
          </p:cNvSpPr>
          <p:nvPr>
            <p:ph type="pic" sz="quarter" idx="12" hasCustomPrompt="1"/>
          </p:nvPr>
        </p:nvSpPr>
        <p:spPr>
          <a:xfrm>
            <a:off x="5906691" y="452439"/>
            <a:ext cx="3237309" cy="4270375"/>
          </a:xfrm>
          <a:prstGeom prst="rect">
            <a:avLst/>
          </a:prstGeom>
        </p:spPr>
        <p:txBody>
          <a:bodyPr/>
          <a:lstStyle>
            <a:lvl1pPr marL="0" indent="0">
              <a:buNone/>
              <a:defRPr sz="1050"/>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icon to add image</a:t>
            </a:r>
          </a:p>
        </p:txBody>
      </p:sp>
      <p:sp>
        <p:nvSpPr>
          <p:cNvPr id="23" name="Picture Placeholder 21">
            <a:extLst>
              <a:ext uri="{FF2B5EF4-FFF2-40B4-BE49-F238E27FC236}">
                <a16:creationId xmlns:a16="http://schemas.microsoft.com/office/drawing/2014/main" id="{2EAF4550-BE04-4D85-8140-CAEE531D6063}"/>
              </a:ext>
            </a:extLst>
          </p:cNvPr>
          <p:cNvSpPr>
            <a:spLocks noGrp="1"/>
          </p:cNvSpPr>
          <p:nvPr>
            <p:ph type="pic" sz="quarter" idx="13" hasCustomPrompt="1"/>
          </p:nvPr>
        </p:nvSpPr>
        <p:spPr>
          <a:xfrm>
            <a:off x="4292203" y="4722814"/>
            <a:ext cx="1614488" cy="1722437"/>
          </a:xfrm>
          <a:prstGeom prst="rect">
            <a:avLst/>
          </a:prstGeom>
        </p:spPr>
        <p:txBody>
          <a:bodyPr/>
          <a:lstStyle>
            <a:lvl1pPr marL="0" indent="0">
              <a:buNone/>
              <a:defRPr sz="1050"/>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icon to add image</a:t>
            </a:r>
          </a:p>
        </p:txBody>
      </p:sp>
    </p:spTree>
    <p:extLst>
      <p:ext uri="{BB962C8B-B14F-4D97-AF65-F5344CB8AC3E}">
        <p14:creationId xmlns:p14="http://schemas.microsoft.com/office/powerpoint/2010/main" val="2517875737"/>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cknowledgement of Countr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301E3A-AEBD-1049-9450-8220EE1A20E1}"/>
              </a:ext>
            </a:extLst>
          </p:cNvPr>
          <p:cNvPicPr>
            <a:picLocks noChangeAspect="1"/>
          </p:cNvPicPr>
          <p:nvPr/>
        </p:nvPicPr>
        <p:blipFill rotWithShape="1">
          <a:blip r:embed="rId2"/>
          <a:srcRect l="30498" t="84569" r="1" b="10595"/>
          <a:stretch/>
        </p:blipFill>
        <p:spPr>
          <a:xfrm>
            <a:off x="4769159" y="5784574"/>
            <a:ext cx="4054142" cy="750039"/>
          </a:xfrm>
          <a:prstGeom prst="rect">
            <a:avLst/>
          </a:prstGeom>
        </p:spPr>
      </p:pic>
      <p:pic>
        <p:nvPicPr>
          <p:cNvPr id="11" name="Picture 10">
            <a:extLst>
              <a:ext uri="{FF2B5EF4-FFF2-40B4-BE49-F238E27FC236}">
                <a16:creationId xmlns:a16="http://schemas.microsoft.com/office/drawing/2014/main" id="{690B0078-646E-0A42-AFBD-3E03F49122A2}"/>
              </a:ext>
            </a:extLst>
          </p:cNvPr>
          <p:cNvPicPr>
            <a:picLocks noChangeAspect="1"/>
          </p:cNvPicPr>
          <p:nvPr/>
        </p:nvPicPr>
        <p:blipFill rotWithShape="1">
          <a:blip r:embed="rId2"/>
          <a:srcRect l="-4606" t="49360" r="68851" b="45400"/>
          <a:stretch/>
        </p:blipFill>
        <p:spPr>
          <a:xfrm>
            <a:off x="98983" y="323389"/>
            <a:ext cx="2085680" cy="812754"/>
          </a:xfrm>
          <a:prstGeom prst="rect">
            <a:avLst/>
          </a:prstGeom>
        </p:spPr>
      </p:pic>
      <p:sp>
        <p:nvSpPr>
          <p:cNvPr id="2" name="TextBox 1">
            <a:extLst>
              <a:ext uri="{FF2B5EF4-FFF2-40B4-BE49-F238E27FC236}">
                <a16:creationId xmlns:a16="http://schemas.microsoft.com/office/drawing/2014/main" id="{C2021D86-4D96-E542-A7AA-52E138A56A16}"/>
              </a:ext>
            </a:extLst>
          </p:cNvPr>
          <p:cNvSpPr txBox="1"/>
          <p:nvPr/>
        </p:nvSpPr>
        <p:spPr>
          <a:xfrm>
            <a:off x="320700" y="2792273"/>
            <a:ext cx="3444607" cy="2054409"/>
          </a:xfrm>
          <a:prstGeom prst="rect">
            <a:avLst/>
          </a:prstGeom>
          <a:noFill/>
        </p:spPr>
        <p:txBody>
          <a:bodyPr wrap="square" rtlCol="0">
            <a:spAutoFit/>
          </a:bodyPr>
          <a:lstStyle/>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respectfully acknowledge the </a:t>
            </a:r>
            <a:r>
              <a:rPr lang="en-GB" sz="750" b="0" i="0" dirty="0" err="1">
                <a:latin typeface="Open Sans Light" panose="020B0306030504020204" pitchFamily="34" charset="0"/>
                <a:ea typeface="Open Sans Light" panose="020B0306030504020204" pitchFamily="34" charset="0"/>
                <a:cs typeface="Open Sans Light" panose="020B0306030504020204" pitchFamily="34" charset="0"/>
              </a:rPr>
              <a:t>Wurundjeri</a:t>
            </a:r>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 People of the Kulin Nation, who are the Traditional Owners of the land on which Swinburne’s Australian campuses are located in Melbourne’s east and outer-east, and pay our respect to their Elders past, present and emerging.</a:t>
            </a:r>
          </a:p>
          <a:p>
            <a:endParaRPr lang="en-GB" sz="75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are honoured to recognise our connection to </a:t>
            </a:r>
            <a:r>
              <a:rPr lang="en-GB" sz="750" b="0" i="0" dirty="0" err="1">
                <a:latin typeface="Open Sans Light" panose="020B0306030504020204" pitchFamily="34" charset="0"/>
                <a:ea typeface="Open Sans Light" panose="020B0306030504020204" pitchFamily="34" charset="0"/>
                <a:cs typeface="Open Sans Light" panose="020B0306030504020204" pitchFamily="34" charset="0"/>
              </a:rPr>
              <a:t>Wurundjeri</a:t>
            </a:r>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 Country, history, culture, and spirituality through these locations, and strive to ensure that we operate in a manner that respects and honours the Elders and Ancestors of these lands.</a:t>
            </a:r>
          </a:p>
          <a:p>
            <a:endParaRPr lang="en-GB" sz="75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also respectfully acknowledge Swinburne’s Aboriginal and Torres Strait Islander staff, students, alumni, partners and visitors.</a:t>
            </a:r>
          </a:p>
          <a:p>
            <a:endParaRPr lang="en-GB" sz="75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also acknowledge and respect the Traditional Owners of lands across Australia, their Elders, Ancestors, cultures, and heritage, and recognise the continuing sovereignties of all Aboriginal and Torres Strait Islander Nations.</a:t>
            </a:r>
          </a:p>
          <a:p>
            <a:endParaRPr lang="en-US" sz="750" b="0" i="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3" name="TextBox 12">
            <a:extLst>
              <a:ext uri="{FF2B5EF4-FFF2-40B4-BE49-F238E27FC236}">
                <a16:creationId xmlns:a16="http://schemas.microsoft.com/office/drawing/2014/main" id="{553F0F09-72F3-3441-9402-E373F8E5EB3F}"/>
              </a:ext>
            </a:extLst>
          </p:cNvPr>
          <p:cNvSpPr txBox="1"/>
          <p:nvPr/>
        </p:nvSpPr>
        <p:spPr>
          <a:xfrm>
            <a:off x="325881" y="1858410"/>
            <a:ext cx="4246119" cy="415498"/>
          </a:xfrm>
          <a:prstGeom prst="rect">
            <a:avLst/>
          </a:prstGeom>
          <a:noFill/>
        </p:spPr>
        <p:txBody>
          <a:bodyPr wrap="square" rtlCol="0">
            <a:spAutoFit/>
          </a:bodyPr>
          <a:lstStyle/>
          <a:p>
            <a:r>
              <a:rPr lang="en-US" sz="2100" b="0" i="0" dirty="0">
                <a:latin typeface="Barlow Light" pitchFamily="2" charset="77"/>
                <a:ea typeface="DIN 2014 Light" panose="020B0404020202020204" pitchFamily="34" charset="77"/>
              </a:rPr>
              <a:t>Acknowledgement of Country</a:t>
            </a:r>
          </a:p>
        </p:txBody>
      </p:sp>
      <p:pic>
        <p:nvPicPr>
          <p:cNvPr id="7" name="Picture 6">
            <a:extLst>
              <a:ext uri="{FF2B5EF4-FFF2-40B4-BE49-F238E27FC236}">
                <a16:creationId xmlns:a16="http://schemas.microsoft.com/office/drawing/2014/main" id="{93A067CD-E520-DC4D-B83A-C56E5FCC5470}"/>
              </a:ext>
            </a:extLst>
          </p:cNvPr>
          <p:cNvPicPr>
            <a:picLocks noChangeAspect="1"/>
          </p:cNvPicPr>
          <p:nvPr/>
        </p:nvPicPr>
        <p:blipFill rotWithShape="1">
          <a:blip r:embed="rId3"/>
          <a:srcRect l="14921" t="28383" r="14498" b="18249"/>
          <a:stretch/>
        </p:blipFill>
        <p:spPr>
          <a:xfrm>
            <a:off x="5575852" y="404039"/>
            <a:ext cx="3568148" cy="5198999"/>
          </a:xfrm>
          <a:prstGeom prst="rect">
            <a:avLst/>
          </a:prstGeom>
        </p:spPr>
      </p:pic>
      <p:pic>
        <p:nvPicPr>
          <p:cNvPr id="8" name="Picture 7">
            <a:extLst>
              <a:ext uri="{FF2B5EF4-FFF2-40B4-BE49-F238E27FC236}">
                <a16:creationId xmlns:a16="http://schemas.microsoft.com/office/drawing/2014/main" id="{3C35ED88-E76B-A544-B183-904F87143897}"/>
              </a:ext>
            </a:extLst>
          </p:cNvPr>
          <p:cNvPicPr>
            <a:picLocks noChangeAspect="1"/>
          </p:cNvPicPr>
          <p:nvPr/>
        </p:nvPicPr>
        <p:blipFill rotWithShape="1">
          <a:blip r:embed="rId2"/>
          <a:srcRect l="30498" t="79189" r="57973" b="15495"/>
          <a:stretch/>
        </p:blipFill>
        <p:spPr>
          <a:xfrm>
            <a:off x="4769159" y="4950069"/>
            <a:ext cx="672515" cy="824566"/>
          </a:xfrm>
          <a:prstGeom prst="rect">
            <a:avLst/>
          </a:prstGeom>
        </p:spPr>
      </p:pic>
    </p:spTree>
    <p:extLst>
      <p:ext uri="{BB962C8B-B14F-4D97-AF65-F5344CB8AC3E}">
        <p14:creationId xmlns:p14="http://schemas.microsoft.com/office/powerpoint/2010/main" val="2353408775"/>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883F-D7EF-994A-8C0A-250C680E9DAC}"/>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7C9E8C4A-1C6F-0847-BF94-B8F6F086A0C5}"/>
              </a:ext>
            </a:extLst>
          </p:cNvPr>
          <p:cNvSpPr>
            <a:spLocks noGrp="1"/>
          </p:cNvSpPr>
          <p:nvPr>
            <p:ph type="ctrTitle" hasCustomPrompt="1"/>
          </p:nvPr>
        </p:nvSpPr>
        <p:spPr>
          <a:xfrm>
            <a:off x="322710" y="1869345"/>
            <a:ext cx="4060447" cy="1338828"/>
          </a:xfrm>
          <a:prstGeom prst="rect">
            <a:avLst/>
          </a:prstGeom>
        </p:spPr>
        <p:txBody>
          <a:bodyPr wrap="square" anchor="t" anchorCtr="0">
            <a:spAutoFit/>
          </a:bodyPr>
          <a:lstStyle>
            <a:lvl1pPr algn="l">
              <a:lnSpc>
                <a:spcPct val="100000"/>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section title</a:t>
            </a:r>
          </a:p>
        </p:txBody>
      </p:sp>
      <p:pic>
        <p:nvPicPr>
          <p:cNvPr id="9" name="Picture 8">
            <a:extLst>
              <a:ext uri="{FF2B5EF4-FFF2-40B4-BE49-F238E27FC236}">
                <a16:creationId xmlns:a16="http://schemas.microsoft.com/office/drawing/2014/main" id="{96CB0E58-519D-1C4A-9758-18D74E94D9C4}"/>
              </a:ext>
            </a:extLst>
          </p:cNvPr>
          <p:cNvPicPr>
            <a:picLocks noChangeAspect="1"/>
          </p:cNvPicPr>
          <p:nvPr/>
        </p:nvPicPr>
        <p:blipFill rotWithShape="1">
          <a:blip r:embed="rId3"/>
          <a:srcRect l="52909" t="68124" r="2" b="12204"/>
          <a:stretch/>
        </p:blipFill>
        <p:spPr>
          <a:xfrm>
            <a:off x="6076507" y="3233855"/>
            <a:ext cx="2746793" cy="3051199"/>
          </a:xfrm>
          <a:prstGeom prst="rect">
            <a:avLst/>
          </a:prstGeom>
        </p:spPr>
      </p:pic>
      <p:pic>
        <p:nvPicPr>
          <p:cNvPr id="10" name="Picture 9">
            <a:extLst>
              <a:ext uri="{FF2B5EF4-FFF2-40B4-BE49-F238E27FC236}">
                <a16:creationId xmlns:a16="http://schemas.microsoft.com/office/drawing/2014/main" id="{A25B9D3D-C254-FE4D-B97F-D0D03F4FA938}"/>
              </a:ext>
            </a:extLst>
          </p:cNvPr>
          <p:cNvPicPr>
            <a:picLocks noChangeAspect="1"/>
          </p:cNvPicPr>
          <p:nvPr/>
        </p:nvPicPr>
        <p:blipFill rotWithShape="1">
          <a:blip r:embed="rId3"/>
          <a:srcRect l="3874" t="49360" r="52758" b="42026"/>
          <a:stretch/>
        </p:blipFill>
        <p:spPr>
          <a:xfrm>
            <a:off x="203750" y="323389"/>
            <a:ext cx="2529741" cy="1336079"/>
          </a:xfrm>
          <a:prstGeom prst="rect">
            <a:avLst/>
          </a:prstGeom>
        </p:spPr>
      </p:pic>
      <p:sp>
        <p:nvSpPr>
          <p:cNvPr id="14" name="Rectangle 13">
            <a:extLst>
              <a:ext uri="{FF2B5EF4-FFF2-40B4-BE49-F238E27FC236}">
                <a16:creationId xmlns:a16="http://schemas.microsoft.com/office/drawing/2014/main" id="{CF0FB895-CEDF-407A-8EBB-D14839C388BA}"/>
              </a:ext>
            </a:extLst>
          </p:cNvPr>
          <p:cNvSpPr/>
          <p:nvPr/>
        </p:nvSpPr>
        <p:spPr>
          <a:xfrm>
            <a:off x="6215605" y="6445668"/>
            <a:ext cx="2607695" cy="412333"/>
          </a:xfrm>
          <a:prstGeom prst="rect">
            <a:avLst/>
          </a:prstGeom>
          <a:solidFill>
            <a:srgbClr val="E7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636048294"/>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ody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1" y="449928"/>
            <a:ext cx="726581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79226" t="68124" r="1" b="10595"/>
          <a:stretch/>
        </p:blipFill>
        <p:spPr>
          <a:xfrm>
            <a:off x="7695467" y="211344"/>
            <a:ext cx="1211729"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3"/>
          <a:stretch>
            <a:fillRect/>
          </a:stretch>
        </p:blipFill>
        <p:spPr>
          <a:xfrm>
            <a:off x="8164886" y="6104792"/>
            <a:ext cx="742310" cy="480318"/>
          </a:xfrm>
          <a:prstGeom prst="rect">
            <a:avLst/>
          </a:prstGeom>
          <a:ln w="6350">
            <a:noFill/>
          </a:ln>
        </p:spPr>
      </p:pic>
      <p:sp>
        <p:nvSpPr>
          <p:cNvPr id="12" name="Subtitle 2">
            <a:extLst>
              <a:ext uri="{FF2B5EF4-FFF2-40B4-BE49-F238E27FC236}">
                <a16:creationId xmlns:a16="http://schemas.microsoft.com/office/drawing/2014/main" id="{4611B57F-60E4-BF40-AC95-C9DB86A26E2D}"/>
              </a:ext>
            </a:extLst>
          </p:cNvPr>
          <p:cNvSpPr>
            <a:spLocks noGrp="1"/>
          </p:cNvSpPr>
          <p:nvPr>
            <p:ph type="subTitle" idx="1" hasCustomPrompt="1"/>
          </p:nvPr>
        </p:nvSpPr>
        <p:spPr>
          <a:xfrm>
            <a:off x="322710" y="2247151"/>
            <a:ext cx="7265816"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
        <p:nvSpPr>
          <p:cNvPr id="5" name="Text Placeholder 4">
            <a:extLst>
              <a:ext uri="{FF2B5EF4-FFF2-40B4-BE49-F238E27FC236}">
                <a16:creationId xmlns:a16="http://schemas.microsoft.com/office/drawing/2014/main" id="{9241AB50-6DF5-0046-88B5-CCF309E40D51}"/>
              </a:ext>
            </a:extLst>
          </p:cNvPr>
          <p:cNvSpPr>
            <a:spLocks noGrp="1"/>
          </p:cNvSpPr>
          <p:nvPr>
            <p:ph type="body" sz="quarter" idx="10" hasCustomPrompt="1"/>
          </p:nvPr>
        </p:nvSpPr>
        <p:spPr>
          <a:xfrm>
            <a:off x="322710" y="1508852"/>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8" name="Text Placeholder 7">
            <a:extLst>
              <a:ext uri="{FF2B5EF4-FFF2-40B4-BE49-F238E27FC236}">
                <a16:creationId xmlns:a16="http://schemas.microsoft.com/office/drawing/2014/main" id="{D59D4BD1-E32E-4B45-9EE2-0025BDBB56AB}"/>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2187300891"/>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Body slide one imag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143AD1-9D72-DE4B-8F1E-2D6B178E53FC}"/>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9" name="Picture 8">
            <a:extLst>
              <a:ext uri="{FF2B5EF4-FFF2-40B4-BE49-F238E27FC236}">
                <a16:creationId xmlns:a16="http://schemas.microsoft.com/office/drawing/2014/main" id="{492117D9-7D31-CF43-ADFD-F98B62BD9934}"/>
              </a:ext>
            </a:extLst>
          </p:cNvPr>
          <p:cNvPicPr>
            <a:picLocks noChangeAspect="1"/>
          </p:cNvPicPr>
          <p:nvPr/>
        </p:nvPicPr>
        <p:blipFill rotWithShape="1">
          <a:blip r:embed="rId3"/>
          <a:srcRect l="47527" t="78481" r="2" b="14827"/>
          <a:stretch/>
        </p:blipFill>
        <p:spPr>
          <a:xfrm>
            <a:off x="5762501" y="4840357"/>
            <a:ext cx="3060800" cy="1037930"/>
          </a:xfrm>
          <a:prstGeom prst="rect">
            <a:avLst/>
          </a:prstGeom>
        </p:spPr>
      </p:pic>
      <p:sp>
        <p:nvSpPr>
          <p:cNvPr id="10" name="Title 1">
            <a:extLst>
              <a:ext uri="{FF2B5EF4-FFF2-40B4-BE49-F238E27FC236}">
                <a16:creationId xmlns:a16="http://schemas.microsoft.com/office/drawing/2014/main" id="{6086E4EA-34C8-E244-8CAB-C02FEF4020AE}"/>
              </a:ext>
            </a:extLst>
          </p:cNvPr>
          <p:cNvSpPr>
            <a:spLocks noGrp="1"/>
          </p:cNvSpPr>
          <p:nvPr>
            <p:ph type="ctrTitle" hasCustomPrompt="1"/>
          </p:nvPr>
        </p:nvSpPr>
        <p:spPr>
          <a:xfrm>
            <a:off x="322711" y="449928"/>
            <a:ext cx="5178599"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3" name="Subtitle 2">
            <a:extLst>
              <a:ext uri="{FF2B5EF4-FFF2-40B4-BE49-F238E27FC236}">
                <a16:creationId xmlns:a16="http://schemas.microsoft.com/office/drawing/2014/main" id="{1AE31527-290E-A24C-AA95-FA74345F0FD2}"/>
              </a:ext>
            </a:extLst>
          </p:cNvPr>
          <p:cNvSpPr>
            <a:spLocks noGrp="1"/>
          </p:cNvSpPr>
          <p:nvPr>
            <p:ph type="subTitle" idx="1" hasCustomPrompt="1"/>
          </p:nvPr>
        </p:nvSpPr>
        <p:spPr>
          <a:xfrm>
            <a:off x="322710" y="2247151"/>
            <a:ext cx="5178599"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
        <p:nvSpPr>
          <p:cNvPr id="14" name="Text Placeholder 4">
            <a:extLst>
              <a:ext uri="{FF2B5EF4-FFF2-40B4-BE49-F238E27FC236}">
                <a16:creationId xmlns:a16="http://schemas.microsoft.com/office/drawing/2014/main" id="{E259A720-FEE8-5141-B4A1-A0D410B4C308}"/>
              </a:ext>
            </a:extLst>
          </p:cNvPr>
          <p:cNvSpPr>
            <a:spLocks noGrp="1"/>
          </p:cNvSpPr>
          <p:nvPr>
            <p:ph type="body" sz="quarter" idx="10" hasCustomPrompt="1"/>
          </p:nvPr>
        </p:nvSpPr>
        <p:spPr>
          <a:xfrm>
            <a:off x="322710" y="1508852"/>
            <a:ext cx="5178599"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15" name="Text Placeholder 7">
            <a:extLst>
              <a:ext uri="{FF2B5EF4-FFF2-40B4-BE49-F238E27FC236}">
                <a16:creationId xmlns:a16="http://schemas.microsoft.com/office/drawing/2014/main" id="{198469BC-0212-0841-B9E2-4583B2ABE91D}"/>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16" name="Picture Placeholder 2">
            <a:extLst>
              <a:ext uri="{FF2B5EF4-FFF2-40B4-BE49-F238E27FC236}">
                <a16:creationId xmlns:a16="http://schemas.microsoft.com/office/drawing/2014/main" id="{04CD2C42-FE07-4F3E-B6EF-9DF80CF9FEA7}"/>
              </a:ext>
            </a:extLst>
          </p:cNvPr>
          <p:cNvSpPr>
            <a:spLocks noGrp="1"/>
          </p:cNvSpPr>
          <p:nvPr>
            <p:ph type="pic" sz="quarter" idx="12" hasCustomPrompt="1"/>
          </p:nvPr>
        </p:nvSpPr>
        <p:spPr>
          <a:xfrm>
            <a:off x="5906691" y="449263"/>
            <a:ext cx="3237309" cy="4273550"/>
          </a:xfrm>
          <a:prstGeom prst="rect">
            <a:avLst/>
          </a:prstGeom>
        </p:spPr>
        <p:txBody>
          <a:bodyPr/>
          <a:lstStyle>
            <a:lvl1pPr marL="0" indent="0">
              <a:buNone/>
              <a:defRPr sz="1050"/>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icon to add image</a:t>
            </a:r>
          </a:p>
        </p:txBody>
      </p:sp>
    </p:spTree>
    <p:extLst>
      <p:ext uri="{BB962C8B-B14F-4D97-AF65-F5344CB8AC3E}">
        <p14:creationId xmlns:p14="http://schemas.microsoft.com/office/powerpoint/2010/main" val="3677466410"/>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ody slide with tabl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143AD1-9D72-DE4B-8F1E-2D6B178E53FC}"/>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13" name="Picture 12">
            <a:extLst>
              <a:ext uri="{FF2B5EF4-FFF2-40B4-BE49-F238E27FC236}">
                <a16:creationId xmlns:a16="http://schemas.microsoft.com/office/drawing/2014/main" id="{47FA5ACD-3A97-B149-B36C-5AA415250D9B}"/>
              </a:ext>
            </a:extLst>
          </p:cNvPr>
          <p:cNvPicPr>
            <a:picLocks noChangeAspect="1"/>
          </p:cNvPicPr>
          <p:nvPr/>
        </p:nvPicPr>
        <p:blipFill rotWithShape="1">
          <a:blip r:embed="rId3"/>
          <a:srcRect l="79226" t="68124" r="-962" b="10595"/>
          <a:stretch/>
        </p:blipFill>
        <p:spPr>
          <a:xfrm>
            <a:off x="7695467" y="211344"/>
            <a:ext cx="1267939" cy="3300759"/>
          </a:xfrm>
          <a:prstGeom prst="rect">
            <a:avLst/>
          </a:prstGeom>
        </p:spPr>
      </p:pic>
      <p:sp>
        <p:nvSpPr>
          <p:cNvPr id="11" name="Title 1">
            <a:extLst>
              <a:ext uri="{FF2B5EF4-FFF2-40B4-BE49-F238E27FC236}">
                <a16:creationId xmlns:a16="http://schemas.microsoft.com/office/drawing/2014/main" id="{1E6306D7-3A2F-F940-9F7B-15EB392CABC8}"/>
              </a:ext>
            </a:extLst>
          </p:cNvPr>
          <p:cNvSpPr>
            <a:spLocks noGrp="1"/>
          </p:cNvSpPr>
          <p:nvPr>
            <p:ph type="ctrTitle" hasCustomPrompt="1"/>
          </p:nvPr>
        </p:nvSpPr>
        <p:spPr>
          <a:xfrm>
            <a:off x="322711" y="449928"/>
            <a:ext cx="726581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4" name="Subtitle 2">
            <a:extLst>
              <a:ext uri="{FF2B5EF4-FFF2-40B4-BE49-F238E27FC236}">
                <a16:creationId xmlns:a16="http://schemas.microsoft.com/office/drawing/2014/main" id="{8DCA242E-7F41-D547-A34B-ECAD02B74087}"/>
              </a:ext>
            </a:extLst>
          </p:cNvPr>
          <p:cNvSpPr>
            <a:spLocks noGrp="1"/>
          </p:cNvSpPr>
          <p:nvPr>
            <p:ph type="subTitle" idx="1" hasCustomPrompt="1"/>
          </p:nvPr>
        </p:nvSpPr>
        <p:spPr>
          <a:xfrm>
            <a:off x="322710" y="2247150"/>
            <a:ext cx="7265816"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dirty="0"/>
              <a:t>You may add some body text to explain your table.</a:t>
            </a:r>
          </a:p>
        </p:txBody>
      </p:sp>
      <p:sp>
        <p:nvSpPr>
          <p:cNvPr id="15" name="Text Placeholder 4">
            <a:extLst>
              <a:ext uri="{FF2B5EF4-FFF2-40B4-BE49-F238E27FC236}">
                <a16:creationId xmlns:a16="http://schemas.microsoft.com/office/drawing/2014/main" id="{9E5544B2-7476-044A-821A-71516FF0BD77}"/>
              </a:ext>
            </a:extLst>
          </p:cNvPr>
          <p:cNvSpPr>
            <a:spLocks noGrp="1"/>
          </p:cNvSpPr>
          <p:nvPr>
            <p:ph type="body" sz="quarter" idx="10" hasCustomPrompt="1"/>
          </p:nvPr>
        </p:nvSpPr>
        <p:spPr>
          <a:xfrm>
            <a:off x="322710" y="1508852"/>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16" name="Text Placeholder 7">
            <a:extLst>
              <a:ext uri="{FF2B5EF4-FFF2-40B4-BE49-F238E27FC236}">
                <a16:creationId xmlns:a16="http://schemas.microsoft.com/office/drawing/2014/main" id="{5BA71D75-C832-624C-ADF5-2477EC2446C8}"/>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5" name="Table Placeholder 4">
            <a:extLst>
              <a:ext uri="{FF2B5EF4-FFF2-40B4-BE49-F238E27FC236}">
                <a16:creationId xmlns:a16="http://schemas.microsoft.com/office/drawing/2014/main" id="{8E0CB9A1-AA5A-1F45-81B8-6B21FDF845C8}"/>
              </a:ext>
            </a:extLst>
          </p:cNvPr>
          <p:cNvSpPr>
            <a:spLocks noGrp="1"/>
          </p:cNvSpPr>
          <p:nvPr>
            <p:ph type="tbl" sz="quarter" idx="12"/>
          </p:nvPr>
        </p:nvSpPr>
        <p:spPr>
          <a:xfrm>
            <a:off x="322711" y="3039762"/>
            <a:ext cx="7265816" cy="2309386"/>
          </a:xfrm>
          <a:prstGeom prst="rect">
            <a:avLst/>
          </a:prstGeom>
          <a:noFill/>
        </p:spPr>
        <p:txBody>
          <a:bodyPr/>
          <a:lstStyle>
            <a:lvl1pPr>
              <a:defRPr sz="1050"/>
            </a:lvl1pPr>
          </a:lstStyle>
          <a:p>
            <a:r>
              <a:rPr lang="en-US"/>
              <a:t>Click icon to add table</a:t>
            </a:r>
            <a:endParaRPr lang="en-US" dirty="0"/>
          </a:p>
        </p:txBody>
      </p:sp>
    </p:spTree>
    <p:extLst>
      <p:ext uri="{BB962C8B-B14F-4D97-AF65-F5344CB8AC3E}">
        <p14:creationId xmlns:p14="http://schemas.microsoft.com/office/powerpoint/2010/main" val="2023723597"/>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ample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0" y="1855804"/>
            <a:ext cx="4567343" cy="715581"/>
          </a:xfrm>
          <a:prstGeom prst="rect">
            <a:avLst/>
          </a:prstGeom>
        </p:spPr>
        <p:txBody>
          <a:bodyPr wrap="square" anchor="t" anchorCtr="0">
            <a:spAutoFit/>
          </a:bodyPr>
          <a:lstStyle>
            <a:lvl1pPr algn="l">
              <a:lnSpc>
                <a:spcPct val="100000"/>
              </a:lnSpc>
              <a:defRPr sz="4050" b="0" i="0" cap="none" baseline="0">
                <a:solidFill>
                  <a:srgbClr val="000000"/>
                </a:solidFill>
                <a:latin typeface="Barlow Light" pitchFamily="2" charset="77"/>
                <a:ea typeface="DIN 2014 Light" panose="020B0404020202020204" pitchFamily="34" charset="77"/>
              </a:defRPr>
            </a:lvl1pPr>
          </a:lstStyle>
          <a:p>
            <a:r>
              <a:rPr lang="en-US" dirty="0"/>
              <a:t>Swinburne life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0" y="2885431"/>
            <a:ext cx="4567343"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It’s what you make it</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748813"/>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Sam Sample</a:t>
            </a:r>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4076805"/>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23 April, 2021</a:t>
            </a:r>
          </a:p>
        </p:txBody>
      </p:sp>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84250" r="-4719" b="9263"/>
          <a:stretch/>
        </p:blipFill>
        <p:spPr>
          <a:xfrm>
            <a:off x="4168440" y="5734878"/>
            <a:ext cx="4213781" cy="1006164"/>
          </a:xfrm>
          <a:prstGeom prst="rect">
            <a:avLst/>
          </a:prstGeom>
        </p:spPr>
      </p:pic>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0" name="Picture 9">
            <a:extLst>
              <a:ext uri="{FF2B5EF4-FFF2-40B4-BE49-F238E27FC236}">
                <a16:creationId xmlns:a16="http://schemas.microsoft.com/office/drawing/2014/main" id="{591A2690-5A04-4048-8F01-F3EEC9A22C8F}"/>
              </a:ext>
            </a:extLst>
          </p:cNvPr>
          <p:cNvPicPr>
            <a:picLocks noChangeAspect="1"/>
          </p:cNvPicPr>
          <p:nvPr/>
        </p:nvPicPr>
        <p:blipFill rotWithShape="1">
          <a:blip r:embed="rId4"/>
          <a:srcRect l="22459" t="13219" r="23662" b="-264"/>
          <a:stretch/>
        </p:blipFill>
        <p:spPr>
          <a:xfrm>
            <a:off x="5170864" y="404039"/>
            <a:ext cx="3626051" cy="5198999"/>
          </a:xfrm>
          <a:prstGeom prst="rect">
            <a:avLst/>
          </a:prstGeom>
        </p:spPr>
      </p:pic>
      <p:pic>
        <p:nvPicPr>
          <p:cNvPr id="11" name="Picture 10">
            <a:extLst>
              <a:ext uri="{FF2B5EF4-FFF2-40B4-BE49-F238E27FC236}">
                <a16:creationId xmlns:a16="http://schemas.microsoft.com/office/drawing/2014/main" id="{81A8A8EC-9FB9-444F-A69E-63E5196ED0BD}"/>
              </a:ext>
            </a:extLst>
          </p:cNvPr>
          <p:cNvPicPr>
            <a:picLocks noChangeAspect="1"/>
          </p:cNvPicPr>
          <p:nvPr/>
        </p:nvPicPr>
        <p:blipFill rotWithShape="1">
          <a:blip r:embed="rId3"/>
          <a:srcRect l="32480" t="77968" r="52977" b="15545"/>
          <a:stretch/>
        </p:blipFill>
        <p:spPr>
          <a:xfrm>
            <a:off x="4168440" y="4760536"/>
            <a:ext cx="848337" cy="1006164"/>
          </a:xfrm>
          <a:prstGeom prst="rect">
            <a:avLst/>
          </a:prstGeom>
        </p:spPr>
      </p:pic>
    </p:spTree>
    <p:extLst>
      <p:ext uri="{BB962C8B-B14F-4D97-AF65-F5344CB8AC3E}">
        <p14:creationId xmlns:p14="http://schemas.microsoft.com/office/powerpoint/2010/main" val="1488247253"/>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lide with one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1" y="1869345"/>
            <a:ext cx="4213781"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1" y="2806064"/>
            <a:ext cx="4213781"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77968" r="-4719" b="9263"/>
          <a:stretch/>
        </p:blipFill>
        <p:spPr>
          <a:xfrm>
            <a:off x="4168440" y="4760536"/>
            <a:ext cx="4213781" cy="1980506"/>
          </a:xfrm>
          <a:prstGeom prst="rect">
            <a:avLst/>
          </a:prstGeom>
        </p:spPr>
      </p:pic>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0" name="Picture 9">
            <a:extLst>
              <a:ext uri="{FF2B5EF4-FFF2-40B4-BE49-F238E27FC236}">
                <a16:creationId xmlns:a16="http://schemas.microsoft.com/office/drawing/2014/main" id="{591A2690-5A04-4048-8F01-F3EEC9A22C8F}"/>
              </a:ext>
            </a:extLst>
          </p:cNvPr>
          <p:cNvPicPr>
            <a:picLocks noChangeAspect="1"/>
          </p:cNvPicPr>
          <p:nvPr/>
        </p:nvPicPr>
        <p:blipFill rotWithShape="1">
          <a:blip r:embed="rId4"/>
          <a:srcRect l="26846" t="13787" r="21181" b="2382"/>
          <a:stretch/>
        </p:blipFill>
        <p:spPr>
          <a:xfrm>
            <a:off x="5170864" y="404039"/>
            <a:ext cx="3626051" cy="5198999"/>
          </a:xfrm>
          <a:prstGeom prst="rect">
            <a:avLst/>
          </a:prstGeom>
        </p:spPr>
      </p:pic>
    </p:spTree>
    <p:extLst>
      <p:ext uri="{BB962C8B-B14F-4D97-AF65-F5344CB8AC3E}">
        <p14:creationId xmlns:p14="http://schemas.microsoft.com/office/powerpoint/2010/main" val="1237574121"/>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with two imag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0" y="1869345"/>
            <a:ext cx="4879573"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0" y="2806064"/>
            <a:ext cx="4879573"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6" name="Picture 15">
            <a:extLst>
              <a:ext uri="{FF2B5EF4-FFF2-40B4-BE49-F238E27FC236}">
                <a16:creationId xmlns:a16="http://schemas.microsoft.com/office/drawing/2014/main" id="{71B7D4E7-3C73-7A4A-946D-63804544EC4C}"/>
              </a:ext>
            </a:extLst>
          </p:cNvPr>
          <p:cNvPicPr>
            <a:picLocks noChangeAspect="1"/>
          </p:cNvPicPr>
          <p:nvPr/>
        </p:nvPicPr>
        <p:blipFill rotWithShape="1">
          <a:blip r:embed="rId3"/>
          <a:srcRect l="52634" t="78297" r="1" b="10595"/>
          <a:stretch/>
        </p:blipFill>
        <p:spPr>
          <a:xfrm>
            <a:off x="6060385" y="4811775"/>
            <a:ext cx="2762916" cy="1722838"/>
          </a:xfrm>
          <a:prstGeom prst="rect">
            <a:avLst/>
          </a:prstGeom>
        </p:spPr>
      </p:pic>
      <p:pic>
        <p:nvPicPr>
          <p:cNvPr id="15" name="Picture 14">
            <a:extLst>
              <a:ext uri="{FF2B5EF4-FFF2-40B4-BE49-F238E27FC236}">
                <a16:creationId xmlns:a16="http://schemas.microsoft.com/office/drawing/2014/main" id="{0E56A9A7-BA5D-8F4F-87A5-52E81EF79B6E}"/>
              </a:ext>
            </a:extLst>
          </p:cNvPr>
          <p:cNvPicPr>
            <a:picLocks noChangeAspect="1"/>
          </p:cNvPicPr>
          <p:nvPr/>
        </p:nvPicPr>
        <p:blipFill rotWithShape="1">
          <a:blip r:embed="rId4"/>
          <a:srcRect l="7971" t="4838" r="27910"/>
          <a:stretch/>
        </p:blipFill>
        <p:spPr>
          <a:xfrm>
            <a:off x="5907011" y="452487"/>
            <a:ext cx="3236989" cy="4270342"/>
          </a:xfrm>
          <a:prstGeom prst="rect">
            <a:avLst/>
          </a:prstGeom>
        </p:spPr>
      </p:pic>
      <p:pic>
        <p:nvPicPr>
          <p:cNvPr id="14" name="Picture 13">
            <a:extLst>
              <a:ext uri="{FF2B5EF4-FFF2-40B4-BE49-F238E27FC236}">
                <a16:creationId xmlns:a16="http://schemas.microsoft.com/office/drawing/2014/main" id="{56A55381-D824-1843-9E81-B6C7DD276103}"/>
              </a:ext>
            </a:extLst>
          </p:cNvPr>
          <p:cNvPicPr>
            <a:picLocks noChangeAspect="1"/>
          </p:cNvPicPr>
          <p:nvPr/>
        </p:nvPicPr>
        <p:blipFill>
          <a:blip r:embed="rId5"/>
          <a:srcRect l="5833" r="5833"/>
          <a:stretch/>
        </p:blipFill>
        <p:spPr>
          <a:xfrm>
            <a:off x="4291848" y="4722829"/>
            <a:ext cx="1615163" cy="1722838"/>
          </a:xfrm>
          <a:prstGeom prst="rect">
            <a:avLst/>
          </a:prstGeom>
        </p:spPr>
      </p:pic>
      <p:pic>
        <p:nvPicPr>
          <p:cNvPr id="11" name="Picture 10">
            <a:extLst>
              <a:ext uri="{FF2B5EF4-FFF2-40B4-BE49-F238E27FC236}">
                <a16:creationId xmlns:a16="http://schemas.microsoft.com/office/drawing/2014/main" id="{4E0CDDDD-6F87-BF44-8B03-FC4E347C60AE}"/>
              </a:ext>
            </a:extLst>
          </p:cNvPr>
          <p:cNvPicPr>
            <a:picLocks noChangeAspect="1"/>
          </p:cNvPicPr>
          <p:nvPr/>
        </p:nvPicPr>
        <p:blipFill rotWithShape="1">
          <a:blip r:embed="rId3"/>
          <a:srcRect l="37923" t="71919" r="51711" b="23057"/>
          <a:stretch/>
        </p:blipFill>
        <p:spPr>
          <a:xfrm>
            <a:off x="5202283" y="3822521"/>
            <a:ext cx="604655" cy="779297"/>
          </a:xfrm>
          <a:prstGeom prst="rect">
            <a:avLst/>
          </a:prstGeom>
        </p:spPr>
      </p:pic>
    </p:spTree>
    <p:extLst>
      <p:ext uri="{BB962C8B-B14F-4D97-AF65-F5344CB8AC3E}">
        <p14:creationId xmlns:p14="http://schemas.microsoft.com/office/powerpoint/2010/main" val="2830963961"/>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ample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883F-D7EF-994A-8C0A-250C680E9DAC}"/>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7C9E8C4A-1C6F-0847-BF94-B8F6F086A0C5}"/>
              </a:ext>
            </a:extLst>
          </p:cNvPr>
          <p:cNvSpPr>
            <a:spLocks noGrp="1"/>
          </p:cNvSpPr>
          <p:nvPr>
            <p:ph type="ctrTitle" hasCustomPrompt="1"/>
          </p:nvPr>
        </p:nvSpPr>
        <p:spPr>
          <a:xfrm>
            <a:off x="322710" y="1869346"/>
            <a:ext cx="5753797" cy="1338828"/>
          </a:xfrm>
          <a:prstGeom prst="rect">
            <a:avLst/>
          </a:prstGeom>
        </p:spPr>
        <p:txBody>
          <a:bodyPr wrap="square" anchor="t" anchorCtr="0">
            <a:spAutoFit/>
          </a:bodyPr>
          <a:lstStyle>
            <a:lvl1pPr algn="l">
              <a:lnSpc>
                <a:spcPct val="100000"/>
              </a:lnSpc>
              <a:defRPr sz="4050" b="0" i="0" cap="none" baseline="0">
                <a:solidFill>
                  <a:srgbClr val="000000"/>
                </a:solidFill>
                <a:latin typeface="Barlow Light" pitchFamily="2" charset="77"/>
                <a:ea typeface="DIN 2014 Light" panose="020B0404020202020204" pitchFamily="34" charset="77"/>
              </a:defRPr>
            </a:lvl1pPr>
          </a:lstStyle>
          <a:p>
            <a:r>
              <a:rPr lang="en-US" dirty="0"/>
              <a:t>Facilities </a:t>
            </a:r>
            <a:br>
              <a:rPr lang="en-US" dirty="0"/>
            </a:br>
            <a:r>
              <a:rPr lang="en-US" dirty="0"/>
              <a:t>and services</a:t>
            </a:r>
          </a:p>
        </p:txBody>
      </p:sp>
      <p:pic>
        <p:nvPicPr>
          <p:cNvPr id="9" name="Picture 8">
            <a:extLst>
              <a:ext uri="{FF2B5EF4-FFF2-40B4-BE49-F238E27FC236}">
                <a16:creationId xmlns:a16="http://schemas.microsoft.com/office/drawing/2014/main" id="{96CB0E58-519D-1C4A-9758-18D74E94D9C4}"/>
              </a:ext>
            </a:extLst>
          </p:cNvPr>
          <p:cNvPicPr>
            <a:picLocks noChangeAspect="1"/>
          </p:cNvPicPr>
          <p:nvPr/>
        </p:nvPicPr>
        <p:blipFill rotWithShape="1">
          <a:blip r:embed="rId3"/>
          <a:srcRect l="52909" t="68124" r="2" b="12204"/>
          <a:stretch/>
        </p:blipFill>
        <p:spPr>
          <a:xfrm>
            <a:off x="6076507" y="3233855"/>
            <a:ext cx="2746793" cy="3051199"/>
          </a:xfrm>
          <a:prstGeom prst="rect">
            <a:avLst/>
          </a:prstGeom>
        </p:spPr>
      </p:pic>
      <p:pic>
        <p:nvPicPr>
          <p:cNvPr id="10" name="Picture 9">
            <a:extLst>
              <a:ext uri="{FF2B5EF4-FFF2-40B4-BE49-F238E27FC236}">
                <a16:creationId xmlns:a16="http://schemas.microsoft.com/office/drawing/2014/main" id="{A25B9D3D-C254-FE4D-B97F-D0D03F4FA938}"/>
              </a:ext>
            </a:extLst>
          </p:cNvPr>
          <p:cNvPicPr>
            <a:picLocks noChangeAspect="1"/>
          </p:cNvPicPr>
          <p:nvPr/>
        </p:nvPicPr>
        <p:blipFill rotWithShape="1">
          <a:blip r:embed="rId3"/>
          <a:srcRect l="3874" t="49360" r="52758" b="42026"/>
          <a:stretch/>
        </p:blipFill>
        <p:spPr>
          <a:xfrm>
            <a:off x="203750" y="323389"/>
            <a:ext cx="2529741" cy="1336079"/>
          </a:xfrm>
          <a:prstGeom prst="rect">
            <a:avLst/>
          </a:prstGeom>
        </p:spPr>
      </p:pic>
      <p:sp>
        <p:nvSpPr>
          <p:cNvPr id="14" name="Rectangle 13">
            <a:extLst>
              <a:ext uri="{FF2B5EF4-FFF2-40B4-BE49-F238E27FC236}">
                <a16:creationId xmlns:a16="http://schemas.microsoft.com/office/drawing/2014/main" id="{853D571E-6C6A-4798-9A60-604AE949FEB4}"/>
              </a:ext>
            </a:extLst>
          </p:cNvPr>
          <p:cNvSpPr/>
          <p:nvPr/>
        </p:nvSpPr>
        <p:spPr>
          <a:xfrm>
            <a:off x="6215605" y="6445668"/>
            <a:ext cx="2607695" cy="412333"/>
          </a:xfrm>
          <a:prstGeom prst="rect">
            <a:avLst/>
          </a:prstGeom>
          <a:solidFill>
            <a:srgbClr val="E7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45542618"/>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ample_Body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0" y="449927"/>
            <a:ext cx="7265816" cy="830997"/>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Swinburne empowers you to </a:t>
            </a:r>
            <a:br>
              <a:rPr lang="en-US" dirty="0"/>
            </a:br>
            <a:r>
              <a:rPr lang="en-US" dirty="0"/>
              <a:t>make the most of your experience</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79226" t="68124" r="1" b="10595"/>
          <a:stretch/>
        </p:blipFill>
        <p:spPr>
          <a:xfrm>
            <a:off x="7695467" y="211344"/>
            <a:ext cx="1211729"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3"/>
          <a:stretch>
            <a:fillRect/>
          </a:stretch>
        </p:blipFill>
        <p:spPr>
          <a:xfrm>
            <a:off x="8164886" y="6104792"/>
            <a:ext cx="742310" cy="480318"/>
          </a:xfrm>
          <a:prstGeom prst="rect">
            <a:avLst/>
          </a:prstGeom>
          <a:ln w="6350">
            <a:noFill/>
          </a:ln>
        </p:spPr>
      </p:pic>
      <p:sp>
        <p:nvSpPr>
          <p:cNvPr id="8" name="Text Placeholder 4">
            <a:extLst>
              <a:ext uri="{FF2B5EF4-FFF2-40B4-BE49-F238E27FC236}">
                <a16:creationId xmlns:a16="http://schemas.microsoft.com/office/drawing/2014/main" id="{611E3A5E-99C3-A248-9BD6-51A7C5B92960}"/>
              </a:ext>
            </a:extLst>
          </p:cNvPr>
          <p:cNvSpPr>
            <a:spLocks noGrp="1"/>
          </p:cNvSpPr>
          <p:nvPr>
            <p:ph type="body" sz="quarter" idx="10" hasCustomPrompt="1"/>
          </p:nvPr>
        </p:nvSpPr>
        <p:spPr>
          <a:xfrm>
            <a:off x="322710" y="1832145"/>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Swinburne has a wide range of facilities and support services</a:t>
            </a:r>
          </a:p>
        </p:txBody>
      </p:sp>
      <p:sp>
        <p:nvSpPr>
          <p:cNvPr id="17" name="Text Placeholder 7">
            <a:extLst>
              <a:ext uri="{FF2B5EF4-FFF2-40B4-BE49-F238E27FC236}">
                <a16:creationId xmlns:a16="http://schemas.microsoft.com/office/drawing/2014/main" id="{8BF6AA28-ECBB-4880-813D-2B3B6BEC86C2}"/>
              </a:ext>
            </a:extLst>
          </p:cNvPr>
          <p:cNvSpPr>
            <a:spLocks noGrp="1"/>
          </p:cNvSpPr>
          <p:nvPr>
            <p:ph type="body" sz="quarter" idx="12"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18" name="Subtitle 2">
            <a:extLst>
              <a:ext uri="{FF2B5EF4-FFF2-40B4-BE49-F238E27FC236}">
                <a16:creationId xmlns:a16="http://schemas.microsoft.com/office/drawing/2014/main" id="{8FCFC9AE-857A-4CF3-B511-2C7E86276E20}"/>
              </a:ext>
            </a:extLst>
          </p:cNvPr>
          <p:cNvSpPr>
            <a:spLocks noGrp="1"/>
          </p:cNvSpPr>
          <p:nvPr>
            <p:ph type="subTitle" idx="1" hasCustomPrompt="1"/>
          </p:nvPr>
        </p:nvSpPr>
        <p:spPr>
          <a:xfrm>
            <a:off x="322710" y="2416970"/>
            <a:ext cx="5178599"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Tree>
    <p:extLst>
      <p:ext uri="{BB962C8B-B14F-4D97-AF65-F5344CB8AC3E}">
        <p14:creationId xmlns:p14="http://schemas.microsoft.com/office/powerpoint/2010/main" val="1040536064"/>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ample_Body slide with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0" y="449928"/>
            <a:ext cx="536464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Safety on campus</a:t>
            </a:r>
          </a:p>
        </p:txBody>
      </p:sp>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8" name="Picture 7">
            <a:extLst>
              <a:ext uri="{FF2B5EF4-FFF2-40B4-BE49-F238E27FC236}">
                <a16:creationId xmlns:a16="http://schemas.microsoft.com/office/drawing/2014/main" id="{2896A50B-0CED-5E4D-BA45-B1ED01FB78F2}"/>
              </a:ext>
            </a:extLst>
          </p:cNvPr>
          <p:cNvPicPr>
            <a:picLocks noChangeAspect="1"/>
          </p:cNvPicPr>
          <p:nvPr/>
        </p:nvPicPr>
        <p:blipFill rotWithShape="1">
          <a:blip r:embed="rId3"/>
          <a:srcRect l="47527" t="78866" r="2" b="14827"/>
          <a:stretch/>
        </p:blipFill>
        <p:spPr>
          <a:xfrm>
            <a:off x="5762501" y="4899991"/>
            <a:ext cx="3060800" cy="978296"/>
          </a:xfrm>
          <a:prstGeom prst="rect">
            <a:avLst/>
          </a:prstGeom>
        </p:spPr>
      </p:pic>
      <p:sp>
        <p:nvSpPr>
          <p:cNvPr id="13" name="Text Placeholder 4">
            <a:extLst>
              <a:ext uri="{FF2B5EF4-FFF2-40B4-BE49-F238E27FC236}">
                <a16:creationId xmlns:a16="http://schemas.microsoft.com/office/drawing/2014/main" id="{7A92E0E6-1027-8048-A325-503E10C0E9A8}"/>
              </a:ext>
            </a:extLst>
          </p:cNvPr>
          <p:cNvSpPr>
            <a:spLocks noGrp="1"/>
          </p:cNvSpPr>
          <p:nvPr>
            <p:ph type="body" sz="quarter" idx="10" hasCustomPrompt="1"/>
          </p:nvPr>
        </p:nvSpPr>
        <p:spPr>
          <a:xfrm>
            <a:off x="322710" y="1508852"/>
            <a:ext cx="536464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Swinburne takes safety and security very seriously.</a:t>
            </a:r>
          </a:p>
        </p:txBody>
      </p:sp>
      <p:sp>
        <p:nvSpPr>
          <p:cNvPr id="18" name="Text Placeholder 7">
            <a:extLst>
              <a:ext uri="{FF2B5EF4-FFF2-40B4-BE49-F238E27FC236}">
                <a16:creationId xmlns:a16="http://schemas.microsoft.com/office/drawing/2014/main" id="{529465B6-EAD9-4F8E-A664-BA0A0BD52FD4}"/>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pic>
        <p:nvPicPr>
          <p:cNvPr id="19" name="Picture 18">
            <a:extLst>
              <a:ext uri="{FF2B5EF4-FFF2-40B4-BE49-F238E27FC236}">
                <a16:creationId xmlns:a16="http://schemas.microsoft.com/office/drawing/2014/main" id="{E2D844A4-A477-478A-B06A-5DDB45441EBD}"/>
              </a:ext>
            </a:extLst>
          </p:cNvPr>
          <p:cNvPicPr>
            <a:picLocks noChangeAspect="1"/>
          </p:cNvPicPr>
          <p:nvPr/>
        </p:nvPicPr>
        <p:blipFill rotWithShape="1">
          <a:blip r:embed="rId4"/>
          <a:srcRect l="9966" t="12338" r="26401" b="3540"/>
          <a:stretch/>
        </p:blipFill>
        <p:spPr>
          <a:xfrm>
            <a:off x="5907012" y="449927"/>
            <a:ext cx="3236989" cy="4270342"/>
          </a:xfrm>
          <a:prstGeom prst="rect">
            <a:avLst/>
          </a:prstGeom>
        </p:spPr>
      </p:pic>
      <p:sp>
        <p:nvSpPr>
          <p:cNvPr id="20" name="Subtitle 2">
            <a:extLst>
              <a:ext uri="{FF2B5EF4-FFF2-40B4-BE49-F238E27FC236}">
                <a16:creationId xmlns:a16="http://schemas.microsoft.com/office/drawing/2014/main" id="{E117F348-3FC8-42E6-B117-DD3752D14939}"/>
              </a:ext>
            </a:extLst>
          </p:cNvPr>
          <p:cNvSpPr>
            <a:spLocks noGrp="1"/>
          </p:cNvSpPr>
          <p:nvPr>
            <p:ph type="subTitle" idx="1" hasCustomPrompt="1"/>
          </p:nvPr>
        </p:nvSpPr>
        <p:spPr>
          <a:xfrm>
            <a:off x="322710" y="2247151"/>
            <a:ext cx="5178599"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Tree>
    <p:extLst>
      <p:ext uri="{BB962C8B-B14F-4D97-AF65-F5344CB8AC3E}">
        <p14:creationId xmlns:p14="http://schemas.microsoft.com/office/powerpoint/2010/main" val="4052144519"/>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Sample_Body slide with tab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0" y="449928"/>
            <a:ext cx="8011251"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How a table slide can appear</a:t>
            </a:r>
          </a:p>
        </p:txBody>
      </p:sp>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sp>
        <p:nvSpPr>
          <p:cNvPr id="12" name="Subtitle 2">
            <a:extLst>
              <a:ext uri="{FF2B5EF4-FFF2-40B4-BE49-F238E27FC236}">
                <a16:creationId xmlns:a16="http://schemas.microsoft.com/office/drawing/2014/main" id="{4611B57F-60E4-BF40-AC95-C9DB86A26E2D}"/>
              </a:ext>
            </a:extLst>
          </p:cNvPr>
          <p:cNvSpPr>
            <a:spLocks noGrp="1"/>
          </p:cNvSpPr>
          <p:nvPr>
            <p:ph type="subTitle" idx="1" hasCustomPrompt="1"/>
          </p:nvPr>
        </p:nvSpPr>
        <p:spPr>
          <a:xfrm>
            <a:off x="322710" y="2247150"/>
            <a:ext cx="8011250" cy="230832"/>
          </a:xfrm>
          <a:prstGeom prst="rect">
            <a:avLst/>
          </a:prstGeom>
        </p:spPr>
        <p:txBody>
          <a:bodyPr wrap="square" anchor="t" anchorCtr="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dirty="0"/>
              <a:t>You may add some body text to explain your table.</a:t>
            </a:r>
          </a:p>
        </p:txBody>
      </p:sp>
      <p:sp>
        <p:nvSpPr>
          <p:cNvPr id="8" name="Text Placeholder 4">
            <a:extLst>
              <a:ext uri="{FF2B5EF4-FFF2-40B4-BE49-F238E27FC236}">
                <a16:creationId xmlns:a16="http://schemas.microsoft.com/office/drawing/2014/main" id="{D10E51DE-39B6-CC4B-BA98-3ABC1461CED3}"/>
              </a:ext>
            </a:extLst>
          </p:cNvPr>
          <p:cNvSpPr>
            <a:spLocks noGrp="1"/>
          </p:cNvSpPr>
          <p:nvPr>
            <p:ph type="body" sz="quarter" idx="10" hasCustomPrompt="1"/>
          </p:nvPr>
        </p:nvSpPr>
        <p:spPr>
          <a:xfrm>
            <a:off x="322710" y="1508852"/>
            <a:ext cx="8011251"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These can be useful for displaying statistics and timelines</a:t>
            </a:r>
          </a:p>
        </p:txBody>
      </p:sp>
      <p:sp>
        <p:nvSpPr>
          <p:cNvPr id="11" name="Text Placeholder 7">
            <a:extLst>
              <a:ext uri="{FF2B5EF4-FFF2-40B4-BE49-F238E27FC236}">
                <a16:creationId xmlns:a16="http://schemas.microsoft.com/office/drawing/2014/main" id="{C963C177-FD25-4F8F-B236-438FB5316544}"/>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1312530820"/>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539197" y="2445781"/>
            <a:ext cx="5364646"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Thank you</a:t>
            </a:r>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539197" y="4114378"/>
            <a:ext cx="2623361" cy="284578"/>
          </a:xfrm>
          <a:prstGeom prst="rect">
            <a:avLst/>
          </a:prstGeom>
        </p:spPr>
        <p:txBody>
          <a:bodyPr>
            <a:normAutofit/>
          </a:bodyPr>
          <a:lstStyle>
            <a:lvl1pPr marL="0" indent="0" algn="l">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539197" y="4442370"/>
            <a:ext cx="2623361" cy="284578"/>
          </a:xfrm>
          <a:prstGeom prst="rect">
            <a:avLst/>
          </a:prstGeom>
        </p:spPr>
        <p:txBody>
          <a:bodyPr>
            <a:normAutofit/>
          </a:bodyPr>
          <a:lstStyle>
            <a:lvl1pPr marL="0" indent="0" algn="l">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52909" t="68124" r="2" b="10595"/>
          <a:stretch/>
        </p:blipFill>
        <p:spPr>
          <a:xfrm>
            <a:off x="6076507" y="3233855"/>
            <a:ext cx="2746793"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7488515" y="422097"/>
            <a:ext cx="1321966"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03750" y="323389"/>
            <a:ext cx="2529741" cy="1336079"/>
          </a:xfrm>
          <a:prstGeom prst="rect">
            <a:avLst/>
          </a:prstGeom>
        </p:spPr>
      </p:pic>
    </p:spTree>
    <p:extLst>
      <p:ext uri="{BB962C8B-B14F-4D97-AF65-F5344CB8AC3E}">
        <p14:creationId xmlns:p14="http://schemas.microsoft.com/office/powerpoint/2010/main" val="2455516846"/>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pic>
        <p:nvPicPr>
          <p:cNvPr id="7" name="Picture 6" descr="ATC Building powerpoint.jpg"/>
          <p:cNvPicPr>
            <a:picLocks noChangeAspect="1"/>
          </p:cNvPicPr>
          <p:nvPr userDrawn="1"/>
        </p:nvPicPr>
        <p:blipFill rotWithShape="1">
          <a:blip r:embed="rId2">
            <a:extLst>
              <a:ext uri="{28A0092B-C50C-407E-A947-70E740481C1C}">
                <a14:useLocalDpi xmlns:a14="http://schemas.microsoft.com/office/drawing/2010/main" val="0"/>
              </a:ext>
            </a:extLst>
          </a:blip>
          <a:srcRect r="11220"/>
          <a:stretch/>
        </p:blipFill>
        <p:spPr>
          <a:xfrm>
            <a:off x="0" y="-1"/>
            <a:ext cx="9144000" cy="6866467"/>
          </a:xfrm>
          <a:prstGeom prst="rect">
            <a:avLst/>
          </a:prstGeom>
        </p:spPr>
      </p:pic>
      <p:pic>
        <p:nvPicPr>
          <p:cNvPr id="8" name="Picture 7"/>
          <p:cNvPicPr>
            <a:picLocks noChangeAspect="1"/>
          </p:cNvPicPr>
          <p:nvPr userDrawn="1"/>
        </p:nvPicPr>
        <p:blipFill>
          <a:blip r:embed="rId3"/>
          <a:stretch>
            <a:fillRect/>
          </a:stretch>
        </p:blipFill>
        <p:spPr>
          <a:xfrm>
            <a:off x="6268085" y="5346700"/>
            <a:ext cx="2456815" cy="927100"/>
          </a:xfrm>
          <a:prstGeom prst="rect">
            <a:avLst/>
          </a:prstGeom>
        </p:spPr>
      </p:pic>
      <p:pic>
        <p:nvPicPr>
          <p:cNvPr id="9" name="Picture 8" descr="DVC Bubbl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8001" y="741679"/>
            <a:ext cx="6776085" cy="3755676"/>
          </a:xfrm>
          <a:prstGeom prst="rect">
            <a:avLst/>
          </a:prstGeom>
        </p:spPr>
      </p:pic>
      <p:sp>
        <p:nvSpPr>
          <p:cNvPr id="11" name="Text Placeholder 9"/>
          <p:cNvSpPr>
            <a:spLocks noGrp="1"/>
          </p:cNvSpPr>
          <p:nvPr>
            <p:ph type="body" sz="quarter" idx="13" hasCustomPrompt="1"/>
          </p:nvPr>
        </p:nvSpPr>
        <p:spPr>
          <a:xfrm>
            <a:off x="295275" y="1200150"/>
            <a:ext cx="5200651" cy="1419367"/>
          </a:xfrm>
          <a:prstGeom prst="rect">
            <a:avLst/>
          </a:prstGeom>
        </p:spPr>
        <p:txBody>
          <a:bodyPr/>
          <a:lstStyle>
            <a:lvl1pPr marL="0" indent="0">
              <a:defRPr sz="2700" baseline="0">
                <a:solidFill>
                  <a:schemeClr val="tx1"/>
                </a:solidFill>
              </a:defRPr>
            </a:lvl1pPr>
          </a:lstStyle>
          <a:p>
            <a:pPr lvl="0"/>
            <a:r>
              <a:rPr lang="en-US" dirty="0"/>
              <a:t>Presentation title</a:t>
            </a:r>
          </a:p>
        </p:txBody>
      </p:sp>
      <p:sp>
        <p:nvSpPr>
          <p:cNvPr id="12" name="Text Placeholder 13"/>
          <p:cNvSpPr>
            <a:spLocks noGrp="1"/>
          </p:cNvSpPr>
          <p:nvPr>
            <p:ph type="body" sz="quarter" idx="14" hasCustomPrompt="1"/>
          </p:nvPr>
        </p:nvSpPr>
        <p:spPr>
          <a:xfrm>
            <a:off x="304800" y="3114676"/>
            <a:ext cx="4133850" cy="1133475"/>
          </a:xfrm>
          <a:prstGeom prst="rect">
            <a:avLst/>
          </a:prstGeom>
        </p:spPr>
        <p:txBody>
          <a:bodyPr/>
          <a:lstStyle>
            <a:lvl1pPr marL="0" indent="0">
              <a:defRPr baseline="0"/>
            </a:lvl1pPr>
          </a:lstStyle>
          <a:p>
            <a:pPr lvl="0"/>
            <a:r>
              <a:rPr lang="en-US" dirty="0"/>
              <a:t>Presenter</a:t>
            </a:r>
          </a:p>
        </p:txBody>
      </p:sp>
      <p:pic>
        <p:nvPicPr>
          <p:cNvPr id="13" name="Picture 7" descr="swin logo v.png"/>
          <p:cNvPicPr>
            <a:picLocks noChangeAspect="1"/>
          </p:cNvPicPr>
          <p:nvPr userDrawn="1"/>
        </p:nvPicPr>
        <p:blipFill>
          <a:blip r:embed="rId5"/>
          <a:srcRect/>
          <a:stretch>
            <a:fillRect/>
          </a:stretch>
        </p:blipFill>
        <p:spPr bwMode="auto">
          <a:xfrm>
            <a:off x="7699376" y="0"/>
            <a:ext cx="1444625" cy="2882900"/>
          </a:xfrm>
          <a:prstGeom prst="rect">
            <a:avLst/>
          </a:prstGeom>
          <a:noFill/>
          <a:ln w="9525">
            <a:noFill/>
            <a:miter lim="800000"/>
            <a:headEnd/>
            <a:tailEnd/>
          </a:ln>
        </p:spPr>
      </p:pic>
    </p:spTree>
    <p:extLst>
      <p:ext uri="{BB962C8B-B14F-4D97-AF65-F5344CB8AC3E}">
        <p14:creationId xmlns:p14="http://schemas.microsoft.com/office/powerpoint/2010/main" val="4098767589"/>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D3A0F-62F1-1800-10DC-BB502E2244F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6084ACFD-C917-0F39-5E32-D061F9E37D8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FAB124D-1EBE-9668-1303-FF072A13A69D}"/>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CB1181A0-5707-953A-7BBE-821BC0107F4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1906ED8-3760-0186-C159-610A9EE577A7}"/>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26155444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F84E6-18CE-2F91-7587-D2737DFB65E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E46AD97-7249-455A-53DC-8A071D78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F5B1F54-0788-E2ED-C938-C2D222279408}"/>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ED378A22-DB35-7D73-A396-77284A96F89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43301CB-0169-B15F-E2D8-01A6823ECDB0}"/>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15869052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98588-4B54-A901-EC9B-DF0BD407998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978C812-2CCE-F3B5-CB40-CDA6F0152553}"/>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884944-97B7-0C82-BFA8-74FC16492325}"/>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57224A53-B17C-51C7-E799-134BF38A98D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33535E0-26E5-E9AD-D8E9-569DB4BAFBA5}"/>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21025713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BF391-CF77-010A-F497-B414C6BCB98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56DBD11-C35F-C52F-3EC5-817D9D51F0B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119078C-C295-CAB5-CDC0-C85B14C995B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AF65252-E8D9-2A28-5A90-E98B046FF4A0}"/>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6" name="Footer Placeholder 5">
            <a:extLst>
              <a:ext uri="{FF2B5EF4-FFF2-40B4-BE49-F238E27FC236}">
                <a16:creationId xmlns:a16="http://schemas.microsoft.com/office/drawing/2014/main" id="{86BB7234-7953-5AB9-9D1F-C8E1D670CC2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EF21190-7FD3-220E-3A3C-78BA3D356FBF}"/>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25920634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232F-6A6C-76A9-15C1-EED27B88A9DE}"/>
              </a:ext>
            </a:extLst>
          </p:cNvPr>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F219FCC-6D14-8B71-3C39-26AEA27390A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FCB2FEF-E46B-5A57-4A3C-DFDF806EC8DC}"/>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FB3192B-29AA-30AB-D248-82C3B28C62E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558D3-1E03-F185-468E-56242D1C6E9A}"/>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63035FB-2442-CC1D-0A0A-9BC9B452E49B}"/>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8" name="Footer Placeholder 7">
            <a:extLst>
              <a:ext uri="{FF2B5EF4-FFF2-40B4-BE49-F238E27FC236}">
                <a16:creationId xmlns:a16="http://schemas.microsoft.com/office/drawing/2014/main" id="{589CE409-79F9-F342-EA41-6B065051B39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813BF18-EB43-B8E1-CEE2-B23A7C30DE09}"/>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18991126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E5229-09E4-B820-5923-F46962F7EE3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FED62E1-713B-2854-CB62-08ECC47141D3}"/>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4" name="Footer Placeholder 3">
            <a:extLst>
              <a:ext uri="{FF2B5EF4-FFF2-40B4-BE49-F238E27FC236}">
                <a16:creationId xmlns:a16="http://schemas.microsoft.com/office/drawing/2014/main" id="{2F910059-AD14-9D12-B16F-1853B5FEC87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C0F27DF-B504-A850-4EEE-7E28389A812F}"/>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2704026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969B99-91B2-D75A-0E72-C2C0D70D2FA4}"/>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3" name="Footer Placeholder 2">
            <a:extLst>
              <a:ext uri="{FF2B5EF4-FFF2-40B4-BE49-F238E27FC236}">
                <a16:creationId xmlns:a16="http://schemas.microsoft.com/office/drawing/2014/main" id="{3167B9DB-4FDA-1680-2C00-4C399867950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936C94F-2BFF-9523-A694-187117D6BDA5}"/>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13464085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019F-9E23-5FC8-7D45-F3573697CBA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78AE4E7-94B5-3239-50D4-BA13D4EB90A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C8A95A2-1637-73A2-E86E-F5AF99BE619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DF08986-D298-48E0-9333-B3387D3622A3}"/>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6" name="Footer Placeholder 5">
            <a:extLst>
              <a:ext uri="{FF2B5EF4-FFF2-40B4-BE49-F238E27FC236}">
                <a16:creationId xmlns:a16="http://schemas.microsoft.com/office/drawing/2014/main" id="{3A18EBCD-1E24-A619-6C7D-EC326637F2F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14E8C73-C1A1-5B9D-E913-24EF76FD8DBA}"/>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32396950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6FA1-BBA9-2BD3-B9A6-3C4262595AE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CB51684-525F-0447-A78A-77C1DECB0CD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AU"/>
          </a:p>
        </p:txBody>
      </p:sp>
      <p:sp>
        <p:nvSpPr>
          <p:cNvPr id="4" name="Text Placeholder 3">
            <a:extLst>
              <a:ext uri="{FF2B5EF4-FFF2-40B4-BE49-F238E27FC236}">
                <a16:creationId xmlns:a16="http://schemas.microsoft.com/office/drawing/2014/main" id="{B7A47440-63EE-D4B8-8AA3-BC44CCA23C3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EA19E05-B5BA-28C6-3444-575A0A15017B}"/>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6" name="Footer Placeholder 5">
            <a:extLst>
              <a:ext uri="{FF2B5EF4-FFF2-40B4-BE49-F238E27FC236}">
                <a16:creationId xmlns:a16="http://schemas.microsoft.com/office/drawing/2014/main" id="{6391C1D9-F8B0-518F-B58D-B004ACBB5DF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E510519-0595-3055-2F1B-CD9DD28A1FB8}"/>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420474094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EE430-2766-26B7-FAB2-2C8C4B65EDD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425B039-9038-628A-1107-4281A216E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06D9AAC-3AAC-ABA1-5248-91F0A689F873}"/>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B4AE9C18-1083-EDEB-4AA3-4C70D48AF81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ECAF9CC-4591-7EAA-5E97-34C1BD6C7D5A}"/>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24980383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711B63-50E6-B787-444A-36E7BA7EFBDE}"/>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564D331-C447-E091-2367-3E8734FC9B6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72CC74E-1654-BDA3-E079-5E71BC37943F}"/>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E5B37AC4-67FB-AA78-DBC3-A6EFF3ADAE6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C85A9AD-9B81-60F3-A6C2-BEF2416B26E4}"/>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11415368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B7D92-824F-EFCD-3B54-E5FE1ACF9221}"/>
              </a:ext>
            </a:extLst>
          </p:cNvPr>
          <p:cNvSpPr>
            <a:spLocks noGrp="1"/>
          </p:cNvSpPr>
          <p:nvPr>
            <p:ph type="title"/>
          </p:nvPr>
        </p:nvSpPr>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64B6308-3A24-E42E-3E4E-D492D099886D}"/>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82E56A6-AB06-E91C-3FAD-B863BF115D8A}"/>
              </a:ext>
            </a:extLst>
          </p:cNvPr>
          <p:cNvSpPr>
            <a:spLocks noGrp="1"/>
          </p:cNvSpPr>
          <p:nvPr>
            <p:ph type="dt" sz="half" idx="10"/>
          </p:nvPr>
        </p:nvSpPr>
        <p:spPr/>
        <p:txBody>
          <a:body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BD8C3C29-E360-ECB8-49CE-BF63CA0887C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8519B34-E822-C508-9654-CBA88C8E27FD}"/>
              </a:ext>
            </a:extLst>
          </p:cNvPr>
          <p:cNvSpPr>
            <a:spLocks noGrp="1"/>
          </p:cNvSpPr>
          <p:nvPr>
            <p:ph type="sldNum" sz="quarter" idx="12"/>
          </p:nvPr>
        </p:nvSpPr>
        <p:spPr/>
        <p:txBody>
          <a:bodyPr/>
          <a:lstStyle/>
          <a:p>
            <a:fld id="{EA51E6A4-E126-4554-AC75-02AA5AD908B6}" type="slidenum">
              <a:rPr lang="en-AU" smtClean="0"/>
              <a:t>‹#›</a:t>
            </a:fld>
            <a:endParaRPr lang="en-AU"/>
          </a:p>
        </p:txBody>
      </p:sp>
    </p:spTree>
    <p:extLst>
      <p:ext uri="{BB962C8B-B14F-4D97-AF65-F5344CB8AC3E}">
        <p14:creationId xmlns:p14="http://schemas.microsoft.com/office/powerpoint/2010/main" val="3429694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image" Target="../media/image1.png"/><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theme" Target="../theme/theme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8.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04" r:id="rId3"/>
    <p:sldLayoutId id="2147483682" r:id="rId4"/>
    <p:sldLayoutId id="2147483683" r:id="rId5"/>
    <p:sldLayoutId id="2147483718"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F7BFBE01-8512-49BF-81D6-10C5E13594C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9" r:id="rId7"/>
    <p:sldLayoutId id="2147483716" r:id="rId8"/>
    <p:sldLayoutId id="2147483710" r:id="rId9"/>
    <p:sldLayoutId id="2147483713" r:id="rId10"/>
    <p:sldLayoutId id="2147483714" r:id="rId11"/>
    <p:sldLayoutId id="2147483715" r:id="rId12"/>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baseline="0">
          <a:solidFill>
            <a:schemeClr val="tx2"/>
          </a:solidFill>
          <a:latin typeface="+mn-lt"/>
          <a:ea typeface="+mn-ea"/>
          <a:cs typeface="+mn-cs"/>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400" kern="1200" baseline="0">
          <a:solidFill>
            <a:schemeClr val="tx2"/>
          </a:solidFill>
          <a:latin typeface="+mn-lt"/>
          <a:ea typeface="+mn-ea"/>
          <a:cs typeface="+mn-cs"/>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841519326"/>
      </p:ext>
    </p:extLst>
  </p:cSld>
  <p:clrMap bg1="lt1" tx1="dk1" bg2="lt2" tx2="dk2" accent1="accent1" accent2="accent2" accent3="accent3" accent4="accent4" accent5="accent5" accent6="accent6" hlink="hlink" folHlink="folHlink"/>
  <p:sldLayoutIdLst>
    <p:sldLayoutId id="2147483707" r:id="rId1"/>
    <p:sldLayoutId id="2147483717" r:id="rId2"/>
    <p:sldLayoutId id="2147483708"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MGH logo">
            <a:extLst>
              <a:ext uri="{FF2B5EF4-FFF2-40B4-BE49-F238E27FC236}">
                <a16:creationId xmlns:a16="http://schemas.microsoft.com/office/drawing/2014/main" id="{57C05E4D-BA1B-ECD8-60D5-E5A358575881}"/>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0D595CE4-ACE7-69CA-2977-048C327691D3}"/>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4" name="MGH Yellow Line">
            <a:extLst>
              <a:ext uri="{FF2B5EF4-FFF2-40B4-BE49-F238E27FC236}">
                <a16:creationId xmlns:a16="http://schemas.microsoft.com/office/drawing/2014/main" id="{3B0ABD0D-C985-9803-EC26-D11ECB3B2515}"/>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52010813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54872-EC0F-42E7-99D0-875659D22BF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F997FC4-E9F8-8A59-9021-8752F59F41F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E1E7BF-378E-0531-9ED5-9D63049CC86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BCD19C4B-07BD-40B6-8EA2-8B6D1B8CAC69}" type="datetimeFigureOut">
              <a:rPr lang="en-AU" smtClean="0"/>
              <a:t>23/02/2025</a:t>
            </a:fld>
            <a:endParaRPr lang="en-AU"/>
          </a:p>
        </p:txBody>
      </p:sp>
      <p:sp>
        <p:nvSpPr>
          <p:cNvPr id="5" name="Footer Placeholder 4">
            <a:extLst>
              <a:ext uri="{FF2B5EF4-FFF2-40B4-BE49-F238E27FC236}">
                <a16:creationId xmlns:a16="http://schemas.microsoft.com/office/drawing/2014/main" id="{D89F0EC4-6361-5AAE-7F22-8DF7FBA6BBB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BCA052D9-8AE0-39EC-B8A0-6D1FC61088F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EA51E6A4-E126-4554-AC75-02AA5AD908B6}" type="slidenum">
              <a:rPr lang="en-AU" smtClean="0"/>
              <a:t>‹#›</a:t>
            </a:fld>
            <a:endParaRPr lang="en-AU"/>
          </a:p>
        </p:txBody>
      </p:sp>
    </p:spTree>
    <p:extLst>
      <p:ext uri="{BB962C8B-B14F-4D97-AF65-F5344CB8AC3E}">
        <p14:creationId xmlns:p14="http://schemas.microsoft.com/office/powerpoint/2010/main" val="213800549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slide" Target="slide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slide" Target="slide35.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272846" y="990600"/>
            <a:ext cx="5487287" cy="1898341"/>
          </a:xfrm>
        </p:spPr>
        <p:txBody>
          <a:bodyPr>
            <a:noAutofit/>
          </a:bodyPr>
          <a:lstStyle/>
          <a:p>
            <a:pPr>
              <a:buNone/>
            </a:pPr>
            <a:r>
              <a:rPr lang="en-AU" sz="3200" dirty="0"/>
              <a:t>MGT10009 Contemporary Management Principles</a:t>
            </a:r>
            <a:endParaRPr lang="en-GB" sz="3200" dirty="0">
              <a:latin typeface="Arial" pitchFamily="34" charset="0"/>
              <a:cs typeface="Arial" pitchFamily="34" charset="0"/>
            </a:endParaRPr>
          </a:p>
          <a:p>
            <a:pPr>
              <a:buNone/>
            </a:pPr>
            <a:r>
              <a:rPr lang="en-AU" sz="3200" dirty="0"/>
              <a:t> Lecture 4 Communication</a:t>
            </a:r>
          </a:p>
        </p:txBody>
      </p:sp>
      <p:sp>
        <p:nvSpPr>
          <p:cNvPr id="5" name="Text Placeholder 4"/>
          <p:cNvSpPr>
            <a:spLocks noGrp="1"/>
          </p:cNvSpPr>
          <p:nvPr>
            <p:ph type="body" sz="quarter" idx="14"/>
          </p:nvPr>
        </p:nvSpPr>
        <p:spPr>
          <a:xfrm>
            <a:off x="339213" y="2983707"/>
            <a:ext cx="4132775" cy="1417402"/>
          </a:xfrm>
        </p:spPr>
        <p:txBody>
          <a:bodyPr/>
          <a:lstStyle/>
          <a:p>
            <a:pPr>
              <a:buNone/>
            </a:pPr>
            <a:r>
              <a:rPr lang="en-AU" sz="2400" dirty="0"/>
              <a:t>Dr David Qian </a:t>
            </a:r>
            <a:r>
              <a:rPr lang="en-AU" sz="1600" dirty="0"/>
              <a:t>dqian@swin.edu.au</a:t>
            </a:r>
          </a:p>
          <a:p>
            <a:pPr>
              <a:buNone/>
            </a:pPr>
            <a:r>
              <a:rPr lang="en-AU" sz="2400" dirty="0"/>
              <a:t>Peter Moran </a:t>
            </a:r>
            <a:r>
              <a:rPr lang="en-AU" sz="1600" dirty="0"/>
              <a:t>pmoran@swin.edu.au</a:t>
            </a:r>
          </a:p>
        </p:txBody>
      </p:sp>
    </p:spTree>
    <p:extLst>
      <p:ext uri="{BB962C8B-B14F-4D97-AF65-F5344CB8AC3E}">
        <p14:creationId xmlns:p14="http://schemas.microsoft.com/office/powerpoint/2010/main" val="24396756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2C6F-64D4-4FC0-A590-011A0A3CE9C6}"/>
              </a:ext>
            </a:extLst>
          </p:cNvPr>
          <p:cNvSpPr>
            <a:spLocks noGrp="1"/>
          </p:cNvSpPr>
          <p:nvPr>
            <p:ph type="title"/>
          </p:nvPr>
        </p:nvSpPr>
        <p:spPr/>
        <p:txBody>
          <a:bodyPr/>
          <a:lstStyle/>
          <a:p>
            <a:r>
              <a:rPr lang="en-US" noProof="0" dirty="0"/>
              <a:t>Learning Objectives</a:t>
            </a:r>
          </a:p>
        </p:txBody>
      </p:sp>
      <p:sp>
        <p:nvSpPr>
          <p:cNvPr id="3" name="Content Placeholder 2">
            <a:extLst>
              <a:ext uri="{FF2B5EF4-FFF2-40B4-BE49-F238E27FC236}">
                <a16:creationId xmlns:a16="http://schemas.microsoft.com/office/drawing/2014/main" id="{FA3088DE-9021-45DB-9A88-DA3E305FC7F3}"/>
              </a:ext>
            </a:extLst>
          </p:cNvPr>
          <p:cNvSpPr>
            <a:spLocks noGrp="1"/>
          </p:cNvSpPr>
          <p:nvPr>
            <p:ph sz="quarter" idx="11"/>
          </p:nvPr>
        </p:nvSpPr>
        <p:spPr>
          <a:xfrm>
            <a:off x="342900" y="1276709"/>
            <a:ext cx="8648700" cy="5246011"/>
          </a:xfrm>
        </p:spPr>
        <p:txBody>
          <a:bodyPr>
            <a:noAutofit/>
          </a:bodyPr>
          <a:lstStyle/>
          <a:p>
            <a:pPr marL="746125" indent="-746125">
              <a:defRPr/>
            </a:pPr>
            <a:r>
              <a:rPr lang="en-US" b="1" noProof="0" dirty="0">
                <a:solidFill>
                  <a:srgbClr val="B0141B"/>
                </a:solidFill>
              </a:rPr>
              <a:t>15-1 </a:t>
            </a:r>
            <a:r>
              <a:rPr lang="en-US" b="1" noProof="0" dirty="0">
                <a:solidFill>
                  <a:schemeClr val="tx1"/>
                </a:solidFill>
              </a:rPr>
              <a:t>	</a:t>
            </a:r>
            <a:r>
              <a:rPr lang="en-US" noProof="0" dirty="0">
                <a:solidFill>
                  <a:schemeClr val="tx1"/>
                </a:solidFill>
              </a:rPr>
              <a:t>Discuss important advantages of two-way communication.</a:t>
            </a:r>
          </a:p>
          <a:p>
            <a:pPr marL="746125" indent="-746125">
              <a:defRPr/>
            </a:pPr>
            <a:r>
              <a:rPr lang="en-US" b="1" noProof="0" dirty="0">
                <a:solidFill>
                  <a:srgbClr val="B0141B"/>
                </a:solidFill>
              </a:rPr>
              <a:t>15-2 </a:t>
            </a:r>
            <a:r>
              <a:rPr lang="en-US" noProof="0" dirty="0">
                <a:solidFill>
                  <a:schemeClr val="tx1"/>
                </a:solidFill>
              </a:rPr>
              <a:t>	Identify communication problems to avoid.</a:t>
            </a:r>
          </a:p>
          <a:p>
            <a:pPr marL="746125" indent="-746125">
              <a:defRPr/>
            </a:pPr>
            <a:r>
              <a:rPr lang="en-US" b="1" noProof="0" dirty="0">
                <a:solidFill>
                  <a:srgbClr val="B0141B"/>
                </a:solidFill>
              </a:rPr>
              <a:t>15-3 </a:t>
            </a:r>
            <a:r>
              <a:rPr lang="en-US" noProof="0" dirty="0">
                <a:solidFill>
                  <a:srgbClr val="B0141B"/>
                </a:solidFill>
              </a:rPr>
              <a:t>	</a:t>
            </a:r>
            <a:r>
              <a:rPr lang="en-US" noProof="0" dirty="0">
                <a:solidFill>
                  <a:schemeClr val="tx1"/>
                </a:solidFill>
              </a:rPr>
              <a:t>Describe when and how to use the various communication channels.</a:t>
            </a:r>
          </a:p>
          <a:p>
            <a:pPr marL="746125" indent="-746125">
              <a:defRPr/>
            </a:pPr>
            <a:r>
              <a:rPr lang="en-US" b="1" noProof="0" dirty="0">
                <a:solidFill>
                  <a:srgbClr val="B0141B"/>
                </a:solidFill>
              </a:rPr>
              <a:t>15-4 </a:t>
            </a:r>
            <a:r>
              <a:rPr lang="en-US" noProof="0" dirty="0">
                <a:solidFill>
                  <a:schemeClr val="tx1"/>
                </a:solidFill>
              </a:rPr>
              <a:t>	Summarize ways to become a better sender and receiver of information.</a:t>
            </a:r>
          </a:p>
          <a:p>
            <a:pPr marL="746125" indent="-746125">
              <a:defRPr/>
            </a:pPr>
            <a:r>
              <a:rPr lang="en-US" b="1" noProof="0" dirty="0">
                <a:solidFill>
                  <a:srgbClr val="B0141B"/>
                </a:solidFill>
              </a:rPr>
              <a:t>15-5 </a:t>
            </a:r>
            <a:r>
              <a:rPr lang="en-US" noProof="0" dirty="0">
                <a:solidFill>
                  <a:schemeClr val="tx1"/>
                </a:solidFill>
              </a:rPr>
              <a:t>	Explain how to improve downward, upward, and horizontal communication.</a:t>
            </a:r>
          </a:p>
          <a:p>
            <a:pPr marL="746125" indent="-746125">
              <a:defRPr/>
            </a:pPr>
            <a:r>
              <a:rPr lang="en-US" b="1" noProof="0" dirty="0">
                <a:solidFill>
                  <a:srgbClr val="B0141B"/>
                </a:solidFill>
              </a:rPr>
              <a:t>15-6 </a:t>
            </a:r>
            <a:r>
              <a:rPr lang="en-US" noProof="0" dirty="0">
                <a:solidFill>
                  <a:srgbClr val="B0141B"/>
                </a:solidFill>
              </a:rPr>
              <a:t>	</a:t>
            </a:r>
            <a:r>
              <a:rPr lang="en-US" noProof="0" dirty="0">
                <a:solidFill>
                  <a:schemeClr val="tx1"/>
                </a:solidFill>
              </a:rPr>
              <a:t>Summarize how to work with the company grapevine.</a:t>
            </a:r>
          </a:p>
          <a:p>
            <a:pPr marL="746125" indent="-746125">
              <a:defRPr/>
            </a:pPr>
            <a:r>
              <a:rPr lang="en-US" b="1" noProof="0" dirty="0">
                <a:solidFill>
                  <a:srgbClr val="B0141B"/>
                </a:solidFill>
              </a:rPr>
              <a:t>15-7 </a:t>
            </a:r>
            <a:r>
              <a:rPr lang="en-US" noProof="0" dirty="0">
                <a:solidFill>
                  <a:schemeClr val="tx1"/>
                </a:solidFill>
              </a:rPr>
              <a:t>	Understand transparency and what it means to be “boundaryless.”</a:t>
            </a:r>
          </a:p>
        </p:txBody>
      </p:sp>
      <p:sp>
        <p:nvSpPr>
          <p:cNvPr id="6" name="Slide Number Placeholder 5">
            <a:extLst>
              <a:ext uri="{FF2B5EF4-FFF2-40B4-BE49-F238E27FC236}">
                <a16:creationId xmlns:a16="http://schemas.microsoft.com/office/drawing/2014/main" id="{1F0334C2-0494-4F34-A8A9-FF516597A4BF}"/>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278085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DF24-955F-4806-B85B-DB3D3C34D106}"/>
              </a:ext>
            </a:extLst>
          </p:cNvPr>
          <p:cNvSpPr>
            <a:spLocks noGrp="1"/>
          </p:cNvSpPr>
          <p:nvPr>
            <p:ph type="title"/>
          </p:nvPr>
        </p:nvSpPr>
        <p:spPr/>
        <p:txBody>
          <a:bodyPr>
            <a:normAutofit fontScale="90000"/>
          </a:bodyPr>
          <a:lstStyle/>
          <a:p>
            <a:pPr algn="ctr"/>
            <a:r>
              <a:rPr lang="en-US" noProof="0" dirty="0">
                <a:solidFill>
                  <a:srgbClr val="FF0000"/>
                </a:solidFill>
              </a:rPr>
              <a:t>Management in Action Communication During Difficult Times</a:t>
            </a:r>
          </a:p>
        </p:txBody>
      </p:sp>
      <p:sp>
        <p:nvSpPr>
          <p:cNvPr id="3" name="Content Placeholder 2">
            <a:extLst>
              <a:ext uri="{FF2B5EF4-FFF2-40B4-BE49-F238E27FC236}">
                <a16:creationId xmlns:a16="http://schemas.microsoft.com/office/drawing/2014/main" id="{9DBEFC25-5793-46C1-BE3D-314E3734C9B4}"/>
              </a:ext>
            </a:extLst>
          </p:cNvPr>
          <p:cNvSpPr>
            <a:spLocks noGrp="1"/>
          </p:cNvSpPr>
          <p:nvPr>
            <p:ph sz="quarter" idx="11"/>
          </p:nvPr>
        </p:nvSpPr>
        <p:spPr>
          <a:xfrm>
            <a:off x="342900" y="1276709"/>
            <a:ext cx="8458200" cy="5347745"/>
          </a:xfrm>
        </p:spPr>
        <p:txBody>
          <a:bodyPr/>
          <a:lstStyle/>
          <a:p>
            <a:r>
              <a:rPr lang="en-US" noProof="0" dirty="0"/>
              <a:t>Effective communication is never a bad thing but –</a:t>
            </a:r>
          </a:p>
          <a:p>
            <a:pPr marL="342900" indent="-342900">
              <a:buFont typeface="Arial" panose="020B0604020202020204" pitchFamily="34" charset="0"/>
              <a:buChar char="•"/>
            </a:pPr>
            <a:r>
              <a:rPr lang="en-US" noProof="0" dirty="0"/>
              <a:t> is a sign of managerial competence during turbulent times. </a:t>
            </a:r>
          </a:p>
          <a:p>
            <a:pPr marL="342900" indent="-342900">
              <a:buFont typeface="Arial" panose="020B0604020202020204" pitchFamily="34" charset="0"/>
              <a:buChar char="•"/>
            </a:pPr>
            <a:r>
              <a:rPr lang="en-US" noProof="0" dirty="0"/>
              <a:t>This was particularly the case during the COVID-19 pandemic.</a:t>
            </a:r>
          </a:p>
          <a:p>
            <a:r>
              <a:rPr lang="en-US" noProof="0" dirty="0"/>
              <a:t>Slack’s C</a:t>
            </a:r>
            <a:r>
              <a:rPr lang="en-US" sz="100" noProof="0" dirty="0"/>
              <a:t> </a:t>
            </a:r>
            <a:r>
              <a:rPr lang="en-US" noProof="0" dirty="0"/>
              <a:t>E</a:t>
            </a:r>
            <a:r>
              <a:rPr lang="en-US" sz="100" noProof="0" dirty="0"/>
              <a:t> </a:t>
            </a:r>
            <a:r>
              <a:rPr lang="en-US" noProof="0" dirty="0"/>
              <a:t>O wanted his employees to know that he:</a:t>
            </a:r>
          </a:p>
          <a:p>
            <a:pPr marL="342900" indent="-342900">
              <a:buFont typeface="Arial" panose="020B0604020202020204" pitchFamily="34" charset="0"/>
              <a:buChar char="•"/>
            </a:pPr>
            <a:r>
              <a:rPr lang="en-US" sz="2000" noProof="0" dirty="0"/>
              <a:t>understood and</a:t>
            </a:r>
          </a:p>
          <a:p>
            <a:pPr marL="342900" indent="-342900">
              <a:buFont typeface="Arial" panose="020B0604020202020204" pitchFamily="34" charset="0"/>
              <a:buChar char="•"/>
            </a:pPr>
            <a:r>
              <a:rPr lang="en-US" sz="2000" noProof="0" dirty="0"/>
              <a:t>empathized with the fear and upheaval they were experiencing. </a:t>
            </a:r>
          </a:p>
          <a:p>
            <a:pPr marL="342900" indent="-342900">
              <a:buFont typeface="Arial" panose="020B0604020202020204" pitchFamily="34" charset="0"/>
              <a:buChar char="•"/>
            </a:pPr>
            <a:r>
              <a:rPr lang="en-US" sz="2000" noProof="0" dirty="0"/>
              <a:t>His memo expressed that: “We got this. Take care of yourselves, take care of your families, be a good partner.</a:t>
            </a:r>
          </a:p>
          <a:p>
            <a:pPr marL="342900" indent="-342900">
              <a:buFont typeface="Arial" panose="020B0604020202020204" pitchFamily="34" charset="0"/>
              <a:buChar char="•"/>
            </a:pPr>
            <a:r>
              <a:rPr lang="en-US" sz="2000" noProof="0" dirty="0"/>
              <a:t>It is fine to work irregular or reduced hours. It is fine to take time out when you need it.” His prevailing message to this workforce: “Don’t stress about work.”</a:t>
            </a:r>
          </a:p>
        </p:txBody>
      </p:sp>
      <p:sp>
        <p:nvSpPr>
          <p:cNvPr id="7" name="Slide Number Placeholder 6">
            <a:extLst>
              <a:ext uri="{FF2B5EF4-FFF2-40B4-BE49-F238E27FC236}">
                <a16:creationId xmlns:a16="http://schemas.microsoft.com/office/drawing/2014/main" id="{0C6EA880-66C6-419F-90C5-096260581E6B}"/>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47377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B556-F28B-4161-87E4-BB737E7C228F}"/>
              </a:ext>
            </a:extLst>
          </p:cNvPr>
          <p:cNvSpPr>
            <a:spLocks noGrp="1"/>
          </p:cNvSpPr>
          <p:nvPr>
            <p:ph type="title"/>
          </p:nvPr>
        </p:nvSpPr>
        <p:spPr>
          <a:xfrm>
            <a:off x="342900" y="233546"/>
            <a:ext cx="8458200" cy="1034815"/>
          </a:xfrm>
        </p:spPr>
        <p:txBody>
          <a:bodyPr>
            <a:normAutofit fontScale="90000"/>
          </a:bodyPr>
          <a:lstStyle/>
          <a:p>
            <a:pPr algn="ctr"/>
            <a:r>
              <a:rPr lang="en-US" noProof="0" dirty="0">
                <a:solidFill>
                  <a:srgbClr val="FF0000"/>
                </a:solidFill>
              </a:rPr>
              <a:t>Exhibit 15.1 A General Model of Communication</a:t>
            </a:r>
          </a:p>
        </p:txBody>
      </p:sp>
      <p:pic>
        <p:nvPicPr>
          <p:cNvPr id="9" name="Picture 8" descr="A general model of communication showing the flow of general communication.">
            <a:extLst>
              <a:ext uri="{FF2B5EF4-FFF2-40B4-BE49-F238E27FC236}">
                <a16:creationId xmlns:a16="http://schemas.microsoft.com/office/drawing/2014/main" id="{4E24FAB8-2631-4BF5-B05A-65CF168F3815}"/>
              </a:ext>
            </a:extLst>
          </p:cNvPr>
          <p:cNvPicPr>
            <a:picLocks noChangeAspect="1"/>
          </p:cNvPicPr>
          <p:nvPr/>
        </p:nvPicPr>
        <p:blipFill>
          <a:blip r:embed="rId3"/>
          <a:stretch>
            <a:fillRect/>
          </a:stretch>
        </p:blipFill>
        <p:spPr>
          <a:xfrm>
            <a:off x="415637" y="2473034"/>
            <a:ext cx="8312727" cy="2216727"/>
          </a:xfrm>
          <a:prstGeom prst="rect">
            <a:avLst/>
          </a:prstGeom>
        </p:spPr>
      </p:pic>
      <p:sp>
        <p:nvSpPr>
          <p:cNvPr id="4" name="Text Placeholder 3">
            <a:extLst>
              <a:ext uri="{FF2B5EF4-FFF2-40B4-BE49-F238E27FC236}">
                <a16:creationId xmlns:a16="http://schemas.microsoft.com/office/drawing/2014/main" id="{427E2F42-AAED-4243-9904-F255820DE85E}"/>
              </a:ext>
            </a:extLst>
          </p:cNvPr>
          <p:cNvSpPr>
            <a:spLocks noGrp="1"/>
          </p:cNvSpPr>
          <p:nvPr>
            <p:ph type="body" sz="quarter" idx="14"/>
          </p:nvPr>
        </p:nvSpPr>
        <p:spPr/>
        <p:txBody>
          <a:bodyPr/>
          <a:lstStyle/>
          <a:p>
            <a:r>
              <a:rPr lang="en-US" sz="1200" noProof="0" dirty="0">
                <a:hlinkClick r:id="rId4" action="ppaction://hlinksldjump"/>
              </a:rPr>
              <a:t>Access the text alternative for slide image</a:t>
            </a:r>
          </a:p>
        </p:txBody>
      </p:sp>
      <p:sp>
        <p:nvSpPr>
          <p:cNvPr id="6" name="Slide Number Placeholder 5">
            <a:extLst>
              <a:ext uri="{FF2B5EF4-FFF2-40B4-BE49-F238E27FC236}">
                <a16:creationId xmlns:a16="http://schemas.microsoft.com/office/drawing/2014/main" id="{65506C3F-6B83-4E50-B527-E588A3DEEB39}"/>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187968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FDBC-AD33-446D-AFD4-D7D94C62E800}"/>
              </a:ext>
            </a:extLst>
          </p:cNvPr>
          <p:cNvSpPr>
            <a:spLocks noGrp="1"/>
          </p:cNvSpPr>
          <p:nvPr>
            <p:ph type="title"/>
          </p:nvPr>
        </p:nvSpPr>
        <p:spPr/>
        <p:txBody>
          <a:bodyPr>
            <a:normAutofit fontScale="90000"/>
          </a:bodyPr>
          <a:lstStyle/>
          <a:p>
            <a:r>
              <a:rPr lang="en-US" noProof="0" dirty="0">
                <a:solidFill>
                  <a:srgbClr val="FF0000"/>
                </a:solidFill>
              </a:rPr>
              <a:t>One-Way versus Two-Way Communication</a:t>
            </a:r>
          </a:p>
        </p:txBody>
      </p:sp>
      <p:sp>
        <p:nvSpPr>
          <p:cNvPr id="3" name="Content Placeholder 2">
            <a:extLst>
              <a:ext uri="{FF2B5EF4-FFF2-40B4-BE49-F238E27FC236}">
                <a16:creationId xmlns:a16="http://schemas.microsoft.com/office/drawing/2014/main" id="{0790F366-158B-4B17-94AB-4B94618A272A}"/>
              </a:ext>
            </a:extLst>
          </p:cNvPr>
          <p:cNvSpPr>
            <a:spLocks noGrp="1"/>
          </p:cNvSpPr>
          <p:nvPr>
            <p:ph sz="quarter" idx="11"/>
          </p:nvPr>
        </p:nvSpPr>
        <p:spPr>
          <a:xfrm>
            <a:off x="342900" y="1276709"/>
            <a:ext cx="8458200" cy="1901906"/>
          </a:xfrm>
        </p:spPr>
        <p:txBody>
          <a:bodyPr/>
          <a:lstStyle/>
          <a:p>
            <a:r>
              <a:rPr lang="en-US" b="1" noProof="0" dirty="0"/>
              <a:t>One-way communication: </a:t>
            </a:r>
          </a:p>
          <a:p>
            <a:pPr lvl="2"/>
            <a:r>
              <a:rPr lang="en-US" sz="2800" noProof="0" dirty="0">
                <a:solidFill>
                  <a:srgbClr val="FF0000"/>
                </a:solidFill>
              </a:rPr>
              <a:t>A process in which information flows in only one direction—from the sender to the receiver, with no feedback loop.</a:t>
            </a:r>
          </a:p>
        </p:txBody>
      </p:sp>
      <p:sp>
        <p:nvSpPr>
          <p:cNvPr id="4" name="Content Placeholder 3">
            <a:extLst>
              <a:ext uri="{FF2B5EF4-FFF2-40B4-BE49-F238E27FC236}">
                <a16:creationId xmlns:a16="http://schemas.microsoft.com/office/drawing/2014/main" id="{A18821F9-DE9E-41A8-903A-F42E3A561BED}"/>
              </a:ext>
            </a:extLst>
          </p:cNvPr>
          <p:cNvSpPr>
            <a:spLocks noGrp="1"/>
          </p:cNvSpPr>
          <p:nvPr>
            <p:ph sz="quarter" idx="14"/>
          </p:nvPr>
        </p:nvSpPr>
        <p:spPr>
          <a:xfrm>
            <a:off x="342900" y="3178614"/>
            <a:ext cx="8458200" cy="2533927"/>
          </a:xfrm>
        </p:spPr>
        <p:txBody>
          <a:bodyPr/>
          <a:lstStyle/>
          <a:p>
            <a:endParaRPr lang="en-US" b="1" noProof="0" dirty="0"/>
          </a:p>
          <a:p>
            <a:r>
              <a:rPr lang="en-US" b="1" noProof="0" dirty="0"/>
              <a:t>Two-way communication:</a:t>
            </a:r>
          </a:p>
          <a:p>
            <a:pPr lvl="2"/>
            <a:r>
              <a:rPr lang="en-US" sz="2800" noProof="0" dirty="0">
                <a:solidFill>
                  <a:srgbClr val="FF0000"/>
                </a:solidFill>
              </a:rPr>
              <a:t>A process in which information flows in two directions—the receiver provides feedback, and the sender is receptive to the feedback.</a:t>
            </a:r>
          </a:p>
        </p:txBody>
      </p:sp>
      <p:sp>
        <p:nvSpPr>
          <p:cNvPr id="7" name="Slide Number Placeholder 6">
            <a:extLst>
              <a:ext uri="{FF2B5EF4-FFF2-40B4-BE49-F238E27FC236}">
                <a16:creationId xmlns:a16="http://schemas.microsoft.com/office/drawing/2014/main" id="{8525DB33-ECC2-4F5D-9606-FC63074C39EA}"/>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1940965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FDBC-AD33-446D-AFD4-D7D94C62E800}"/>
              </a:ext>
            </a:extLst>
          </p:cNvPr>
          <p:cNvSpPr>
            <a:spLocks noGrp="1"/>
          </p:cNvSpPr>
          <p:nvPr>
            <p:ph type="title"/>
          </p:nvPr>
        </p:nvSpPr>
        <p:spPr/>
        <p:txBody>
          <a:bodyPr>
            <a:normAutofit/>
          </a:bodyPr>
          <a:lstStyle/>
          <a:p>
            <a:pPr algn="ctr"/>
            <a:r>
              <a:rPr lang="en-US" noProof="0" dirty="0">
                <a:solidFill>
                  <a:srgbClr val="FF0000"/>
                </a:solidFill>
              </a:rPr>
              <a:t>Communication Pitfalls</a:t>
            </a:r>
          </a:p>
        </p:txBody>
      </p:sp>
      <p:sp>
        <p:nvSpPr>
          <p:cNvPr id="3" name="Content Placeholder 2">
            <a:extLst>
              <a:ext uri="{FF2B5EF4-FFF2-40B4-BE49-F238E27FC236}">
                <a16:creationId xmlns:a16="http://schemas.microsoft.com/office/drawing/2014/main" id="{0790F366-158B-4B17-94AB-4B94618A272A}"/>
              </a:ext>
            </a:extLst>
          </p:cNvPr>
          <p:cNvSpPr>
            <a:spLocks noGrp="1"/>
          </p:cNvSpPr>
          <p:nvPr>
            <p:ph sz="quarter" idx="11"/>
          </p:nvPr>
        </p:nvSpPr>
        <p:spPr>
          <a:xfrm>
            <a:off x="342900" y="1276709"/>
            <a:ext cx="8458200" cy="1039771"/>
          </a:xfrm>
        </p:spPr>
        <p:txBody>
          <a:bodyPr/>
          <a:lstStyle/>
          <a:p>
            <a:r>
              <a:rPr lang="en-US" b="1" noProof="0" dirty="0"/>
              <a:t>Perception:</a:t>
            </a:r>
          </a:p>
          <a:p>
            <a:pPr lvl="2"/>
            <a:r>
              <a:rPr lang="en-US" noProof="0" dirty="0">
                <a:solidFill>
                  <a:srgbClr val="FF0000"/>
                </a:solidFill>
              </a:rPr>
              <a:t>The process of receiving and interpreting information.</a:t>
            </a:r>
          </a:p>
        </p:txBody>
      </p:sp>
      <p:sp>
        <p:nvSpPr>
          <p:cNvPr id="4" name="Content Placeholder 3">
            <a:extLst>
              <a:ext uri="{FF2B5EF4-FFF2-40B4-BE49-F238E27FC236}">
                <a16:creationId xmlns:a16="http://schemas.microsoft.com/office/drawing/2014/main" id="{A18821F9-DE9E-41A8-903A-F42E3A561BED}"/>
              </a:ext>
            </a:extLst>
          </p:cNvPr>
          <p:cNvSpPr>
            <a:spLocks noGrp="1"/>
          </p:cNvSpPr>
          <p:nvPr>
            <p:ph sz="quarter" idx="14"/>
          </p:nvPr>
        </p:nvSpPr>
        <p:spPr>
          <a:xfrm>
            <a:off x="342900" y="2442427"/>
            <a:ext cx="8458200" cy="3138864"/>
          </a:xfrm>
        </p:spPr>
        <p:txBody>
          <a:bodyPr/>
          <a:lstStyle/>
          <a:p>
            <a:endParaRPr lang="en-US" b="1" noProof="0" dirty="0"/>
          </a:p>
          <a:p>
            <a:endParaRPr lang="en-US" b="1" dirty="0"/>
          </a:p>
          <a:p>
            <a:r>
              <a:rPr lang="en-US" b="1" noProof="0" dirty="0"/>
              <a:t>Filtering:</a:t>
            </a:r>
          </a:p>
          <a:p>
            <a:pPr lvl="2"/>
            <a:r>
              <a:rPr lang="en-US" noProof="0" dirty="0">
                <a:solidFill>
                  <a:srgbClr val="FF0000"/>
                </a:solidFill>
              </a:rPr>
              <a:t>The process of withholding, ignoring, or distorting information.</a:t>
            </a:r>
          </a:p>
        </p:txBody>
      </p:sp>
      <p:sp>
        <p:nvSpPr>
          <p:cNvPr id="7" name="Slide Number Placeholder 6">
            <a:extLst>
              <a:ext uri="{FF2B5EF4-FFF2-40B4-BE49-F238E27FC236}">
                <a16:creationId xmlns:a16="http://schemas.microsoft.com/office/drawing/2014/main" id="{8525DB33-ECC2-4F5D-9606-FC63074C39EA}"/>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1809929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FDBC-AD33-446D-AFD4-D7D94C62E800}"/>
              </a:ext>
            </a:extLst>
          </p:cNvPr>
          <p:cNvSpPr>
            <a:spLocks noGrp="1"/>
          </p:cNvSpPr>
          <p:nvPr>
            <p:ph type="title"/>
          </p:nvPr>
        </p:nvSpPr>
        <p:spPr/>
        <p:txBody>
          <a:bodyPr>
            <a:normAutofit/>
          </a:bodyPr>
          <a:lstStyle/>
          <a:p>
            <a:pPr algn="ctr"/>
            <a:r>
              <a:rPr lang="en-US" noProof="0" dirty="0">
                <a:solidFill>
                  <a:srgbClr val="FF0000"/>
                </a:solidFill>
              </a:rPr>
              <a:t>Verbal and Written Channels</a:t>
            </a:r>
          </a:p>
        </p:txBody>
      </p:sp>
      <p:sp>
        <p:nvSpPr>
          <p:cNvPr id="3" name="Content Placeholder 2">
            <a:extLst>
              <a:ext uri="{FF2B5EF4-FFF2-40B4-BE49-F238E27FC236}">
                <a16:creationId xmlns:a16="http://schemas.microsoft.com/office/drawing/2014/main" id="{0790F366-158B-4B17-94AB-4B94618A272A}"/>
              </a:ext>
            </a:extLst>
          </p:cNvPr>
          <p:cNvSpPr>
            <a:spLocks noGrp="1"/>
          </p:cNvSpPr>
          <p:nvPr>
            <p:ph sz="quarter" idx="11"/>
          </p:nvPr>
        </p:nvSpPr>
        <p:spPr>
          <a:xfrm>
            <a:off x="342900" y="1276709"/>
            <a:ext cx="8458200" cy="1420771"/>
          </a:xfrm>
        </p:spPr>
        <p:txBody>
          <a:bodyPr/>
          <a:lstStyle/>
          <a:p>
            <a:r>
              <a:rPr lang="en-US" b="1" noProof="0" dirty="0"/>
              <a:t>Verbal communication: </a:t>
            </a:r>
          </a:p>
          <a:p>
            <a:pPr lvl="1"/>
            <a:r>
              <a:rPr lang="en-US" noProof="0" dirty="0"/>
              <a:t>Includes face-to-face discussion, phone conversations, meetings, and formal presentations and speeches.</a:t>
            </a:r>
          </a:p>
        </p:txBody>
      </p:sp>
      <p:sp>
        <p:nvSpPr>
          <p:cNvPr id="4" name="Content Placeholder 3">
            <a:extLst>
              <a:ext uri="{FF2B5EF4-FFF2-40B4-BE49-F238E27FC236}">
                <a16:creationId xmlns:a16="http://schemas.microsoft.com/office/drawing/2014/main" id="{A18821F9-DE9E-41A8-903A-F42E3A561BED}"/>
              </a:ext>
            </a:extLst>
          </p:cNvPr>
          <p:cNvSpPr>
            <a:spLocks noGrp="1"/>
          </p:cNvSpPr>
          <p:nvPr>
            <p:ph sz="quarter" idx="14"/>
          </p:nvPr>
        </p:nvSpPr>
        <p:spPr>
          <a:xfrm>
            <a:off x="342900" y="2814551"/>
            <a:ext cx="8458200" cy="2455539"/>
          </a:xfrm>
        </p:spPr>
        <p:txBody>
          <a:bodyPr/>
          <a:lstStyle/>
          <a:p>
            <a:endParaRPr lang="en-US" b="1" noProof="0" dirty="0"/>
          </a:p>
          <a:p>
            <a:r>
              <a:rPr lang="en-US" b="1" noProof="0" dirty="0"/>
              <a:t>Written communication: </a:t>
            </a:r>
          </a:p>
          <a:p>
            <a:pPr lvl="1"/>
            <a:r>
              <a:rPr lang="en-US" noProof="0" dirty="0"/>
              <a:t>Includes email, memos, letters, reports, spreadsheets, product brochures, and other documents.</a:t>
            </a:r>
          </a:p>
        </p:txBody>
      </p:sp>
      <p:sp>
        <p:nvSpPr>
          <p:cNvPr id="7" name="Slide Number Placeholder 6">
            <a:extLst>
              <a:ext uri="{FF2B5EF4-FFF2-40B4-BE49-F238E27FC236}">
                <a16:creationId xmlns:a16="http://schemas.microsoft.com/office/drawing/2014/main" id="{8525DB33-ECC2-4F5D-9606-FC63074C39EA}"/>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328870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FDBC-AD33-446D-AFD4-D7D94C62E800}"/>
              </a:ext>
            </a:extLst>
          </p:cNvPr>
          <p:cNvSpPr>
            <a:spLocks noGrp="1"/>
          </p:cNvSpPr>
          <p:nvPr>
            <p:ph type="title"/>
          </p:nvPr>
        </p:nvSpPr>
        <p:spPr/>
        <p:txBody>
          <a:bodyPr>
            <a:normAutofit/>
          </a:bodyPr>
          <a:lstStyle/>
          <a:p>
            <a:pPr algn="ctr"/>
            <a:r>
              <a:rPr lang="en-US" noProof="0" dirty="0">
                <a:solidFill>
                  <a:srgbClr val="FF0000"/>
                </a:solidFill>
              </a:rPr>
              <a:t>Verbal Communications</a:t>
            </a:r>
          </a:p>
        </p:txBody>
      </p:sp>
      <p:sp>
        <p:nvSpPr>
          <p:cNvPr id="3" name="Content Placeholder 2">
            <a:extLst>
              <a:ext uri="{FF2B5EF4-FFF2-40B4-BE49-F238E27FC236}">
                <a16:creationId xmlns:a16="http://schemas.microsoft.com/office/drawing/2014/main" id="{0790F366-158B-4B17-94AB-4B94618A272A}"/>
              </a:ext>
            </a:extLst>
          </p:cNvPr>
          <p:cNvSpPr>
            <a:spLocks noGrp="1"/>
          </p:cNvSpPr>
          <p:nvPr>
            <p:ph sz="quarter" idx="11"/>
          </p:nvPr>
        </p:nvSpPr>
        <p:spPr>
          <a:xfrm>
            <a:off x="342900" y="1276709"/>
            <a:ext cx="8458200" cy="2487571"/>
          </a:xfrm>
        </p:spPr>
        <p:txBody>
          <a:bodyPr/>
          <a:lstStyle/>
          <a:p>
            <a:r>
              <a:rPr lang="en-US" b="1" noProof="0" dirty="0"/>
              <a:t>Advantages:</a:t>
            </a:r>
          </a:p>
          <a:p>
            <a:pPr lvl="1"/>
            <a:r>
              <a:rPr lang="en-US" noProof="0" dirty="0"/>
              <a:t>Questions can be asked and answered.</a:t>
            </a:r>
          </a:p>
          <a:p>
            <a:pPr lvl="1"/>
            <a:r>
              <a:rPr lang="en-US" noProof="0" dirty="0"/>
              <a:t>Feedback is immediate and direct.</a:t>
            </a:r>
          </a:p>
          <a:p>
            <a:pPr lvl="1"/>
            <a:r>
              <a:rPr lang="en-US" noProof="0" dirty="0"/>
              <a:t>Receiver senses sender’s sincerity.</a:t>
            </a:r>
          </a:p>
          <a:p>
            <a:pPr lvl="1"/>
            <a:r>
              <a:rPr lang="en-US" noProof="0" dirty="0"/>
              <a:t>Oral communication is more persuasive.</a:t>
            </a:r>
          </a:p>
        </p:txBody>
      </p:sp>
      <p:sp>
        <p:nvSpPr>
          <p:cNvPr id="4" name="Content Placeholder 3">
            <a:extLst>
              <a:ext uri="{FF2B5EF4-FFF2-40B4-BE49-F238E27FC236}">
                <a16:creationId xmlns:a16="http://schemas.microsoft.com/office/drawing/2014/main" id="{A18821F9-DE9E-41A8-903A-F42E3A561BED}"/>
              </a:ext>
            </a:extLst>
          </p:cNvPr>
          <p:cNvSpPr>
            <a:spLocks noGrp="1"/>
          </p:cNvSpPr>
          <p:nvPr>
            <p:ph sz="quarter" idx="14"/>
          </p:nvPr>
        </p:nvSpPr>
        <p:spPr>
          <a:xfrm>
            <a:off x="342900" y="3905061"/>
            <a:ext cx="8458200" cy="1892908"/>
          </a:xfrm>
        </p:spPr>
        <p:txBody>
          <a:bodyPr/>
          <a:lstStyle/>
          <a:p>
            <a:r>
              <a:rPr lang="en-US" b="1" noProof="0" dirty="0"/>
              <a:t>Disadvantages:</a:t>
            </a:r>
          </a:p>
          <a:p>
            <a:pPr lvl="1"/>
            <a:r>
              <a:rPr lang="en-US" noProof="0" dirty="0"/>
              <a:t>Can lead to spontaneous, ill-considered statements (and regret). </a:t>
            </a:r>
          </a:p>
          <a:p>
            <a:pPr lvl="1"/>
            <a:r>
              <a:rPr lang="en-US" noProof="0" dirty="0"/>
              <a:t>There is no permanent record of it.</a:t>
            </a:r>
          </a:p>
        </p:txBody>
      </p:sp>
      <p:sp>
        <p:nvSpPr>
          <p:cNvPr id="7" name="Slide Number Placeholder 6">
            <a:extLst>
              <a:ext uri="{FF2B5EF4-FFF2-40B4-BE49-F238E27FC236}">
                <a16:creationId xmlns:a16="http://schemas.microsoft.com/office/drawing/2014/main" id="{8525DB33-ECC2-4F5D-9606-FC63074C39EA}"/>
              </a:ext>
            </a:extLst>
          </p:cNvPr>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177146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FDBC-AD33-446D-AFD4-D7D94C62E800}"/>
              </a:ext>
            </a:extLst>
          </p:cNvPr>
          <p:cNvSpPr>
            <a:spLocks noGrp="1"/>
          </p:cNvSpPr>
          <p:nvPr>
            <p:ph type="title"/>
          </p:nvPr>
        </p:nvSpPr>
        <p:spPr/>
        <p:txBody>
          <a:bodyPr>
            <a:normAutofit/>
          </a:bodyPr>
          <a:lstStyle/>
          <a:p>
            <a:pPr algn="ctr"/>
            <a:r>
              <a:rPr lang="en-US" noProof="0" dirty="0">
                <a:solidFill>
                  <a:srgbClr val="FF0000"/>
                </a:solidFill>
              </a:rPr>
              <a:t>Written Communication</a:t>
            </a:r>
          </a:p>
        </p:txBody>
      </p:sp>
      <p:sp>
        <p:nvSpPr>
          <p:cNvPr id="3" name="Content Placeholder 2">
            <a:extLst>
              <a:ext uri="{FF2B5EF4-FFF2-40B4-BE49-F238E27FC236}">
                <a16:creationId xmlns:a16="http://schemas.microsoft.com/office/drawing/2014/main" id="{0790F366-158B-4B17-94AB-4B94618A272A}"/>
              </a:ext>
            </a:extLst>
          </p:cNvPr>
          <p:cNvSpPr>
            <a:spLocks noGrp="1"/>
          </p:cNvSpPr>
          <p:nvPr>
            <p:ph sz="quarter" idx="11"/>
          </p:nvPr>
        </p:nvSpPr>
        <p:spPr>
          <a:xfrm>
            <a:off x="342900" y="1276709"/>
            <a:ext cx="8458200" cy="2487571"/>
          </a:xfrm>
        </p:spPr>
        <p:txBody>
          <a:bodyPr/>
          <a:lstStyle/>
          <a:p>
            <a:r>
              <a:rPr lang="en-US" b="1" noProof="0" dirty="0"/>
              <a:t>Advantages:</a:t>
            </a:r>
          </a:p>
          <a:p>
            <a:pPr lvl="1"/>
            <a:r>
              <a:rPr lang="en-US" noProof="0" dirty="0"/>
              <a:t>A message can be revised.</a:t>
            </a:r>
          </a:p>
          <a:p>
            <a:pPr lvl="1"/>
            <a:r>
              <a:rPr lang="en-US" noProof="0" dirty="0"/>
              <a:t>It provides for a permanent record.</a:t>
            </a:r>
          </a:p>
          <a:p>
            <a:pPr lvl="1"/>
            <a:r>
              <a:rPr lang="en-US" noProof="0" dirty="0"/>
              <a:t>The message is unchanged, even if relayed.</a:t>
            </a:r>
          </a:p>
          <a:p>
            <a:pPr lvl="1"/>
            <a:r>
              <a:rPr lang="en-US" noProof="0" dirty="0"/>
              <a:t>The receiver has more time to analyze the message.</a:t>
            </a:r>
          </a:p>
        </p:txBody>
      </p:sp>
      <p:sp>
        <p:nvSpPr>
          <p:cNvPr id="4" name="Content Placeholder 3">
            <a:extLst>
              <a:ext uri="{FF2B5EF4-FFF2-40B4-BE49-F238E27FC236}">
                <a16:creationId xmlns:a16="http://schemas.microsoft.com/office/drawing/2014/main" id="{A18821F9-DE9E-41A8-903A-F42E3A561BED}"/>
              </a:ext>
            </a:extLst>
          </p:cNvPr>
          <p:cNvSpPr>
            <a:spLocks noGrp="1"/>
          </p:cNvSpPr>
          <p:nvPr>
            <p:ph sz="quarter" idx="14"/>
          </p:nvPr>
        </p:nvSpPr>
        <p:spPr>
          <a:xfrm>
            <a:off x="342900" y="3905060"/>
            <a:ext cx="8458200" cy="2297619"/>
          </a:xfrm>
        </p:spPr>
        <p:txBody>
          <a:bodyPr/>
          <a:lstStyle/>
          <a:p>
            <a:r>
              <a:rPr lang="en-US" b="1" noProof="0" dirty="0"/>
              <a:t>Disadvantages:</a:t>
            </a:r>
          </a:p>
          <a:p>
            <a:pPr lvl="1"/>
            <a:r>
              <a:rPr lang="en-US" noProof="0" dirty="0"/>
              <a:t>Sender has no control over where, when, or if the message is read.</a:t>
            </a:r>
          </a:p>
          <a:p>
            <a:pPr lvl="1"/>
            <a:r>
              <a:rPr lang="en-US" noProof="0" dirty="0"/>
              <a:t>Sender does not receive immediate feedback.</a:t>
            </a:r>
          </a:p>
          <a:p>
            <a:pPr lvl="1"/>
            <a:r>
              <a:rPr lang="en-US" noProof="0" dirty="0"/>
              <a:t>Receiver may not understand parts of the message.</a:t>
            </a:r>
          </a:p>
        </p:txBody>
      </p:sp>
      <p:sp>
        <p:nvSpPr>
          <p:cNvPr id="7" name="Slide Number Placeholder 6">
            <a:extLst>
              <a:ext uri="{FF2B5EF4-FFF2-40B4-BE49-F238E27FC236}">
                <a16:creationId xmlns:a16="http://schemas.microsoft.com/office/drawing/2014/main" id="{8525DB33-ECC2-4F5D-9606-FC63074C39EA}"/>
              </a:ext>
            </a:extLst>
          </p:cNvPr>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1327844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243E-2EC5-405B-8217-FCF5B92E121F}"/>
              </a:ext>
            </a:extLst>
          </p:cNvPr>
          <p:cNvSpPr>
            <a:spLocks noGrp="1"/>
          </p:cNvSpPr>
          <p:nvPr>
            <p:ph type="title"/>
          </p:nvPr>
        </p:nvSpPr>
        <p:spPr/>
        <p:txBody>
          <a:bodyPr>
            <a:normAutofit fontScale="90000"/>
          </a:bodyPr>
          <a:lstStyle/>
          <a:p>
            <a:pPr algn="ctr"/>
            <a:r>
              <a:rPr lang="en-US" noProof="0" dirty="0">
                <a:solidFill>
                  <a:srgbClr val="FF0000"/>
                </a:solidFill>
              </a:rPr>
              <a:t>Digital Communication and Social Media</a:t>
            </a:r>
          </a:p>
        </p:txBody>
      </p:sp>
      <p:sp>
        <p:nvSpPr>
          <p:cNvPr id="3" name="Content Placeholder 2">
            <a:extLst>
              <a:ext uri="{FF2B5EF4-FFF2-40B4-BE49-F238E27FC236}">
                <a16:creationId xmlns:a16="http://schemas.microsoft.com/office/drawing/2014/main" id="{14492E7E-6D25-4048-8B08-49759AA75E4D}"/>
              </a:ext>
            </a:extLst>
          </p:cNvPr>
          <p:cNvSpPr>
            <a:spLocks noGrp="1"/>
          </p:cNvSpPr>
          <p:nvPr>
            <p:ph sz="quarter" idx="11"/>
          </p:nvPr>
        </p:nvSpPr>
        <p:spPr>
          <a:xfrm>
            <a:off x="342900" y="1276710"/>
            <a:ext cx="8458200" cy="719730"/>
          </a:xfrm>
        </p:spPr>
        <p:txBody>
          <a:bodyPr/>
          <a:lstStyle/>
          <a:p>
            <a:r>
              <a:rPr lang="en-US" sz="2000" noProof="0" dirty="0"/>
              <a:t>Employers are making strides and catching up with consumers in their use of social media.</a:t>
            </a:r>
          </a:p>
        </p:txBody>
      </p:sp>
      <p:sp>
        <p:nvSpPr>
          <p:cNvPr id="4" name="Content Placeholder 3">
            <a:extLst>
              <a:ext uri="{FF2B5EF4-FFF2-40B4-BE49-F238E27FC236}">
                <a16:creationId xmlns:a16="http://schemas.microsoft.com/office/drawing/2014/main" id="{D977C57E-332A-481B-B5AE-C1BEE6302CC4}"/>
              </a:ext>
            </a:extLst>
          </p:cNvPr>
          <p:cNvSpPr>
            <a:spLocks noGrp="1"/>
          </p:cNvSpPr>
          <p:nvPr>
            <p:ph sz="quarter" idx="14"/>
          </p:nvPr>
        </p:nvSpPr>
        <p:spPr>
          <a:xfrm>
            <a:off x="342900" y="2061020"/>
            <a:ext cx="8572500" cy="2048017"/>
          </a:xfrm>
        </p:spPr>
        <p:txBody>
          <a:bodyPr/>
          <a:lstStyle/>
          <a:p>
            <a:r>
              <a:rPr lang="en-US" sz="2000" b="1" noProof="0" dirty="0"/>
              <a:t>Advantages:</a:t>
            </a:r>
          </a:p>
          <a:p>
            <a:pPr lvl="1"/>
            <a:r>
              <a:rPr lang="en-US" sz="2000" noProof="0" dirty="0"/>
              <a:t>More information is shared.</a:t>
            </a:r>
          </a:p>
          <a:p>
            <a:pPr lvl="1"/>
            <a:r>
              <a:rPr lang="en-US" sz="2000" noProof="0" dirty="0"/>
              <a:t>There is speed and efficiency in delivering routine messages to large numbers of people.</a:t>
            </a:r>
          </a:p>
          <a:p>
            <a:pPr lvl="1"/>
            <a:r>
              <a:rPr lang="en-US" sz="2000" noProof="0" dirty="0"/>
              <a:t>It saves paper, postage, meetings, travel budgets, and conference calls.</a:t>
            </a:r>
          </a:p>
        </p:txBody>
      </p:sp>
      <p:sp>
        <p:nvSpPr>
          <p:cNvPr id="5" name="Content Placeholder 4">
            <a:extLst>
              <a:ext uri="{FF2B5EF4-FFF2-40B4-BE49-F238E27FC236}">
                <a16:creationId xmlns:a16="http://schemas.microsoft.com/office/drawing/2014/main" id="{607A3F99-34A6-4D33-BC41-292654752691}"/>
              </a:ext>
            </a:extLst>
          </p:cNvPr>
          <p:cNvSpPr>
            <a:spLocks noGrp="1"/>
          </p:cNvSpPr>
          <p:nvPr>
            <p:ph sz="quarter" idx="15"/>
          </p:nvPr>
        </p:nvSpPr>
        <p:spPr>
          <a:xfrm>
            <a:off x="342900" y="4199880"/>
            <a:ext cx="8458200" cy="1763309"/>
          </a:xfrm>
        </p:spPr>
        <p:txBody>
          <a:bodyPr/>
          <a:lstStyle/>
          <a:p>
            <a:r>
              <a:rPr lang="en-US" sz="2000" b="1" noProof="0" dirty="0"/>
              <a:t>Disadvantages:</a:t>
            </a:r>
          </a:p>
          <a:p>
            <a:pPr lvl="1"/>
            <a:r>
              <a:rPr lang="en-US" sz="2000" noProof="0" dirty="0"/>
              <a:t>It may not be able to solve complex problems.</a:t>
            </a:r>
          </a:p>
          <a:p>
            <a:pPr lvl="1"/>
            <a:r>
              <a:rPr lang="en-US" sz="2000" noProof="0" dirty="0"/>
              <a:t>There is an inability to pick up subtle, nonverbal, or inflectional clues.</a:t>
            </a:r>
          </a:p>
          <a:p>
            <a:pPr lvl="1"/>
            <a:r>
              <a:rPr lang="en-US" sz="2000" noProof="0" dirty="0"/>
              <a:t>It invites misinterpretations and improper messages.</a:t>
            </a:r>
          </a:p>
        </p:txBody>
      </p:sp>
      <p:sp>
        <p:nvSpPr>
          <p:cNvPr id="11" name="Slide Number Placeholder 10">
            <a:extLst>
              <a:ext uri="{FF2B5EF4-FFF2-40B4-BE49-F238E27FC236}">
                <a16:creationId xmlns:a16="http://schemas.microsoft.com/office/drawing/2014/main" id="{BA117E3F-0018-411D-9B4F-FA173A81FAA3}"/>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885526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83084-0890-4B01-B572-5C211BD08611}"/>
              </a:ext>
            </a:extLst>
          </p:cNvPr>
          <p:cNvSpPr>
            <a:spLocks noGrp="1"/>
          </p:cNvSpPr>
          <p:nvPr>
            <p:ph type="title"/>
          </p:nvPr>
        </p:nvSpPr>
        <p:spPr/>
        <p:txBody>
          <a:bodyPr/>
          <a:lstStyle/>
          <a:p>
            <a:pPr algn="ctr"/>
            <a:r>
              <a:rPr lang="en-US" noProof="0" dirty="0">
                <a:solidFill>
                  <a:srgbClr val="FF0000"/>
                </a:solidFill>
              </a:rPr>
              <a:t>The Virtual Office</a:t>
            </a:r>
          </a:p>
        </p:txBody>
      </p:sp>
      <p:sp>
        <p:nvSpPr>
          <p:cNvPr id="3" name="Content Placeholder 2">
            <a:extLst>
              <a:ext uri="{FF2B5EF4-FFF2-40B4-BE49-F238E27FC236}">
                <a16:creationId xmlns:a16="http://schemas.microsoft.com/office/drawing/2014/main" id="{B9904D89-779D-4A67-931A-2383BF12B0E0}"/>
              </a:ext>
            </a:extLst>
          </p:cNvPr>
          <p:cNvSpPr>
            <a:spLocks noGrp="1"/>
          </p:cNvSpPr>
          <p:nvPr>
            <p:ph sz="quarter" idx="11"/>
          </p:nvPr>
        </p:nvSpPr>
        <p:spPr/>
        <p:txBody>
          <a:bodyPr/>
          <a:lstStyle/>
          <a:p>
            <a:r>
              <a:rPr lang="en-US" noProof="0" dirty="0"/>
              <a:t>A mobile office in which people can work anywhere, as long as they have the tools to communicate with customers and colleagues:</a:t>
            </a:r>
          </a:p>
          <a:p>
            <a:endParaRPr lang="en-US" noProof="0" dirty="0"/>
          </a:p>
          <a:p>
            <a:pPr lvl="1"/>
            <a:r>
              <a:rPr lang="en-US" noProof="0" dirty="0"/>
              <a:t>There are numerous benefits associated with virtual offices.</a:t>
            </a:r>
          </a:p>
          <a:p>
            <a:pPr lvl="1"/>
            <a:r>
              <a:rPr lang="en-US" noProof="0" dirty="0"/>
              <a:t>The longer-term impact on productivity and morale is still in question.</a:t>
            </a:r>
          </a:p>
          <a:p>
            <a:pPr lvl="1"/>
            <a:r>
              <a:rPr lang="en-US" noProof="0" dirty="0"/>
              <a:t>The virtual office requires changes in how human beings work and interact and presents technical challenges.</a:t>
            </a:r>
          </a:p>
        </p:txBody>
      </p:sp>
      <p:sp>
        <p:nvSpPr>
          <p:cNvPr id="6" name="Slide Number Placeholder 5">
            <a:extLst>
              <a:ext uri="{FF2B5EF4-FFF2-40B4-BE49-F238E27FC236}">
                <a16:creationId xmlns:a16="http://schemas.microsoft.com/office/drawing/2014/main" id="{509FDC8A-0BC0-47CF-ACC7-563DCC368EC9}"/>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109032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B556-F28B-4161-87E4-BB737E7C228F}"/>
              </a:ext>
            </a:extLst>
          </p:cNvPr>
          <p:cNvSpPr>
            <a:spLocks noGrp="1"/>
          </p:cNvSpPr>
          <p:nvPr>
            <p:ph type="title"/>
          </p:nvPr>
        </p:nvSpPr>
        <p:spPr/>
        <p:txBody>
          <a:bodyPr>
            <a:normAutofit fontScale="90000"/>
          </a:bodyPr>
          <a:lstStyle/>
          <a:p>
            <a:pPr algn="ctr"/>
            <a:r>
              <a:rPr lang="en-US" noProof="0" dirty="0">
                <a:solidFill>
                  <a:srgbClr val="FF0000"/>
                </a:solidFill>
              </a:rPr>
              <a:t>Exhibit 15.2 Differences in Media Richness</a:t>
            </a:r>
          </a:p>
        </p:txBody>
      </p:sp>
      <p:pic>
        <p:nvPicPr>
          <p:cNvPr id="14" name="Picture 13" descr="Up arrow.">
            <a:extLst>
              <a:ext uri="{FF2B5EF4-FFF2-40B4-BE49-F238E27FC236}">
                <a16:creationId xmlns:a16="http://schemas.microsoft.com/office/drawing/2014/main" id="{4EC25F21-8FBB-4A24-B467-3FC0794C5C55}"/>
              </a:ext>
            </a:extLst>
          </p:cNvPr>
          <p:cNvPicPr>
            <a:picLocks noChangeAspect="1"/>
          </p:cNvPicPr>
          <p:nvPr/>
        </p:nvPicPr>
        <p:blipFill>
          <a:blip r:embed="rId3"/>
          <a:stretch>
            <a:fillRect/>
          </a:stretch>
        </p:blipFill>
        <p:spPr>
          <a:xfrm>
            <a:off x="388665" y="1435868"/>
            <a:ext cx="2539380" cy="2257227"/>
          </a:xfrm>
          <a:prstGeom prst="rect">
            <a:avLst/>
          </a:prstGeom>
        </p:spPr>
      </p:pic>
      <p:sp>
        <p:nvSpPr>
          <p:cNvPr id="5" name="Content Placeholder 4">
            <a:extLst>
              <a:ext uri="{FF2B5EF4-FFF2-40B4-BE49-F238E27FC236}">
                <a16:creationId xmlns:a16="http://schemas.microsoft.com/office/drawing/2014/main" id="{C545A752-6ADD-47F7-96E6-21A73FDF5F43}"/>
              </a:ext>
            </a:extLst>
          </p:cNvPr>
          <p:cNvSpPr>
            <a:spLocks noGrp="1"/>
          </p:cNvSpPr>
          <p:nvPr>
            <p:ph sz="quarter" idx="11"/>
          </p:nvPr>
        </p:nvSpPr>
        <p:spPr>
          <a:xfrm>
            <a:off x="4046792" y="1769145"/>
            <a:ext cx="4579620" cy="1253130"/>
          </a:xfrm>
        </p:spPr>
        <p:txBody>
          <a:bodyPr/>
          <a:lstStyle/>
          <a:p>
            <a:r>
              <a:rPr lang="en-US" b="1" noProof="0" dirty="0"/>
              <a:t>More rich</a:t>
            </a:r>
            <a:br>
              <a:rPr lang="en-US" b="1" noProof="0" dirty="0"/>
            </a:br>
            <a:r>
              <a:rPr lang="en-US" noProof="0" dirty="0"/>
              <a:t>Face-to-face conversation, videoconference, and phone call</a:t>
            </a:r>
          </a:p>
        </p:txBody>
      </p:sp>
      <p:pic>
        <p:nvPicPr>
          <p:cNvPr id="16" name="Picture 15" descr="Down arrow.">
            <a:extLst>
              <a:ext uri="{FF2B5EF4-FFF2-40B4-BE49-F238E27FC236}">
                <a16:creationId xmlns:a16="http://schemas.microsoft.com/office/drawing/2014/main" id="{8738BB1B-71C2-4C4F-B4F0-CDEDE6B76B1F}"/>
              </a:ext>
            </a:extLst>
          </p:cNvPr>
          <p:cNvPicPr>
            <a:picLocks noChangeAspect="1"/>
          </p:cNvPicPr>
          <p:nvPr/>
        </p:nvPicPr>
        <p:blipFill>
          <a:blip r:embed="rId4"/>
          <a:stretch>
            <a:fillRect/>
          </a:stretch>
        </p:blipFill>
        <p:spPr>
          <a:xfrm>
            <a:off x="1562100" y="4074298"/>
            <a:ext cx="2377234" cy="2061186"/>
          </a:xfrm>
          <a:prstGeom prst="rect">
            <a:avLst/>
          </a:prstGeom>
        </p:spPr>
      </p:pic>
      <p:sp>
        <p:nvSpPr>
          <p:cNvPr id="7" name="Content Placeholder 6">
            <a:extLst>
              <a:ext uri="{FF2B5EF4-FFF2-40B4-BE49-F238E27FC236}">
                <a16:creationId xmlns:a16="http://schemas.microsoft.com/office/drawing/2014/main" id="{44160BD8-FBA1-4A9A-A038-3F94ECC378A9}"/>
              </a:ext>
            </a:extLst>
          </p:cNvPr>
          <p:cNvSpPr>
            <a:spLocks noGrp="1"/>
          </p:cNvSpPr>
          <p:nvPr>
            <p:ph sz="quarter" idx="14"/>
          </p:nvPr>
        </p:nvSpPr>
        <p:spPr>
          <a:xfrm>
            <a:off x="4351020" y="4363917"/>
            <a:ext cx="3230880" cy="1168766"/>
          </a:xfrm>
        </p:spPr>
        <p:txBody>
          <a:bodyPr/>
          <a:lstStyle/>
          <a:p>
            <a:r>
              <a:rPr lang="en-US" b="1" noProof="0" dirty="0"/>
              <a:t>Less rich </a:t>
            </a:r>
            <a:br>
              <a:rPr lang="en-US" b="1" noProof="0" dirty="0"/>
            </a:br>
            <a:r>
              <a:rPr lang="en-US" noProof="0" dirty="0"/>
              <a:t>Email, text, blog post, and memo</a:t>
            </a:r>
          </a:p>
        </p:txBody>
      </p:sp>
      <p:sp>
        <p:nvSpPr>
          <p:cNvPr id="6" name="Slide Number Placeholder 5">
            <a:extLst>
              <a:ext uri="{FF2B5EF4-FFF2-40B4-BE49-F238E27FC236}">
                <a16:creationId xmlns:a16="http://schemas.microsoft.com/office/drawing/2014/main" id="{65506C3F-6B83-4E50-B527-E588A3DEEB39}"/>
              </a:ext>
            </a:extLst>
          </p:cNvPr>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3445271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ACD4-295E-4189-8BBD-D9B7844F0CFE}"/>
              </a:ext>
            </a:extLst>
          </p:cNvPr>
          <p:cNvSpPr>
            <a:spLocks noGrp="1"/>
          </p:cNvSpPr>
          <p:nvPr>
            <p:ph type="title"/>
          </p:nvPr>
        </p:nvSpPr>
        <p:spPr/>
        <p:txBody>
          <a:bodyPr>
            <a:normAutofit fontScale="90000"/>
          </a:bodyPr>
          <a:lstStyle/>
          <a:p>
            <a:pPr algn="ctr"/>
            <a:r>
              <a:rPr lang="en-US" noProof="0" dirty="0">
                <a:solidFill>
                  <a:srgbClr val="FF0000"/>
                </a:solidFill>
              </a:rPr>
              <a:t>Management in Action Communicating, SoundCloud Style</a:t>
            </a:r>
          </a:p>
        </p:txBody>
      </p:sp>
      <p:sp>
        <p:nvSpPr>
          <p:cNvPr id="3" name="Content Placeholder 2">
            <a:extLst>
              <a:ext uri="{FF2B5EF4-FFF2-40B4-BE49-F238E27FC236}">
                <a16:creationId xmlns:a16="http://schemas.microsoft.com/office/drawing/2014/main" id="{E1BB056E-FE4F-4D75-9B45-952B35561C7B}"/>
              </a:ext>
            </a:extLst>
          </p:cNvPr>
          <p:cNvSpPr>
            <a:spLocks noGrp="1"/>
          </p:cNvSpPr>
          <p:nvPr>
            <p:ph sz="quarter" idx="11"/>
          </p:nvPr>
        </p:nvSpPr>
        <p:spPr>
          <a:xfrm>
            <a:off x="342900" y="1276709"/>
            <a:ext cx="8458200" cy="917851"/>
          </a:xfrm>
        </p:spPr>
        <p:txBody>
          <a:bodyPr/>
          <a:lstStyle/>
          <a:p>
            <a:r>
              <a:rPr lang="en-US" noProof="0" dirty="0"/>
              <a:t>SoundCloud has grown to be the largest music and audio platform, but this growth came with significant growing pains:</a:t>
            </a:r>
          </a:p>
        </p:txBody>
      </p:sp>
      <p:sp>
        <p:nvSpPr>
          <p:cNvPr id="4" name="Content Placeholder 3">
            <a:extLst>
              <a:ext uri="{FF2B5EF4-FFF2-40B4-BE49-F238E27FC236}">
                <a16:creationId xmlns:a16="http://schemas.microsoft.com/office/drawing/2014/main" id="{C90437E9-A322-40E7-91E4-3CE9A233B126}"/>
              </a:ext>
            </a:extLst>
          </p:cNvPr>
          <p:cNvSpPr>
            <a:spLocks noGrp="1"/>
          </p:cNvSpPr>
          <p:nvPr>
            <p:ph sz="quarter" idx="14"/>
          </p:nvPr>
        </p:nvSpPr>
        <p:spPr>
          <a:xfrm>
            <a:off x="1956618" y="2674373"/>
            <a:ext cx="6844481" cy="3529781"/>
          </a:xfrm>
        </p:spPr>
        <p:txBody>
          <a:bodyPr/>
          <a:lstStyle/>
          <a:p>
            <a:pPr lvl="1"/>
            <a:r>
              <a:rPr lang="en-US" noProof="0" dirty="0"/>
              <a:t>What is your intuitive assessment analysis of the cost/benefit ratio for SoundCloud's multiple different communication channels?</a:t>
            </a:r>
          </a:p>
          <a:p>
            <a:pPr lvl="1"/>
            <a:endParaRPr lang="en-US" noProof="0" dirty="0"/>
          </a:p>
          <a:p>
            <a:pPr lvl="1"/>
            <a:r>
              <a:rPr lang="en-US" noProof="0" dirty="0"/>
              <a:t>What communication content is missing? What would you most want to make sure the company isn't overlooking or neglecting?</a:t>
            </a:r>
          </a:p>
        </p:txBody>
      </p:sp>
      <p:sp>
        <p:nvSpPr>
          <p:cNvPr id="7" name="Slide Number Placeholder 6">
            <a:extLst>
              <a:ext uri="{FF2B5EF4-FFF2-40B4-BE49-F238E27FC236}">
                <a16:creationId xmlns:a16="http://schemas.microsoft.com/office/drawing/2014/main" id="{2D699DFC-AF96-4855-9657-57A60562989F}"/>
              </a:ext>
            </a:extLst>
          </p:cNvPr>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3416925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1CF0B-1565-464C-A414-3DE77BC93E99}"/>
              </a:ext>
            </a:extLst>
          </p:cNvPr>
          <p:cNvSpPr>
            <a:spLocks noGrp="1"/>
          </p:cNvSpPr>
          <p:nvPr>
            <p:ph type="title"/>
          </p:nvPr>
        </p:nvSpPr>
        <p:spPr>
          <a:xfrm>
            <a:off x="342900" y="199040"/>
            <a:ext cx="8458200" cy="821119"/>
          </a:xfrm>
        </p:spPr>
        <p:txBody>
          <a:bodyPr/>
          <a:lstStyle/>
          <a:p>
            <a:pPr algn="ctr"/>
            <a:r>
              <a:rPr lang="en-US" noProof="0" dirty="0">
                <a:solidFill>
                  <a:srgbClr val="FF0000"/>
                </a:solidFill>
              </a:rPr>
              <a:t>Writing Skills</a:t>
            </a:r>
          </a:p>
        </p:txBody>
      </p:sp>
      <p:sp>
        <p:nvSpPr>
          <p:cNvPr id="3" name="Content Placeholder 2">
            <a:extLst>
              <a:ext uri="{FF2B5EF4-FFF2-40B4-BE49-F238E27FC236}">
                <a16:creationId xmlns:a16="http://schemas.microsoft.com/office/drawing/2014/main" id="{42185AC0-BDE4-4A2C-8683-7639316B9F48}"/>
              </a:ext>
            </a:extLst>
          </p:cNvPr>
          <p:cNvSpPr>
            <a:spLocks noGrp="1"/>
          </p:cNvSpPr>
          <p:nvPr>
            <p:ph sz="quarter" idx="11"/>
          </p:nvPr>
        </p:nvSpPr>
        <p:spPr/>
        <p:txBody>
          <a:bodyPr/>
          <a:lstStyle/>
          <a:p>
            <a:r>
              <a:rPr lang="en-US" noProof="0" dirty="0"/>
              <a:t>Requires clear, logical thinking</a:t>
            </a:r>
          </a:p>
          <a:p>
            <a:r>
              <a:rPr lang="en-US" noProof="0" dirty="0"/>
              <a:t>Strive for clarity, organization, readability, brevity</a:t>
            </a:r>
          </a:p>
          <a:p>
            <a:r>
              <a:rPr lang="en-US" noProof="0" dirty="0"/>
              <a:t>Email:</a:t>
            </a:r>
          </a:p>
          <a:p>
            <a:pPr lvl="5"/>
            <a:r>
              <a:rPr lang="en-US" sz="2800" noProof="0" dirty="0">
                <a:solidFill>
                  <a:srgbClr val="FF0000"/>
                </a:solidFill>
              </a:rPr>
              <a:t>Specific subject lines.</a:t>
            </a:r>
          </a:p>
          <a:p>
            <a:pPr lvl="5"/>
            <a:endParaRPr lang="en-US" sz="2800" noProof="0" dirty="0">
              <a:solidFill>
                <a:srgbClr val="FF0000"/>
              </a:solidFill>
            </a:endParaRPr>
          </a:p>
          <a:p>
            <a:pPr lvl="5"/>
            <a:r>
              <a:rPr lang="en-US" sz="2800" noProof="0" dirty="0">
                <a:solidFill>
                  <a:srgbClr val="FF0000"/>
                </a:solidFill>
              </a:rPr>
              <a:t>Put main point at beginning of message.</a:t>
            </a:r>
          </a:p>
          <a:p>
            <a:pPr lvl="5"/>
            <a:endParaRPr lang="en-US" sz="2800" noProof="0" dirty="0">
              <a:solidFill>
                <a:srgbClr val="FF0000"/>
              </a:solidFill>
            </a:endParaRPr>
          </a:p>
          <a:p>
            <a:pPr lvl="5"/>
            <a:r>
              <a:rPr lang="en-US" sz="2800" noProof="0" dirty="0">
                <a:solidFill>
                  <a:srgbClr val="FF0000"/>
                </a:solidFill>
              </a:rPr>
              <a:t>Limit paragraph length.</a:t>
            </a:r>
          </a:p>
          <a:p>
            <a:pPr lvl="5"/>
            <a:endParaRPr lang="en-US" sz="2800" noProof="0" dirty="0">
              <a:solidFill>
                <a:srgbClr val="FF0000"/>
              </a:solidFill>
            </a:endParaRPr>
          </a:p>
          <a:p>
            <a:pPr lvl="5"/>
            <a:r>
              <a:rPr lang="en-US" sz="2800" noProof="0" dirty="0">
                <a:solidFill>
                  <a:srgbClr val="FF0000"/>
                </a:solidFill>
              </a:rPr>
              <a:t>Avoid sarcasm or caustic humor.</a:t>
            </a:r>
          </a:p>
        </p:txBody>
      </p:sp>
      <p:sp>
        <p:nvSpPr>
          <p:cNvPr id="6" name="Slide Number Placeholder 5">
            <a:extLst>
              <a:ext uri="{FF2B5EF4-FFF2-40B4-BE49-F238E27FC236}">
                <a16:creationId xmlns:a16="http://schemas.microsoft.com/office/drawing/2014/main" id="{F840481B-6BEA-4627-A13B-CE36274D8558}"/>
              </a:ext>
            </a:extLst>
          </p:cNvPr>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987444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BE4BB-8D39-4BC0-9CA2-65A584A7F8C1}"/>
              </a:ext>
            </a:extLst>
          </p:cNvPr>
          <p:cNvSpPr>
            <a:spLocks noGrp="1"/>
          </p:cNvSpPr>
          <p:nvPr>
            <p:ph type="title"/>
          </p:nvPr>
        </p:nvSpPr>
        <p:spPr/>
        <p:txBody>
          <a:bodyPr/>
          <a:lstStyle/>
          <a:p>
            <a:pPr algn="ctr"/>
            <a:r>
              <a:rPr lang="en-US" noProof="0" dirty="0">
                <a:solidFill>
                  <a:srgbClr val="FF0000"/>
                </a:solidFill>
              </a:rPr>
              <a:t>Language Skills</a:t>
            </a:r>
          </a:p>
        </p:txBody>
      </p:sp>
      <p:sp>
        <p:nvSpPr>
          <p:cNvPr id="3" name="Content Placeholder 2">
            <a:extLst>
              <a:ext uri="{FF2B5EF4-FFF2-40B4-BE49-F238E27FC236}">
                <a16:creationId xmlns:a16="http://schemas.microsoft.com/office/drawing/2014/main" id="{5EC13DF2-2941-447C-AC8D-F173C8B3903F}"/>
              </a:ext>
            </a:extLst>
          </p:cNvPr>
          <p:cNvSpPr>
            <a:spLocks noGrp="1"/>
          </p:cNvSpPr>
          <p:nvPr>
            <p:ph sz="quarter" idx="11"/>
          </p:nvPr>
        </p:nvSpPr>
        <p:spPr>
          <a:xfrm>
            <a:off x="342900" y="1936955"/>
            <a:ext cx="8458200" cy="4311445"/>
          </a:xfrm>
        </p:spPr>
        <p:txBody>
          <a:bodyPr/>
          <a:lstStyle/>
          <a:p>
            <a:r>
              <a:rPr lang="en-US" noProof="0" dirty="0"/>
              <a:t>Things to consider:</a:t>
            </a:r>
          </a:p>
          <a:p>
            <a:pPr lvl="5"/>
            <a:r>
              <a:rPr lang="en-US" sz="2400" noProof="0" dirty="0">
                <a:solidFill>
                  <a:srgbClr val="FF0000"/>
                </a:solidFill>
              </a:rPr>
              <a:t>Word choice, such as avoiding jargon.</a:t>
            </a:r>
          </a:p>
          <a:p>
            <a:pPr lvl="5"/>
            <a:endParaRPr lang="en-US" sz="2400" noProof="0" dirty="0">
              <a:solidFill>
                <a:srgbClr val="FF0000"/>
              </a:solidFill>
            </a:endParaRPr>
          </a:p>
          <a:p>
            <a:pPr lvl="5"/>
            <a:r>
              <a:rPr lang="en-US" sz="2400" noProof="0" dirty="0">
                <a:solidFill>
                  <a:srgbClr val="FF0000"/>
                </a:solidFill>
              </a:rPr>
              <a:t>Receiver’s cultural and technical background.</a:t>
            </a:r>
          </a:p>
          <a:p>
            <a:pPr lvl="5"/>
            <a:endParaRPr lang="en-US" sz="2400" noProof="0" dirty="0">
              <a:solidFill>
                <a:srgbClr val="FF0000"/>
              </a:solidFill>
            </a:endParaRPr>
          </a:p>
          <a:p>
            <a:pPr lvl="5"/>
            <a:r>
              <a:rPr lang="en-US" sz="2400" noProof="0" dirty="0">
                <a:solidFill>
                  <a:srgbClr val="FF0000"/>
                </a:solidFill>
              </a:rPr>
              <a:t>Meaning of chosen words.</a:t>
            </a:r>
          </a:p>
          <a:p>
            <a:pPr lvl="5"/>
            <a:endParaRPr lang="en-US" sz="2400" noProof="0" dirty="0">
              <a:solidFill>
                <a:srgbClr val="FF0000"/>
              </a:solidFill>
            </a:endParaRPr>
          </a:p>
          <a:p>
            <a:pPr lvl="5"/>
            <a:r>
              <a:rPr lang="en-US" sz="2400" noProof="0" dirty="0">
                <a:solidFill>
                  <a:srgbClr val="FF0000"/>
                </a:solidFill>
              </a:rPr>
              <a:t>Learn host country’s language and customs.</a:t>
            </a:r>
          </a:p>
        </p:txBody>
      </p:sp>
      <p:sp>
        <p:nvSpPr>
          <p:cNvPr id="6" name="Slide Number Placeholder 5">
            <a:extLst>
              <a:ext uri="{FF2B5EF4-FFF2-40B4-BE49-F238E27FC236}">
                <a16:creationId xmlns:a16="http://schemas.microsoft.com/office/drawing/2014/main" id="{D0D320C8-44D0-4B2A-AC17-9DE83F51BA01}"/>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4192905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DA6E7-8D94-430D-A35A-0CF793384631}"/>
              </a:ext>
            </a:extLst>
          </p:cNvPr>
          <p:cNvSpPr>
            <a:spLocks noGrp="1"/>
          </p:cNvSpPr>
          <p:nvPr>
            <p:ph type="title"/>
          </p:nvPr>
        </p:nvSpPr>
        <p:spPr/>
        <p:txBody>
          <a:bodyPr/>
          <a:lstStyle/>
          <a:p>
            <a:pPr algn="ctr"/>
            <a:r>
              <a:rPr lang="en-US" noProof="0" dirty="0">
                <a:solidFill>
                  <a:srgbClr val="FF0000"/>
                </a:solidFill>
              </a:rPr>
              <a:t>Nonverbal Skills</a:t>
            </a:r>
          </a:p>
        </p:txBody>
      </p:sp>
      <p:sp>
        <p:nvSpPr>
          <p:cNvPr id="3" name="Content Placeholder 2">
            <a:extLst>
              <a:ext uri="{FF2B5EF4-FFF2-40B4-BE49-F238E27FC236}">
                <a16:creationId xmlns:a16="http://schemas.microsoft.com/office/drawing/2014/main" id="{5F442393-6CEF-49E1-99DE-05898C0A4197}"/>
              </a:ext>
            </a:extLst>
          </p:cNvPr>
          <p:cNvSpPr>
            <a:spLocks noGrp="1"/>
          </p:cNvSpPr>
          <p:nvPr>
            <p:ph sz="quarter" idx="11"/>
          </p:nvPr>
        </p:nvSpPr>
        <p:spPr>
          <a:xfrm>
            <a:off x="2369574" y="2230250"/>
            <a:ext cx="6431526" cy="4018150"/>
          </a:xfrm>
        </p:spPr>
        <p:txBody>
          <a:bodyPr/>
          <a:lstStyle/>
          <a:p>
            <a:pPr marL="402336" indent="-402336">
              <a:buFont typeface="+mj-lt"/>
              <a:buAutoNum type="arabicPeriod"/>
            </a:pPr>
            <a:r>
              <a:rPr lang="en-US" noProof="0" dirty="0"/>
              <a:t>Use time appropriately.</a:t>
            </a:r>
          </a:p>
          <a:p>
            <a:pPr marL="402336" indent="-402336">
              <a:buFont typeface="+mj-lt"/>
              <a:buAutoNum type="arabicPeriod"/>
            </a:pPr>
            <a:endParaRPr lang="en-US" noProof="0" dirty="0"/>
          </a:p>
          <a:p>
            <a:pPr marL="402336" indent="-402336">
              <a:buFont typeface="+mj-lt"/>
              <a:buAutoNum type="arabicPeriod"/>
            </a:pPr>
            <a:r>
              <a:rPr lang="en-US" noProof="0" dirty="0"/>
              <a:t>Make your office arrangement conducive to open communication.</a:t>
            </a:r>
          </a:p>
          <a:p>
            <a:pPr marL="402336" indent="-402336">
              <a:buFont typeface="+mj-lt"/>
              <a:buAutoNum type="arabicPeriod"/>
            </a:pPr>
            <a:endParaRPr lang="en-US" noProof="0" dirty="0"/>
          </a:p>
          <a:p>
            <a:pPr marL="402336" indent="-402336">
              <a:buFont typeface="+mj-lt"/>
              <a:buAutoNum type="arabicPeriod"/>
            </a:pPr>
            <a:r>
              <a:rPr lang="en-US" noProof="0" dirty="0"/>
              <a:t>Remember your body language.</a:t>
            </a:r>
          </a:p>
        </p:txBody>
      </p:sp>
      <p:sp>
        <p:nvSpPr>
          <p:cNvPr id="6" name="Slide Number Placeholder 5">
            <a:extLst>
              <a:ext uri="{FF2B5EF4-FFF2-40B4-BE49-F238E27FC236}">
                <a16:creationId xmlns:a16="http://schemas.microsoft.com/office/drawing/2014/main" id="{F33D4FA0-CAF1-4436-AE9A-FF5A9E607D5D}"/>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986081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95247-FFC7-4381-A2B3-20CB5BCABA84}"/>
              </a:ext>
            </a:extLst>
          </p:cNvPr>
          <p:cNvSpPr>
            <a:spLocks noGrp="1"/>
          </p:cNvSpPr>
          <p:nvPr>
            <p:ph type="title"/>
          </p:nvPr>
        </p:nvSpPr>
        <p:spPr/>
        <p:txBody>
          <a:bodyPr>
            <a:normAutofit fontScale="90000"/>
          </a:bodyPr>
          <a:lstStyle/>
          <a:p>
            <a:pPr algn="ctr"/>
            <a:r>
              <a:rPr lang="en-US" noProof="0" dirty="0">
                <a:solidFill>
                  <a:srgbClr val="FF0000"/>
                </a:solidFill>
              </a:rPr>
              <a:t>SPOTLIGHT ON… </a:t>
            </a:r>
            <a:br>
              <a:rPr lang="en-US" noProof="0" dirty="0">
                <a:solidFill>
                  <a:srgbClr val="FF0000"/>
                </a:solidFill>
              </a:rPr>
            </a:br>
            <a:r>
              <a:rPr lang="en-US" noProof="0" dirty="0">
                <a:solidFill>
                  <a:srgbClr val="FF0000"/>
                </a:solidFill>
              </a:rPr>
              <a:t>Communicating to Create Change</a:t>
            </a:r>
          </a:p>
        </p:txBody>
      </p:sp>
      <p:sp>
        <p:nvSpPr>
          <p:cNvPr id="3" name="Content Placeholder 2">
            <a:extLst>
              <a:ext uri="{FF2B5EF4-FFF2-40B4-BE49-F238E27FC236}">
                <a16:creationId xmlns:a16="http://schemas.microsoft.com/office/drawing/2014/main" id="{E399E22F-D9BE-4520-A1E3-F0923B1EC2EB}"/>
              </a:ext>
            </a:extLst>
          </p:cNvPr>
          <p:cNvSpPr>
            <a:spLocks noGrp="1"/>
          </p:cNvSpPr>
          <p:nvPr>
            <p:ph sz="quarter" idx="11"/>
          </p:nvPr>
        </p:nvSpPr>
        <p:spPr>
          <a:xfrm>
            <a:off x="342900" y="1276710"/>
            <a:ext cx="8458200" cy="1908450"/>
          </a:xfrm>
        </p:spPr>
        <p:txBody>
          <a:bodyPr/>
          <a:lstStyle/>
          <a:p>
            <a:r>
              <a:rPr lang="en-US" sz="2200" noProof="0" dirty="0"/>
              <a:t>Entrepreneurs use story telling when making pitches.</a:t>
            </a:r>
          </a:p>
          <a:p>
            <a:pPr lvl="1"/>
            <a:r>
              <a:rPr lang="en-US" sz="2200" noProof="0" dirty="0"/>
              <a:t>Compelling stories improve on </a:t>
            </a:r>
            <a:r>
              <a:rPr lang="en-US" sz="2200" b="1" noProof="0" dirty="0">
                <a:solidFill>
                  <a:srgbClr val="FF0000"/>
                </a:solidFill>
              </a:rPr>
              <a:t>facts, analyses, and data by personalizing the experience </a:t>
            </a:r>
            <a:r>
              <a:rPr lang="en-US" sz="2200" noProof="0" dirty="0"/>
              <a:t>for both speaker and audience, making entrepreneurs more relatable and their visions more vivid and impactful.</a:t>
            </a:r>
          </a:p>
        </p:txBody>
      </p:sp>
      <p:sp>
        <p:nvSpPr>
          <p:cNvPr id="4" name="Content Placeholder 3">
            <a:extLst>
              <a:ext uri="{FF2B5EF4-FFF2-40B4-BE49-F238E27FC236}">
                <a16:creationId xmlns:a16="http://schemas.microsoft.com/office/drawing/2014/main" id="{50E1C676-C2C6-45F5-96AD-01FB54194EC4}"/>
              </a:ext>
            </a:extLst>
          </p:cNvPr>
          <p:cNvSpPr>
            <a:spLocks noGrp="1"/>
          </p:cNvSpPr>
          <p:nvPr>
            <p:ph sz="quarter" idx="14"/>
          </p:nvPr>
        </p:nvSpPr>
        <p:spPr>
          <a:xfrm>
            <a:off x="342900" y="3283112"/>
            <a:ext cx="8458200" cy="1149987"/>
          </a:xfrm>
        </p:spPr>
        <p:txBody>
          <a:bodyPr/>
          <a:lstStyle/>
          <a:p>
            <a:r>
              <a:rPr lang="en-US" sz="2200" noProof="0" dirty="0"/>
              <a:t>Stories of success also help inform stakeholders about the work of the organization, build its commitment and advocacy, spread the word about the organization’s impact, and help secure funding.</a:t>
            </a:r>
          </a:p>
        </p:txBody>
      </p:sp>
      <p:sp>
        <p:nvSpPr>
          <p:cNvPr id="5" name="Content Placeholder 4">
            <a:extLst>
              <a:ext uri="{FF2B5EF4-FFF2-40B4-BE49-F238E27FC236}">
                <a16:creationId xmlns:a16="http://schemas.microsoft.com/office/drawing/2014/main" id="{D2AEEEB3-B3C1-4CC3-A935-A54DD05F0519}"/>
              </a:ext>
            </a:extLst>
          </p:cNvPr>
          <p:cNvSpPr>
            <a:spLocks noGrp="1"/>
          </p:cNvSpPr>
          <p:nvPr>
            <p:ph sz="quarter" idx="15"/>
          </p:nvPr>
        </p:nvSpPr>
        <p:spPr>
          <a:xfrm>
            <a:off x="342900" y="4490757"/>
            <a:ext cx="8458200" cy="1882595"/>
          </a:xfrm>
        </p:spPr>
        <p:txBody>
          <a:bodyPr/>
          <a:lstStyle/>
          <a:p>
            <a:pPr marL="457200" indent="-457200">
              <a:buFont typeface="+mj-lt"/>
              <a:buAutoNum type="arabicPeriod"/>
            </a:pPr>
            <a:r>
              <a:rPr lang="en-US" sz="2200" noProof="0" dirty="0"/>
              <a:t>How can stories offer a more powerful communication tool than a presentation of data and facts? What examples come to mind?</a:t>
            </a:r>
          </a:p>
          <a:p>
            <a:pPr marL="457200" indent="-457200">
              <a:buFont typeface="+mj-lt"/>
              <a:buAutoNum type="arabicPeriod"/>
            </a:pPr>
            <a:r>
              <a:rPr lang="en-US" sz="2200" noProof="0" dirty="0"/>
              <a:t>What does a social enterprise need to know about its audience to communicate stories of the organization’s success?</a:t>
            </a:r>
          </a:p>
        </p:txBody>
      </p:sp>
      <p:sp>
        <p:nvSpPr>
          <p:cNvPr id="11" name="Slide Number Placeholder 10">
            <a:extLst>
              <a:ext uri="{FF2B5EF4-FFF2-40B4-BE49-F238E27FC236}">
                <a16:creationId xmlns:a16="http://schemas.microsoft.com/office/drawing/2014/main" id="{CA4D326B-2AE8-4444-9F81-C3AF5CC23404}"/>
              </a:ext>
            </a:extLst>
          </p:cNvPr>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4101260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FD30-0D42-4EF8-8C46-FF8870BEC47B}"/>
              </a:ext>
            </a:extLst>
          </p:cNvPr>
          <p:cNvSpPr>
            <a:spLocks noGrp="1"/>
          </p:cNvSpPr>
          <p:nvPr>
            <p:ph type="title"/>
          </p:nvPr>
        </p:nvSpPr>
        <p:spPr/>
        <p:txBody>
          <a:bodyPr/>
          <a:lstStyle/>
          <a:p>
            <a:pPr algn="ctr"/>
            <a:r>
              <a:rPr lang="en-US" noProof="0" dirty="0">
                <a:solidFill>
                  <a:srgbClr val="FF0000"/>
                </a:solidFill>
              </a:rPr>
              <a:t>Listening</a:t>
            </a:r>
          </a:p>
        </p:txBody>
      </p:sp>
      <p:sp>
        <p:nvSpPr>
          <p:cNvPr id="3" name="Content Placeholder 2">
            <a:extLst>
              <a:ext uri="{FF2B5EF4-FFF2-40B4-BE49-F238E27FC236}">
                <a16:creationId xmlns:a16="http://schemas.microsoft.com/office/drawing/2014/main" id="{1200A77C-2DD4-47FA-B501-0DA719CC7369}"/>
              </a:ext>
            </a:extLst>
          </p:cNvPr>
          <p:cNvSpPr>
            <a:spLocks noGrp="1"/>
          </p:cNvSpPr>
          <p:nvPr>
            <p:ph sz="quarter" idx="11"/>
          </p:nvPr>
        </p:nvSpPr>
        <p:spPr>
          <a:xfrm>
            <a:off x="342900" y="2340077"/>
            <a:ext cx="8458200" cy="3908323"/>
          </a:xfrm>
        </p:spPr>
        <p:txBody>
          <a:bodyPr/>
          <a:lstStyle/>
          <a:p>
            <a:r>
              <a:rPr lang="en-US" noProof="0" dirty="0"/>
              <a:t>Reflection:</a:t>
            </a:r>
          </a:p>
          <a:p>
            <a:pPr lvl="1"/>
            <a:r>
              <a:rPr lang="en-US" noProof="0" dirty="0"/>
              <a:t>Process by which a person states what he or she believes the other person says or means.</a:t>
            </a:r>
          </a:p>
          <a:p>
            <a:pPr lvl="1"/>
            <a:endParaRPr lang="en-US" noProof="0" dirty="0"/>
          </a:p>
          <a:p>
            <a:pPr lvl="1"/>
            <a:r>
              <a:rPr lang="en-US" noProof="0" dirty="0"/>
              <a:t>Places a greater emphasis on listening rather than talking.</a:t>
            </a:r>
          </a:p>
        </p:txBody>
      </p:sp>
      <p:sp>
        <p:nvSpPr>
          <p:cNvPr id="6" name="Slide Number Placeholder 5">
            <a:extLst>
              <a:ext uri="{FF2B5EF4-FFF2-40B4-BE49-F238E27FC236}">
                <a16:creationId xmlns:a16="http://schemas.microsoft.com/office/drawing/2014/main" id="{D0409FEE-3BF1-468B-9A37-1EEB1BB32644}"/>
              </a:ext>
            </a:extLst>
          </p:cNvPr>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3976390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D325-A01C-4696-B820-6E3067DDB2AC}"/>
              </a:ext>
            </a:extLst>
          </p:cNvPr>
          <p:cNvSpPr>
            <a:spLocks noGrp="1"/>
          </p:cNvSpPr>
          <p:nvPr>
            <p:ph type="title"/>
          </p:nvPr>
        </p:nvSpPr>
        <p:spPr>
          <a:xfrm>
            <a:off x="274074" y="281241"/>
            <a:ext cx="8458200" cy="821119"/>
          </a:xfrm>
        </p:spPr>
        <p:txBody>
          <a:bodyPr>
            <a:normAutofit fontScale="90000"/>
          </a:bodyPr>
          <a:lstStyle/>
          <a:p>
            <a:pPr algn="ctr"/>
            <a:r>
              <a:rPr lang="en-US" noProof="0" dirty="0">
                <a:solidFill>
                  <a:srgbClr val="FF0000"/>
                </a:solidFill>
              </a:rPr>
              <a:t>Exhibit 15.3 Ten Keys to Effective Listening</a:t>
            </a:r>
          </a:p>
        </p:txBody>
      </p:sp>
      <p:graphicFrame>
        <p:nvGraphicFramePr>
          <p:cNvPr id="7" name="Table 7">
            <a:extLst>
              <a:ext uri="{FF2B5EF4-FFF2-40B4-BE49-F238E27FC236}">
                <a16:creationId xmlns:a16="http://schemas.microsoft.com/office/drawing/2014/main" id="{24EDC1EA-D856-431D-A68F-20AB92D2D8C1}"/>
              </a:ext>
            </a:extLst>
          </p:cNvPr>
          <p:cNvGraphicFramePr>
            <a:graphicFrameLocks noGrp="1"/>
          </p:cNvGraphicFramePr>
          <p:nvPr>
            <p:extLst>
              <p:ext uri="{D42A27DB-BD31-4B8C-83A1-F6EECF244321}">
                <p14:modId xmlns:p14="http://schemas.microsoft.com/office/powerpoint/2010/main" val="1639940716"/>
              </p:ext>
            </p:extLst>
          </p:nvPr>
        </p:nvGraphicFramePr>
        <p:xfrm>
          <a:off x="1966452" y="1397000"/>
          <a:ext cx="6213986" cy="4358640"/>
        </p:xfrm>
        <a:graphic>
          <a:graphicData uri="http://schemas.openxmlformats.org/drawingml/2006/table">
            <a:tbl>
              <a:tblPr firstRow="1" bandRow="1">
                <a:tableStyleId>{5C22544A-7EE6-4342-B048-85BDC9FD1C3A}</a:tableStyleId>
              </a:tblPr>
              <a:tblGrid>
                <a:gridCol w="6213986">
                  <a:extLst>
                    <a:ext uri="{9D8B030D-6E8A-4147-A177-3AD203B41FA5}">
                      <a16:colId xmlns:a16="http://schemas.microsoft.com/office/drawing/2014/main" val="1645063238"/>
                    </a:ext>
                  </a:extLst>
                </a:gridCol>
              </a:tblGrid>
              <a:tr h="370840">
                <a:tc>
                  <a:txBody>
                    <a:bodyPr/>
                    <a:lstStyle/>
                    <a:p>
                      <a:pPr marL="0" indent="0" algn="l" rtl="0" fontAlgn="ctr">
                        <a:buClr>
                          <a:schemeClr val="tx1"/>
                        </a:buClr>
                        <a:buSzPts val="1800"/>
                        <a:buFont typeface="+mj-lt"/>
                        <a:buNone/>
                      </a:pPr>
                      <a:r>
                        <a:rPr lang="en-US" sz="2000" b="1" i="0" u="none" strike="noStrike" dirty="0">
                          <a:solidFill>
                            <a:schemeClr val="bg2"/>
                          </a:solidFill>
                          <a:effectLst/>
                          <a:latin typeface="+mn-lt"/>
                        </a:rPr>
                        <a:t>Exhibit 15.3 Ten Keys to Effective Listening</a:t>
                      </a:r>
                    </a:p>
                  </a:txBody>
                  <a:tcPr anchor="ctr">
                    <a:solidFill>
                      <a:srgbClr val="C00000"/>
                    </a:solidFill>
                  </a:tcPr>
                </a:tc>
                <a:extLst>
                  <a:ext uri="{0D108BD9-81ED-4DB2-BD59-A6C34878D82A}">
                    <a16:rowId xmlns:a16="http://schemas.microsoft.com/office/drawing/2014/main" val="4151946499"/>
                  </a:ext>
                </a:extLst>
              </a:tr>
              <a:tr h="370840">
                <a:tc>
                  <a:txBody>
                    <a:bodyPr/>
                    <a:lstStyle/>
                    <a:p>
                      <a:pPr marL="514350" indent="-457200" algn="l" rtl="0" fontAlgn="ctr">
                        <a:buClr>
                          <a:schemeClr val="tx1"/>
                        </a:buClr>
                        <a:buSzPts val="1800"/>
                        <a:buFont typeface="+mj-lt"/>
                        <a:buAutoNum type="arabicPeriod"/>
                      </a:pPr>
                      <a:r>
                        <a:rPr lang="en-US" sz="2000" b="0" u="none" strike="noStrike" dirty="0">
                          <a:effectLst/>
                          <a:latin typeface="+mn-lt"/>
                        </a:rPr>
                        <a:t>Find an area of interest.</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959903061"/>
                  </a:ext>
                </a:extLst>
              </a:tr>
              <a:tr h="370840">
                <a:tc>
                  <a:txBody>
                    <a:bodyPr/>
                    <a:lstStyle/>
                    <a:p>
                      <a:pPr marL="514350" indent="-457200" algn="l" rtl="0" fontAlgn="ctr">
                        <a:buClr>
                          <a:schemeClr val="tx1"/>
                        </a:buClr>
                        <a:buSzPts val="1800"/>
                        <a:buFont typeface="+mj-lt"/>
                        <a:buAutoNum type="arabicPeriod" startAt="2"/>
                      </a:pPr>
                      <a:r>
                        <a:rPr lang="en-US" sz="2000" b="0" u="none" strike="noStrike" dirty="0">
                          <a:effectLst/>
                          <a:latin typeface="+mn-lt"/>
                        </a:rPr>
                        <a:t>Judge content, not delivery.</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2596427492"/>
                  </a:ext>
                </a:extLst>
              </a:tr>
              <a:tr h="370840">
                <a:tc>
                  <a:txBody>
                    <a:bodyPr/>
                    <a:lstStyle/>
                    <a:p>
                      <a:pPr marL="514350" indent="-457200" algn="l" rtl="0" fontAlgn="ctr">
                        <a:buClr>
                          <a:schemeClr val="tx1"/>
                        </a:buClr>
                        <a:buSzPts val="1800"/>
                        <a:buFont typeface="+mj-lt"/>
                        <a:buAutoNum type="arabicPeriod" startAt="4"/>
                      </a:pPr>
                      <a:r>
                        <a:rPr lang="en-US" sz="2000" b="0" u="none" strike="noStrike" dirty="0">
                          <a:effectLst/>
                          <a:latin typeface="+mn-lt"/>
                        </a:rPr>
                        <a:t>Hold your fire.</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1127069796"/>
                  </a:ext>
                </a:extLst>
              </a:tr>
              <a:tr h="370840">
                <a:tc>
                  <a:txBody>
                    <a:bodyPr/>
                    <a:lstStyle/>
                    <a:p>
                      <a:pPr marL="457200" indent="-457200" algn="l" rtl="0" fontAlgn="ctr">
                        <a:buClr>
                          <a:schemeClr val="tx1"/>
                        </a:buClr>
                        <a:buSzPts val="1800"/>
                        <a:buFont typeface="+mj-lt"/>
                        <a:buAutoNum type="arabicPeriod" startAt="4"/>
                      </a:pPr>
                      <a:r>
                        <a:rPr lang="en-US" sz="2000" b="0" u="none" strike="noStrike" dirty="0">
                          <a:effectLst/>
                          <a:latin typeface="+mn-lt"/>
                        </a:rPr>
                        <a:t>Listen for ideas.</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2882645442"/>
                  </a:ext>
                </a:extLst>
              </a:tr>
              <a:tr h="370840">
                <a:tc>
                  <a:txBody>
                    <a:bodyPr/>
                    <a:lstStyle/>
                    <a:p>
                      <a:pPr marL="0" indent="-457200" algn="l" rtl="0" fontAlgn="ctr">
                        <a:buClr>
                          <a:schemeClr val="tx1"/>
                        </a:buClr>
                        <a:buSzPts val="1800"/>
                        <a:buFont typeface="+mj-lt"/>
                        <a:buAutoNum type="arabicPeriod" startAt="5"/>
                      </a:pPr>
                      <a:r>
                        <a:rPr lang="en-US" sz="2000" b="0" i="0" u="none" strike="noStrike" dirty="0">
                          <a:solidFill>
                            <a:srgbClr val="000000"/>
                          </a:solidFill>
                          <a:effectLst/>
                          <a:latin typeface="+mn-lt"/>
                        </a:rPr>
                        <a:t>Be flexible.</a:t>
                      </a:r>
                    </a:p>
                  </a:txBody>
                  <a:tcPr anchor="ctr"/>
                </a:tc>
                <a:extLst>
                  <a:ext uri="{0D108BD9-81ED-4DB2-BD59-A6C34878D82A}">
                    <a16:rowId xmlns:a16="http://schemas.microsoft.com/office/drawing/2014/main" val="4018155888"/>
                  </a:ext>
                </a:extLst>
              </a:tr>
              <a:tr h="370840">
                <a:tc>
                  <a:txBody>
                    <a:bodyPr/>
                    <a:lstStyle/>
                    <a:p>
                      <a:pPr marL="457200" indent="-457200" algn="l" rtl="0" fontAlgn="ctr">
                        <a:buClr>
                          <a:schemeClr val="tx1"/>
                        </a:buClr>
                        <a:buSzPts val="1800"/>
                        <a:buFont typeface="+mj-lt"/>
                        <a:buAutoNum type="arabicPeriod" startAt="6"/>
                      </a:pPr>
                      <a:r>
                        <a:rPr lang="en-US" sz="2000" b="0" u="none" strike="noStrike" dirty="0">
                          <a:effectLst/>
                          <a:latin typeface="+mn-lt"/>
                        </a:rPr>
                        <a:t>Resist distraction.</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3801276377"/>
                  </a:ext>
                </a:extLst>
              </a:tr>
              <a:tr h="370840">
                <a:tc>
                  <a:txBody>
                    <a:bodyPr/>
                    <a:lstStyle/>
                    <a:p>
                      <a:pPr marL="457200" indent="-457200" algn="l" rtl="0" fontAlgn="ctr">
                        <a:buClr>
                          <a:schemeClr val="tx1"/>
                        </a:buClr>
                        <a:buSzPts val="1800"/>
                        <a:buFont typeface="+mj-lt"/>
                        <a:buAutoNum type="arabicPeriod" startAt="7"/>
                      </a:pPr>
                      <a:r>
                        <a:rPr lang="en-US" sz="2000" b="0" u="none" strike="noStrike" dirty="0">
                          <a:effectLst/>
                          <a:latin typeface="+mn-lt"/>
                        </a:rPr>
                        <a:t>Exercise your mind.</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1217732238"/>
                  </a:ext>
                </a:extLst>
              </a:tr>
              <a:tr h="370840">
                <a:tc>
                  <a:txBody>
                    <a:bodyPr/>
                    <a:lstStyle/>
                    <a:p>
                      <a:pPr marL="457200" indent="-457200" algn="l" rtl="0" fontAlgn="ctr">
                        <a:buClr>
                          <a:schemeClr val="tx1"/>
                        </a:buClr>
                        <a:buSzPts val="1800"/>
                        <a:buFont typeface="+mj-lt"/>
                        <a:buAutoNum type="arabicPeriod" startAt="8"/>
                      </a:pPr>
                      <a:r>
                        <a:rPr lang="en-US" sz="2000" b="0" u="none" strike="noStrike" dirty="0">
                          <a:effectLst/>
                          <a:latin typeface="+mn-lt"/>
                        </a:rPr>
                        <a:t>Keep your mind open.</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2351958347"/>
                  </a:ext>
                </a:extLst>
              </a:tr>
              <a:tr h="370840">
                <a:tc>
                  <a:txBody>
                    <a:bodyPr/>
                    <a:lstStyle/>
                    <a:p>
                      <a:pPr marL="457200" indent="-457200" algn="l" rtl="0" fontAlgn="ctr">
                        <a:buClr>
                          <a:schemeClr val="tx1"/>
                        </a:buClr>
                        <a:buSzPts val="1800"/>
                        <a:buFont typeface="+mj-lt"/>
                        <a:buAutoNum type="arabicPeriod" startAt="9"/>
                      </a:pPr>
                      <a:r>
                        <a:rPr lang="en-US" sz="2000" b="0" u="none" strike="noStrike" dirty="0">
                          <a:effectLst/>
                          <a:latin typeface="+mn-lt"/>
                        </a:rPr>
                        <a:t>Capitalize on thought speed.</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2099600590"/>
                  </a:ext>
                </a:extLst>
              </a:tr>
              <a:tr h="370840">
                <a:tc>
                  <a:txBody>
                    <a:bodyPr/>
                    <a:lstStyle/>
                    <a:p>
                      <a:pPr marL="457200" indent="-457200" algn="l" rtl="0" fontAlgn="ctr">
                        <a:buClr>
                          <a:schemeClr val="tx1"/>
                        </a:buClr>
                        <a:buSzPts val="1800"/>
                        <a:buFont typeface="+mj-lt"/>
                        <a:buAutoNum type="arabicPeriod" startAt="10"/>
                      </a:pPr>
                      <a:r>
                        <a:rPr lang="en-US" sz="2000" b="0" u="none" strike="noStrike" dirty="0">
                          <a:effectLst/>
                          <a:latin typeface="+mn-lt"/>
                        </a:rPr>
                        <a:t>Work at listening.</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1871523361"/>
                  </a:ext>
                </a:extLst>
              </a:tr>
            </a:tbl>
          </a:graphicData>
        </a:graphic>
      </p:graphicFrame>
      <p:sp>
        <p:nvSpPr>
          <p:cNvPr id="3" name="Content Placeholder 2">
            <a:extLst>
              <a:ext uri="{FF2B5EF4-FFF2-40B4-BE49-F238E27FC236}">
                <a16:creationId xmlns:a16="http://schemas.microsoft.com/office/drawing/2014/main" id="{9E5727ED-66C4-4020-8E5B-26C669318B2F}"/>
              </a:ext>
            </a:extLst>
          </p:cNvPr>
          <p:cNvSpPr>
            <a:spLocks noGrp="1"/>
          </p:cNvSpPr>
          <p:nvPr>
            <p:ph sz="quarter" idx="11"/>
          </p:nvPr>
        </p:nvSpPr>
        <p:spPr>
          <a:xfrm>
            <a:off x="342900" y="5892800"/>
            <a:ext cx="8458200" cy="645160"/>
          </a:xfrm>
        </p:spPr>
        <p:txBody>
          <a:bodyPr/>
          <a:lstStyle/>
          <a:p>
            <a:r>
              <a:rPr lang="en-US" sz="1200" noProof="0" dirty="0"/>
              <a:t>SOURCE: Ralph G. Nichols, “Listening Is a 10-Part Skill,” </a:t>
            </a:r>
            <a:r>
              <a:rPr lang="en-US" sz="1200" i="1" noProof="0" dirty="0"/>
              <a:t>in Readings in Interpersonal and Organizational Communication ed.</a:t>
            </a:r>
            <a:r>
              <a:rPr lang="en-US" sz="1200" noProof="0" dirty="0"/>
              <a:t> R.C. </a:t>
            </a:r>
            <a:r>
              <a:rPr lang="en-US" sz="1200" noProof="0" dirty="0" err="1"/>
              <a:t>Huseman</a:t>
            </a:r>
            <a:r>
              <a:rPr lang="en-US" sz="1200" noProof="0" dirty="0"/>
              <a:t>, C.M. Logue, and D.L. </a:t>
            </a:r>
            <a:r>
              <a:rPr lang="en-US" sz="1200" noProof="0" dirty="0" err="1"/>
              <a:t>Freshley</a:t>
            </a:r>
            <a:r>
              <a:rPr lang="en-US" sz="1200" noProof="0" dirty="0"/>
              <a:t> (Boston: Allyn &amp; Bacon, 19</a:t>
            </a:r>
            <a:r>
              <a:rPr lang="en-US" sz="100" noProof="0" dirty="0"/>
              <a:t> </a:t>
            </a:r>
            <a:r>
              <a:rPr lang="en-US" sz="1200" noProof="0" dirty="0"/>
              <a:t>77).</a:t>
            </a:r>
          </a:p>
        </p:txBody>
      </p:sp>
      <p:sp>
        <p:nvSpPr>
          <p:cNvPr id="6" name="Slide Number Placeholder 5">
            <a:extLst>
              <a:ext uri="{FF2B5EF4-FFF2-40B4-BE49-F238E27FC236}">
                <a16:creationId xmlns:a16="http://schemas.microsoft.com/office/drawing/2014/main" id="{4E2A6CD8-D926-47DB-A5DF-4F66D9D15B9B}"/>
              </a:ext>
            </a:extLst>
          </p:cNvPr>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2183804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4516-5EB2-4775-89CA-24731CF8F81C}"/>
              </a:ext>
            </a:extLst>
          </p:cNvPr>
          <p:cNvSpPr>
            <a:spLocks noGrp="1"/>
          </p:cNvSpPr>
          <p:nvPr>
            <p:ph type="title"/>
          </p:nvPr>
        </p:nvSpPr>
        <p:spPr/>
        <p:txBody>
          <a:bodyPr/>
          <a:lstStyle/>
          <a:p>
            <a:pPr algn="ctr"/>
            <a:r>
              <a:rPr lang="en-US" noProof="0" dirty="0">
                <a:solidFill>
                  <a:srgbClr val="FF0000"/>
                </a:solidFill>
              </a:rPr>
              <a:t>Reading</a:t>
            </a:r>
          </a:p>
        </p:txBody>
      </p:sp>
      <p:sp>
        <p:nvSpPr>
          <p:cNvPr id="3" name="Content Placeholder 2">
            <a:extLst>
              <a:ext uri="{FF2B5EF4-FFF2-40B4-BE49-F238E27FC236}">
                <a16:creationId xmlns:a16="http://schemas.microsoft.com/office/drawing/2014/main" id="{59D42094-C77A-47CD-85CA-696F74D90193}"/>
              </a:ext>
            </a:extLst>
          </p:cNvPr>
          <p:cNvSpPr>
            <a:spLocks noGrp="1"/>
          </p:cNvSpPr>
          <p:nvPr>
            <p:ph sz="quarter" idx="11"/>
          </p:nvPr>
        </p:nvSpPr>
        <p:spPr>
          <a:xfrm>
            <a:off x="342900" y="845575"/>
            <a:ext cx="8458200" cy="5673212"/>
          </a:xfrm>
        </p:spPr>
        <p:txBody>
          <a:bodyPr/>
          <a:lstStyle/>
          <a:p>
            <a:r>
              <a:rPr lang="en-US" noProof="0" dirty="0"/>
              <a:t>Illiteracy is a problem to a degree in the Australia and other countries.</a:t>
            </a:r>
          </a:p>
          <a:p>
            <a:r>
              <a:rPr lang="en-US" noProof="0" dirty="0"/>
              <a:t>Reading mistakes are common and costly.</a:t>
            </a:r>
          </a:p>
          <a:p>
            <a:r>
              <a:rPr lang="en-US" noProof="0" dirty="0"/>
              <a:t>Ways to improve:</a:t>
            </a:r>
          </a:p>
          <a:p>
            <a:pPr lvl="5"/>
            <a:r>
              <a:rPr lang="en-US" sz="2400" noProof="0" dirty="0">
                <a:solidFill>
                  <a:srgbClr val="FF0000"/>
                </a:solidFill>
              </a:rPr>
              <a:t>Read messages as soon as possible.</a:t>
            </a:r>
          </a:p>
          <a:p>
            <a:pPr lvl="5"/>
            <a:endParaRPr lang="en-US" sz="2400" noProof="0" dirty="0">
              <a:solidFill>
                <a:srgbClr val="FF0000"/>
              </a:solidFill>
            </a:endParaRPr>
          </a:p>
          <a:p>
            <a:pPr lvl="5"/>
            <a:r>
              <a:rPr lang="en-US" sz="2400" noProof="0" dirty="0">
                <a:solidFill>
                  <a:srgbClr val="FF0000"/>
                </a:solidFill>
              </a:rPr>
              <a:t>Read important documents and messages slowly and carefully.</a:t>
            </a:r>
          </a:p>
          <a:p>
            <a:pPr lvl="5"/>
            <a:endParaRPr lang="en-US" sz="2400" noProof="0" dirty="0">
              <a:solidFill>
                <a:srgbClr val="FF0000"/>
              </a:solidFill>
            </a:endParaRPr>
          </a:p>
          <a:p>
            <a:pPr lvl="5"/>
            <a:r>
              <a:rPr lang="en-US" sz="2400" noProof="0" dirty="0">
                <a:solidFill>
                  <a:srgbClr val="FF0000"/>
                </a:solidFill>
              </a:rPr>
              <a:t>Note important points for later referral.</a:t>
            </a:r>
          </a:p>
          <a:p>
            <a:pPr lvl="5"/>
            <a:r>
              <a:rPr lang="en-US" sz="2400" noProof="0" dirty="0">
                <a:solidFill>
                  <a:srgbClr val="FF0000"/>
                </a:solidFill>
              </a:rPr>
              <a:t>Consider courses to improve speed and comprehension.</a:t>
            </a:r>
          </a:p>
          <a:p>
            <a:pPr lvl="5"/>
            <a:endParaRPr lang="en-US" sz="2400" noProof="0" dirty="0">
              <a:solidFill>
                <a:srgbClr val="FF0000"/>
              </a:solidFill>
            </a:endParaRPr>
          </a:p>
          <a:p>
            <a:pPr lvl="5"/>
            <a:r>
              <a:rPr lang="en-US" sz="2400" noProof="0" dirty="0">
                <a:solidFill>
                  <a:srgbClr val="FF0000"/>
                </a:solidFill>
              </a:rPr>
              <a:t>Don’t limit your reading.</a:t>
            </a:r>
          </a:p>
        </p:txBody>
      </p:sp>
      <p:sp>
        <p:nvSpPr>
          <p:cNvPr id="6" name="Slide Number Placeholder 5">
            <a:extLst>
              <a:ext uri="{FF2B5EF4-FFF2-40B4-BE49-F238E27FC236}">
                <a16:creationId xmlns:a16="http://schemas.microsoft.com/office/drawing/2014/main" id="{810A814F-F561-46D8-BD37-3A19E7662DF9}"/>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945314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88873-184F-4106-BD04-29F28783788E}"/>
              </a:ext>
            </a:extLst>
          </p:cNvPr>
          <p:cNvSpPr>
            <a:spLocks noGrp="1"/>
          </p:cNvSpPr>
          <p:nvPr>
            <p:ph type="title"/>
          </p:nvPr>
        </p:nvSpPr>
        <p:spPr/>
        <p:txBody>
          <a:bodyPr/>
          <a:lstStyle/>
          <a:p>
            <a:pPr algn="ctr"/>
            <a:r>
              <a:rPr lang="en-US" noProof="0" dirty="0">
                <a:solidFill>
                  <a:srgbClr val="FF0000"/>
                </a:solidFill>
              </a:rPr>
              <a:t>Observing</a:t>
            </a:r>
          </a:p>
        </p:txBody>
      </p:sp>
      <p:sp>
        <p:nvSpPr>
          <p:cNvPr id="3" name="Content Placeholder 2">
            <a:extLst>
              <a:ext uri="{FF2B5EF4-FFF2-40B4-BE49-F238E27FC236}">
                <a16:creationId xmlns:a16="http://schemas.microsoft.com/office/drawing/2014/main" id="{3BD1CA36-E2BA-4AD0-A0B2-56679BB4B4DF}"/>
              </a:ext>
            </a:extLst>
          </p:cNvPr>
          <p:cNvSpPr>
            <a:spLocks noGrp="1"/>
          </p:cNvSpPr>
          <p:nvPr>
            <p:ph sz="quarter" idx="11"/>
          </p:nvPr>
        </p:nvSpPr>
        <p:spPr>
          <a:xfrm>
            <a:off x="342900" y="1592826"/>
            <a:ext cx="8458200" cy="4655574"/>
          </a:xfrm>
        </p:spPr>
        <p:txBody>
          <a:bodyPr/>
          <a:lstStyle/>
          <a:p>
            <a:r>
              <a:rPr lang="en-US" noProof="0" dirty="0"/>
              <a:t>People decode nonverbal signals to determine meaning:</a:t>
            </a:r>
          </a:p>
          <a:p>
            <a:endParaRPr lang="en-US" noProof="0" dirty="0"/>
          </a:p>
          <a:p>
            <a:pPr lvl="1"/>
            <a:r>
              <a:rPr lang="en-US" noProof="0" dirty="0">
                <a:solidFill>
                  <a:srgbClr val="FF0000"/>
                </a:solidFill>
              </a:rPr>
              <a:t>A vital source of useful observations comes from personally visiting people, plants, and other locations to get a firsthand view.</a:t>
            </a:r>
          </a:p>
          <a:p>
            <a:pPr lvl="1"/>
            <a:endParaRPr lang="en-US" noProof="0" dirty="0">
              <a:solidFill>
                <a:srgbClr val="FF0000"/>
              </a:solidFill>
            </a:endParaRPr>
          </a:p>
          <a:p>
            <a:pPr lvl="1"/>
            <a:r>
              <a:rPr lang="en-US" noProof="0" dirty="0">
                <a:solidFill>
                  <a:srgbClr val="FF0000"/>
                </a:solidFill>
              </a:rPr>
              <a:t>You must accurately interpret what you observe.</a:t>
            </a:r>
          </a:p>
        </p:txBody>
      </p:sp>
      <p:sp>
        <p:nvSpPr>
          <p:cNvPr id="6" name="Slide Number Placeholder 5">
            <a:extLst>
              <a:ext uri="{FF2B5EF4-FFF2-40B4-BE49-F238E27FC236}">
                <a16:creationId xmlns:a16="http://schemas.microsoft.com/office/drawing/2014/main" id="{394E92A9-788A-4C95-9CEE-D881E9B233A3}"/>
              </a:ext>
            </a:extLst>
          </p:cNvPr>
          <p:cNvSpPr>
            <a:spLocks noGrp="1"/>
          </p:cNvSpPr>
          <p:nvPr>
            <p:ph type="sldNum" sz="quarter" idx="10"/>
          </p:nvPr>
        </p:nvSpPr>
        <p:spPr/>
        <p:txBody>
          <a:bodyPr/>
          <a:lstStyle/>
          <a:p>
            <a:fld id="{68151E55-6873-49E2-B8D5-2F265E6F1973}" type="slidenum">
              <a:rPr lang="en-US" smtClean="0"/>
              <a:t>21</a:t>
            </a:fld>
            <a:endParaRPr lang="en-US" dirty="0"/>
          </a:p>
        </p:txBody>
      </p:sp>
      <p:pic>
        <p:nvPicPr>
          <p:cNvPr id="5" name="Graphic 4" descr="A toy fox">
            <a:extLst>
              <a:ext uri="{FF2B5EF4-FFF2-40B4-BE49-F238E27FC236}">
                <a16:creationId xmlns:a16="http://schemas.microsoft.com/office/drawing/2014/main" id="{27A63653-CF82-D156-FFB9-9EC9D63E07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8852" y="0"/>
            <a:ext cx="2379408" cy="1641988"/>
          </a:xfrm>
          <a:prstGeom prst="rect">
            <a:avLst/>
          </a:prstGeom>
        </p:spPr>
      </p:pic>
    </p:spTree>
    <p:extLst>
      <p:ext uri="{BB962C8B-B14F-4D97-AF65-F5344CB8AC3E}">
        <p14:creationId xmlns:p14="http://schemas.microsoft.com/office/powerpoint/2010/main" val="808013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6853DF4-403E-4271-9DF1-17FE913AE0CD}"/>
              </a:ext>
            </a:extLst>
          </p:cNvPr>
          <p:cNvSpPr>
            <a:spLocks noGrp="1"/>
          </p:cNvSpPr>
          <p:nvPr>
            <p:ph type="title"/>
          </p:nvPr>
        </p:nvSpPr>
        <p:spPr/>
        <p:txBody>
          <a:bodyPr/>
          <a:lstStyle/>
          <a:p>
            <a:pPr algn="ctr"/>
            <a:r>
              <a:rPr lang="en-US" noProof="0" dirty="0">
                <a:solidFill>
                  <a:srgbClr val="FF0000"/>
                </a:solidFill>
              </a:rPr>
              <a:t>Downward Communication</a:t>
            </a:r>
          </a:p>
        </p:txBody>
      </p:sp>
      <p:sp>
        <p:nvSpPr>
          <p:cNvPr id="9" name="Content Placeholder 8">
            <a:extLst>
              <a:ext uri="{FF2B5EF4-FFF2-40B4-BE49-F238E27FC236}">
                <a16:creationId xmlns:a16="http://schemas.microsoft.com/office/drawing/2014/main" id="{535B5BA4-ADEC-40BD-B9C1-FAB4AFD7DE9A}"/>
              </a:ext>
            </a:extLst>
          </p:cNvPr>
          <p:cNvSpPr>
            <a:spLocks noGrp="1"/>
          </p:cNvSpPr>
          <p:nvPr>
            <p:ph sz="quarter" idx="11"/>
          </p:nvPr>
        </p:nvSpPr>
        <p:spPr>
          <a:xfrm>
            <a:off x="342900" y="1276710"/>
            <a:ext cx="8458200" cy="811170"/>
          </a:xfrm>
        </p:spPr>
        <p:txBody>
          <a:bodyPr/>
          <a:lstStyle/>
          <a:p>
            <a:r>
              <a:rPr lang="en-US" noProof="0" dirty="0"/>
              <a:t>Information that flows from higher to lower levels in the organization’s hierarchy</a:t>
            </a:r>
          </a:p>
        </p:txBody>
      </p:sp>
      <p:sp>
        <p:nvSpPr>
          <p:cNvPr id="11" name="Content Placeholder 10">
            <a:extLst>
              <a:ext uri="{FF2B5EF4-FFF2-40B4-BE49-F238E27FC236}">
                <a16:creationId xmlns:a16="http://schemas.microsoft.com/office/drawing/2014/main" id="{DD712D7B-82B0-4D80-82D0-6C64CDB2BC3C}"/>
              </a:ext>
            </a:extLst>
          </p:cNvPr>
          <p:cNvSpPr>
            <a:spLocks noGrp="1"/>
          </p:cNvSpPr>
          <p:nvPr>
            <p:ph sz="quarter" idx="14"/>
          </p:nvPr>
        </p:nvSpPr>
        <p:spPr>
          <a:xfrm>
            <a:off x="342900" y="2782528"/>
            <a:ext cx="8458200" cy="570271"/>
          </a:xfrm>
        </p:spPr>
        <p:txBody>
          <a:bodyPr/>
          <a:lstStyle/>
          <a:p>
            <a:r>
              <a:rPr lang="en-US" noProof="0" dirty="0"/>
              <a:t>Often a lack of adequate information:</a:t>
            </a:r>
          </a:p>
        </p:txBody>
      </p:sp>
      <p:sp>
        <p:nvSpPr>
          <p:cNvPr id="12" name="Content Placeholder 11">
            <a:extLst>
              <a:ext uri="{FF2B5EF4-FFF2-40B4-BE49-F238E27FC236}">
                <a16:creationId xmlns:a16="http://schemas.microsoft.com/office/drawing/2014/main" id="{7DC32B9C-CAE9-4EEF-BD3D-DEF9EBB116A1}"/>
              </a:ext>
            </a:extLst>
          </p:cNvPr>
          <p:cNvSpPr>
            <a:spLocks noGrp="1"/>
          </p:cNvSpPr>
          <p:nvPr>
            <p:ph sz="quarter" idx="15"/>
          </p:nvPr>
        </p:nvSpPr>
        <p:spPr>
          <a:xfrm>
            <a:off x="2635044" y="3657600"/>
            <a:ext cx="6166055" cy="1982715"/>
          </a:xfrm>
        </p:spPr>
        <p:txBody>
          <a:bodyPr/>
          <a:lstStyle/>
          <a:p>
            <a:pPr marL="402336" indent="-402336">
              <a:buFont typeface="+mj-lt"/>
              <a:buAutoNum type="arabicPeriod"/>
            </a:pPr>
            <a:r>
              <a:rPr lang="en-US" noProof="0" dirty="0"/>
              <a:t>A lack of openness.</a:t>
            </a:r>
          </a:p>
          <a:p>
            <a:pPr marL="402336" indent="-402336">
              <a:buFont typeface="+mj-lt"/>
              <a:buAutoNum type="arabicPeriod"/>
            </a:pPr>
            <a:r>
              <a:rPr lang="en-US" noProof="0" dirty="0"/>
              <a:t>Message distortion.</a:t>
            </a:r>
          </a:p>
        </p:txBody>
      </p:sp>
      <p:sp>
        <p:nvSpPr>
          <p:cNvPr id="7" name="Slide Number Placeholder 6">
            <a:extLst>
              <a:ext uri="{FF2B5EF4-FFF2-40B4-BE49-F238E27FC236}">
                <a16:creationId xmlns:a16="http://schemas.microsoft.com/office/drawing/2014/main" id="{1234EE59-C39D-4288-A6E7-2D4AC25CC227}"/>
              </a:ext>
            </a:extLst>
          </p:cNvPr>
          <p:cNvSpPr>
            <a:spLocks noGrp="1"/>
          </p:cNvSpPr>
          <p:nvPr>
            <p:ph type="sldNum" sz="quarter" idx="10"/>
          </p:nvPr>
        </p:nvSpPr>
        <p:spPr/>
        <p:txBody>
          <a:bodyPr/>
          <a:lstStyle/>
          <a:p>
            <a:fld id="{68151E55-6873-49E2-B8D5-2F265E6F1973}" type="slidenum">
              <a:rPr lang="en-US" smtClean="0"/>
              <a:t>22</a:t>
            </a:fld>
            <a:endParaRPr lang="en-US" dirty="0"/>
          </a:p>
        </p:txBody>
      </p:sp>
      <p:pic>
        <p:nvPicPr>
          <p:cNvPr id="3" name="Picture 2" descr="Cartoon bee with pointer">
            <a:extLst>
              <a:ext uri="{FF2B5EF4-FFF2-40B4-BE49-F238E27FC236}">
                <a16:creationId xmlns:a16="http://schemas.microsoft.com/office/drawing/2014/main" id="{3BB4BABA-9C69-8F07-387A-212C9AF85A3E}"/>
              </a:ext>
            </a:extLst>
          </p:cNvPr>
          <p:cNvPicPr>
            <a:picLocks noChangeAspect="1"/>
          </p:cNvPicPr>
          <p:nvPr/>
        </p:nvPicPr>
        <p:blipFill>
          <a:blip r:embed="rId3"/>
          <a:stretch>
            <a:fillRect/>
          </a:stretch>
        </p:blipFill>
        <p:spPr>
          <a:xfrm flipH="1">
            <a:off x="6891491" y="2087880"/>
            <a:ext cx="1588936" cy="1791928"/>
          </a:xfrm>
          <a:prstGeom prst="rect">
            <a:avLst/>
          </a:prstGeom>
        </p:spPr>
      </p:pic>
    </p:spTree>
    <p:extLst>
      <p:ext uri="{BB962C8B-B14F-4D97-AF65-F5344CB8AC3E}">
        <p14:creationId xmlns:p14="http://schemas.microsoft.com/office/powerpoint/2010/main" val="3625966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B556-F28B-4161-87E4-BB737E7C228F}"/>
              </a:ext>
            </a:extLst>
          </p:cNvPr>
          <p:cNvSpPr>
            <a:spLocks noGrp="1"/>
          </p:cNvSpPr>
          <p:nvPr>
            <p:ph type="title"/>
          </p:nvPr>
        </p:nvSpPr>
        <p:spPr/>
        <p:txBody>
          <a:bodyPr>
            <a:normAutofit fontScale="90000"/>
          </a:bodyPr>
          <a:lstStyle/>
          <a:p>
            <a:r>
              <a:rPr lang="en-US" noProof="0" dirty="0"/>
              <a:t>Exhibit 15.4 Information Loss in Downward Communication</a:t>
            </a:r>
          </a:p>
        </p:txBody>
      </p:sp>
      <p:pic>
        <p:nvPicPr>
          <p:cNvPr id="5" name="Picture 4" descr="A pyramid which demonstrates increasing information loss in downward communication.">
            <a:extLst>
              <a:ext uri="{FF2B5EF4-FFF2-40B4-BE49-F238E27FC236}">
                <a16:creationId xmlns:a16="http://schemas.microsoft.com/office/drawing/2014/main" id="{E00AB21B-DBBD-4602-A0E6-8F1FF63662DA}"/>
              </a:ext>
            </a:extLst>
          </p:cNvPr>
          <p:cNvPicPr>
            <a:picLocks noChangeAspect="1"/>
          </p:cNvPicPr>
          <p:nvPr/>
        </p:nvPicPr>
        <p:blipFill>
          <a:blip r:embed="rId3"/>
          <a:stretch>
            <a:fillRect/>
          </a:stretch>
        </p:blipFill>
        <p:spPr>
          <a:xfrm>
            <a:off x="1376252" y="1407264"/>
            <a:ext cx="6323763" cy="4666615"/>
          </a:xfrm>
          <a:prstGeom prst="rect">
            <a:avLst/>
          </a:prstGeom>
        </p:spPr>
      </p:pic>
      <p:sp>
        <p:nvSpPr>
          <p:cNvPr id="4" name="Text Placeholder 3">
            <a:extLst>
              <a:ext uri="{FF2B5EF4-FFF2-40B4-BE49-F238E27FC236}">
                <a16:creationId xmlns:a16="http://schemas.microsoft.com/office/drawing/2014/main" id="{427E2F42-AAED-4243-9904-F255820DE85E}"/>
              </a:ext>
            </a:extLst>
          </p:cNvPr>
          <p:cNvSpPr>
            <a:spLocks noGrp="1"/>
          </p:cNvSpPr>
          <p:nvPr>
            <p:ph type="body" sz="quarter" idx="14"/>
          </p:nvPr>
        </p:nvSpPr>
        <p:spPr/>
        <p:txBody>
          <a:bodyPr/>
          <a:lstStyle/>
          <a:p>
            <a:r>
              <a:rPr lang="en-US" sz="1200" noProof="0" dirty="0">
                <a:hlinkClick r:id="rId4" action="ppaction://hlinksldjump"/>
              </a:rPr>
              <a:t>Access the text alternative for slide image</a:t>
            </a:r>
          </a:p>
        </p:txBody>
      </p:sp>
      <p:sp>
        <p:nvSpPr>
          <p:cNvPr id="6" name="Slide Number Placeholder 5">
            <a:extLst>
              <a:ext uri="{FF2B5EF4-FFF2-40B4-BE49-F238E27FC236}">
                <a16:creationId xmlns:a16="http://schemas.microsoft.com/office/drawing/2014/main" id="{65506C3F-6B83-4E50-B527-E588A3DEEB39}"/>
              </a:ext>
            </a:extLst>
          </p:cNvPr>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2675191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DF977-FDD0-4DE5-BD4B-E3CC74F4A15A}"/>
              </a:ext>
            </a:extLst>
          </p:cNvPr>
          <p:cNvSpPr>
            <a:spLocks noGrp="1"/>
          </p:cNvSpPr>
          <p:nvPr>
            <p:ph type="title"/>
          </p:nvPr>
        </p:nvSpPr>
        <p:spPr/>
        <p:txBody>
          <a:bodyPr>
            <a:normAutofit fontScale="90000"/>
          </a:bodyPr>
          <a:lstStyle/>
          <a:p>
            <a:pPr algn="ctr"/>
            <a:r>
              <a:rPr lang="en-US" noProof="0" dirty="0">
                <a:solidFill>
                  <a:srgbClr val="FF0000"/>
                </a:solidFill>
              </a:rPr>
              <a:t>Coaching and Open-Book Management</a:t>
            </a:r>
          </a:p>
        </p:txBody>
      </p:sp>
      <p:sp>
        <p:nvSpPr>
          <p:cNvPr id="3" name="Content Placeholder 2">
            <a:extLst>
              <a:ext uri="{FF2B5EF4-FFF2-40B4-BE49-F238E27FC236}">
                <a16:creationId xmlns:a16="http://schemas.microsoft.com/office/drawing/2014/main" id="{5C6902EB-B56D-4B43-AB17-B7285C7EDA5B}"/>
              </a:ext>
            </a:extLst>
          </p:cNvPr>
          <p:cNvSpPr>
            <a:spLocks noGrp="1"/>
          </p:cNvSpPr>
          <p:nvPr>
            <p:ph sz="quarter" idx="11"/>
          </p:nvPr>
        </p:nvSpPr>
        <p:spPr>
          <a:xfrm>
            <a:off x="342900" y="1276709"/>
            <a:ext cx="8458200" cy="1405531"/>
          </a:xfrm>
        </p:spPr>
        <p:txBody>
          <a:bodyPr/>
          <a:lstStyle/>
          <a:p>
            <a:r>
              <a:rPr lang="en-US" b="1" noProof="0" dirty="0"/>
              <a:t>Coaching:</a:t>
            </a:r>
          </a:p>
          <a:p>
            <a:pPr lvl="1"/>
            <a:r>
              <a:rPr lang="en-US" noProof="0" dirty="0"/>
              <a:t>Dialogue with a goal of helping another be more effective and achieve his or her full potential on the job.</a:t>
            </a:r>
          </a:p>
        </p:txBody>
      </p:sp>
      <p:sp>
        <p:nvSpPr>
          <p:cNvPr id="4" name="Content Placeholder 3">
            <a:extLst>
              <a:ext uri="{FF2B5EF4-FFF2-40B4-BE49-F238E27FC236}">
                <a16:creationId xmlns:a16="http://schemas.microsoft.com/office/drawing/2014/main" id="{7D0E5AEF-ACEB-47FF-A340-401DFADAE940}"/>
              </a:ext>
            </a:extLst>
          </p:cNvPr>
          <p:cNvSpPr>
            <a:spLocks noGrp="1"/>
          </p:cNvSpPr>
          <p:nvPr>
            <p:ph sz="quarter" idx="14"/>
          </p:nvPr>
        </p:nvSpPr>
        <p:spPr>
          <a:xfrm>
            <a:off x="342900" y="3755923"/>
            <a:ext cx="8458200" cy="2212258"/>
          </a:xfrm>
        </p:spPr>
        <p:txBody>
          <a:bodyPr/>
          <a:lstStyle/>
          <a:p>
            <a:r>
              <a:rPr lang="en-US" b="1" noProof="0" dirty="0"/>
              <a:t>Open-book management: </a:t>
            </a:r>
          </a:p>
          <a:p>
            <a:pPr lvl="1"/>
            <a:r>
              <a:rPr lang="en-US" noProof="0" dirty="0"/>
              <a:t>Practice of sharing with employees at all levels of the organization vital information previously meant for management’s eyes only.</a:t>
            </a:r>
          </a:p>
        </p:txBody>
      </p:sp>
      <p:sp>
        <p:nvSpPr>
          <p:cNvPr id="7" name="Slide Number Placeholder 6">
            <a:extLst>
              <a:ext uri="{FF2B5EF4-FFF2-40B4-BE49-F238E27FC236}">
                <a16:creationId xmlns:a16="http://schemas.microsoft.com/office/drawing/2014/main" id="{A4E0C363-16D7-4AC7-B521-7481D41BE563}"/>
              </a:ext>
            </a:extLst>
          </p:cNvPr>
          <p:cNvSpPr>
            <a:spLocks noGrp="1"/>
          </p:cNvSpPr>
          <p:nvPr>
            <p:ph type="sldNum" sz="quarter" idx="10"/>
          </p:nvPr>
        </p:nvSpPr>
        <p:spPr/>
        <p:txBody>
          <a:bodyPr/>
          <a:lstStyle/>
          <a:p>
            <a:fld id="{68151E55-6873-49E2-B8D5-2F265E6F1973}" type="slidenum">
              <a:rPr lang="en-US" smtClean="0"/>
              <a:t>24</a:t>
            </a:fld>
            <a:endParaRPr lang="en-US" dirty="0"/>
          </a:p>
        </p:txBody>
      </p:sp>
      <p:pic>
        <p:nvPicPr>
          <p:cNvPr id="6" name="Picture 5" descr="Like Bee">
            <a:extLst>
              <a:ext uri="{FF2B5EF4-FFF2-40B4-BE49-F238E27FC236}">
                <a16:creationId xmlns:a16="http://schemas.microsoft.com/office/drawing/2014/main" id="{42533536-20EC-9914-5019-DECE0EBEF933}"/>
              </a:ext>
            </a:extLst>
          </p:cNvPr>
          <p:cNvPicPr>
            <a:picLocks noChangeAspect="1"/>
          </p:cNvPicPr>
          <p:nvPr/>
        </p:nvPicPr>
        <p:blipFill>
          <a:blip r:embed="rId3"/>
          <a:stretch>
            <a:fillRect/>
          </a:stretch>
        </p:blipFill>
        <p:spPr>
          <a:xfrm>
            <a:off x="6983360" y="2128348"/>
            <a:ext cx="1917291" cy="1917291"/>
          </a:xfrm>
          <a:prstGeom prst="rect">
            <a:avLst/>
          </a:prstGeom>
        </p:spPr>
      </p:pic>
    </p:spTree>
    <p:extLst>
      <p:ext uri="{BB962C8B-B14F-4D97-AF65-F5344CB8AC3E}">
        <p14:creationId xmlns:p14="http://schemas.microsoft.com/office/powerpoint/2010/main" val="931203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BE74-D9D3-4CF4-9FD4-3A5164A74646}"/>
              </a:ext>
            </a:extLst>
          </p:cNvPr>
          <p:cNvSpPr>
            <a:spLocks noGrp="1"/>
          </p:cNvSpPr>
          <p:nvPr>
            <p:ph type="title"/>
          </p:nvPr>
        </p:nvSpPr>
        <p:spPr/>
        <p:txBody>
          <a:bodyPr/>
          <a:lstStyle/>
          <a:p>
            <a:pPr algn="ctr"/>
            <a:r>
              <a:rPr lang="en-US" noProof="0" dirty="0">
                <a:solidFill>
                  <a:srgbClr val="FF0000"/>
                </a:solidFill>
              </a:rPr>
              <a:t>Upward Communication</a:t>
            </a:r>
          </a:p>
        </p:txBody>
      </p:sp>
      <p:sp>
        <p:nvSpPr>
          <p:cNvPr id="3" name="Content Placeholder 2">
            <a:extLst>
              <a:ext uri="{FF2B5EF4-FFF2-40B4-BE49-F238E27FC236}">
                <a16:creationId xmlns:a16="http://schemas.microsoft.com/office/drawing/2014/main" id="{C91C2E4E-2DF6-469D-8665-C96179212EDB}"/>
              </a:ext>
            </a:extLst>
          </p:cNvPr>
          <p:cNvSpPr>
            <a:spLocks noGrp="1"/>
          </p:cNvSpPr>
          <p:nvPr>
            <p:ph sz="quarter" idx="11"/>
          </p:nvPr>
        </p:nvSpPr>
        <p:spPr/>
        <p:txBody>
          <a:bodyPr/>
          <a:lstStyle/>
          <a:p>
            <a:r>
              <a:rPr lang="en-US" noProof="0" dirty="0"/>
              <a:t>Information that flows from lower to higher levels in the organization’s hierarchy:</a:t>
            </a:r>
          </a:p>
          <a:p>
            <a:endParaRPr lang="en-US" noProof="0" dirty="0"/>
          </a:p>
          <a:p>
            <a:pPr lvl="1"/>
            <a:r>
              <a:rPr lang="en-US" noProof="0" dirty="0"/>
              <a:t>The information may be facilitated by techniques such as management by wandering around (M</a:t>
            </a:r>
            <a:r>
              <a:rPr lang="en-US" sz="100" noProof="0" dirty="0"/>
              <a:t> </a:t>
            </a:r>
            <a:r>
              <a:rPr lang="en-US" noProof="0" dirty="0"/>
              <a:t>B</a:t>
            </a:r>
            <a:r>
              <a:rPr lang="en-US" sz="100" noProof="0" dirty="0"/>
              <a:t> </a:t>
            </a:r>
            <a:r>
              <a:rPr lang="en-US" noProof="0" dirty="0"/>
              <a:t>W</a:t>
            </a:r>
            <a:r>
              <a:rPr lang="en-US" sz="100" noProof="0" dirty="0"/>
              <a:t> </a:t>
            </a:r>
            <a:r>
              <a:rPr lang="en-US" noProof="0" dirty="0"/>
              <a:t>A).</a:t>
            </a:r>
          </a:p>
          <a:p>
            <a:pPr lvl="1"/>
            <a:endParaRPr lang="en-US" noProof="0" dirty="0"/>
          </a:p>
          <a:p>
            <a:pPr lvl="1"/>
            <a:r>
              <a:rPr lang="en-US" noProof="0" dirty="0"/>
              <a:t>Management must not hold a grudge if they receive negative information.</a:t>
            </a:r>
          </a:p>
          <a:p>
            <a:pPr lvl="1"/>
            <a:endParaRPr lang="en-US" noProof="0" dirty="0"/>
          </a:p>
          <a:p>
            <a:pPr lvl="1"/>
            <a:r>
              <a:rPr lang="en-US" b="1" noProof="0" dirty="0"/>
              <a:t>Voice</a:t>
            </a:r>
            <a:r>
              <a:rPr lang="en-US" noProof="0" dirty="0"/>
              <a:t>: when people speak up with good intentions about work-related issues, rather than remaining silent.</a:t>
            </a:r>
          </a:p>
        </p:txBody>
      </p:sp>
      <p:sp>
        <p:nvSpPr>
          <p:cNvPr id="6" name="Slide Number Placeholder 5">
            <a:extLst>
              <a:ext uri="{FF2B5EF4-FFF2-40B4-BE49-F238E27FC236}">
                <a16:creationId xmlns:a16="http://schemas.microsoft.com/office/drawing/2014/main" id="{1F44B521-4B9A-4DDE-A167-9BD833878A64}"/>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3697524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24DE9-0A29-4A2F-9077-71E568F82B4F}"/>
              </a:ext>
            </a:extLst>
          </p:cNvPr>
          <p:cNvSpPr>
            <a:spLocks noGrp="1"/>
          </p:cNvSpPr>
          <p:nvPr>
            <p:ph type="title"/>
          </p:nvPr>
        </p:nvSpPr>
        <p:spPr/>
        <p:txBody>
          <a:bodyPr/>
          <a:lstStyle/>
          <a:p>
            <a:pPr algn="ctr"/>
            <a:r>
              <a:rPr lang="en-US" noProof="0" dirty="0">
                <a:solidFill>
                  <a:srgbClr val="FF0000"/>
                </a:solidFill>
              </a:rPr>
              <a:t>Horizontal Communication</a:t>
            </a:r>
          </a:p>
        </p:txBody>
      </p:sp>
      <p:sp>
        <p:nvSpPr>
          <p:cNvPr id="3" name="Content Placeholder 2">
            <a:extLst>
              <a:ext uri="{FF2B5EF4-FFF2-40B4-BE49-F238E27FC236}">
                <a16:creationId xmlns:a16="http://schemas.microsoft.com/office/drawing/2014/main" id="{64794312-A2E3-477F-B795-28AB979972AF}"/>
              </a:ext>
            </a:extLst>
          </p:cNvPr>
          <p:cNvSpPr>
            <a:spLocks noGrp="1"/>
          </p:cNvSpPr>
          <p:nvPr>
            <p:ph sz="quarter" idx="11"/>
          </p:nvPr>
        </p:nvSpPr>
        <p:spPr/>
        <p:txBody>
          <a:bodyPr/>
          <a:lstStyle/>
          <a:p>
            <a:r>
              <a:rPr lang="en-US" noProof="0" dirty="0"/>
              <a:t>Information shared among people on the same hierarchical level:</a:t>
            </a:r>
          </a:p>
          <a:p>
            <a:pPr lvl="1"/>
            <a:r>
              <a:rPr lang="en-US" noProof="0" dirty="0"/>
              <a:t>Allows sharing of information, coordination, and problem solving among units.</a:t>
            </a:r>
          </a:p>
          <a:p>
            <a:pPr lvl="1"/>
            <a:endParaRPr lang="en-US" noProof="0" dirty="0"/>
          </a:p>
          <a:p>
            <a:pPr lvl="1"/>
            <a:r>
              <a:rPr lang="en-US" noProof="0" dirty="0"/>
              <a:t>Helps to solve conflicts.</a:t>
            </a:r>
          </a:p>
          <a:p>
            <a:pPr lvl="1"/>
            <a:endParaRPr lang="en-US" noProof="0" dirty="0"/>
          </a:p>
          <a:p>
            <a:pPr lvl="1"/>
            <a:r>
              <a:rPr lang="en-US" noProof="0" dirty="0"/>
              <a:t>Provides social and emotional support to people.</a:t>
            </a:r>
          </a:p>
        </p:txBody>
      </p:sp>
      <p:sp>
        <p:nvSpPr>
          <p:cNvPr id="6" name="Slide Number Placeholder 5">
            <a:extLst>
              <a:ext uri="{FF2B5EF4-FFF2-40B4-BE49-F238E27FC236}">
                <a16:creationId xmlns:a16="http://schemas.microsoft.com/office/drawing/2014/main" id="{90B25ADE-AB8E-47EA-9595-5F26EB456B5C}"/>
              </a:ext>
            </a:extLst>
          </p:cNvPr>
          <p:cNvSpPr>
            <a:spLocks noGrp="1"/>
          </p:cNvSpPr>
          <p:nvPr>
            <p:ph type="sldNum" sz="quarter" idx="10"/>
          </p:nvPr>
        </p:nvSpPr>
        <p:spPr/>
        <p:txBody>
          <a:bodyPr/>
          <a:lstStyle/>
          <a:p>
            <a:fld id="{68151E55-6873-49E2-B8D5-2F265E6F1973}" type="slidenum">
              <a:rPr lang="en-US" smtClean="0"/>
              <a:t>26</a:t>
            </a:fld>
            <a:endParaRPr lang="en-US" dirty="0"/>
          </a:p>
        </p:txBody>
      </p:sp>
      <p:pic>
        <p:nvPicPr>
          <p:cNvPr id="5" name="Graphic 4" descr="Group success with solid fill">
            <a:extLst>
              <a:ext uri="{FF2B5EF4-FFF2-40B4-BE49-F238E27FC236}">
                <a16:creationId xmlns:a16="http://schemas.microsoft.com/office/drawing/2014/main" id="{3FB6533F-AD3D-CED5-F245-509F63BC97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55277" y="2687893"/>
            <a:ext cx="2571135" cy="1482213"/>
          </a:xfrm>
          <a:prstGeom prst="rect">
            <a:avLst/>
          </a:prstGeom>
        </p:spPr>
      </p:pic>
    </p:spTree>
    <p:extLst>
      <p:ext uri="{BB962C8B-B14F-4D97-AF65-F5344CB8AC3E}">
        <p14:creationId xmlns:p14="http://schemas.microsoft.com/office/powerpoint/2010/main" val="2793083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041AE-057B-4957-BD5F-BB6A4D2947D9}"/>
              </a:ext>
            </a:extLst>
          </p:cNvPr>
          <p:cNvSpPr>
            <a:spLocks noGrp="1"/>
          </p:cNvSpPr>
          <p:nvPr>
            <p:ph type="title"/>
          </p:nvPr>
        </p:nvSpPr>
        <p:spPr/>
        <p:txBody>
          <a:bodyPr/>
          <a:lstStyle/>
          <a:p>
            <a:pPr algn="ctr"/>
            <a:r>
              <a:rPr lang="en-US" noProof="0" dirty="0">
                <a:solidFill>
                  <a:srgbClr val="FF0000"/>
                </a:solidFill>
              </a:rPr>
              <a:t>Informal Communication</a:t>
            </a:r>
          </a:p>
        </p:txBody>
      </p:sp>
      <p:sp>
        <p:nvSpPr>
          <p:cNvPr id="3" name="Content Placeholder 2">
            <a:extLst>
              <a:ext uri="{FF2B5EF4-FFF2-40B4-BE49-F238E27FC236}">
                <a16:creationId xmlns:a16="http://schemas.microsoft.com/office/drawing/2014/main" id="{0556A300-5BF5-41F8-B96D-DFC0FAF9FD33}"/>
              </a:ext>
            </a:extLst>
          </p:cNvPr>
          <p:cNvSpPr>
            <a:spLocks noGrp="1"/>
          </p:cNvSpPr>
          <p:nvPr>
            <p:ph sz="quarter" idx="11"/>
          </p:nvPr>
        </p:nvSpPr>
        <p:spPr>
          <a:xfrm>
            <a:off x="953728" y="1276709"/>
            <a:ext cx="7847371" cy="4971691"/>
          </a:xfrm>
        </p:spPr>
        <p:txBody>
          <a:bodyPr/>
          <a:lstStyle/>
          <a:p>
            <a:r>
              <a:rPr lang="en-US" noProof="0" dirty="0"/>
              <a:t>More unofficial than formal:</a:t>
            </a:r>
          </a:p>
          <a:p>
            <a:endParaRPr lang="en-US" noProof="0" dirty="0"/>
          </a:p>
          <a:p>
            <a:pPr lvl="1"/>
            <a:r>
              <a:rPr lang="en-US" noProof="0" dirty="0"/>
              <a:t>Provides people with information.</a:t>
            </a:r>
          </a:p>
          <a:p>
            <a:pPr lvl="1"/>
            <a:endParaRPr lang="en-US" noProof="0" dirty="0"/>
          </a:p>
          <a:p>
            <a:pPr lvl="1"/>
            <a:r>
              <a:rPr lang="en-US" noProof="0" dirty="0"/>
              <a:t>Helps them solve problems.</a:t>
            </a:r>
          </a:p>
          <a:p>
            <a:pPr lvl="1"/>
            <a:endParaRPr lang="en-US" noProof="0" dirty="0"/>
          </a:p>
          <a:p>
            <a:pPr lvl="1"/>
            <a:r>
              <a:rPr lang="en-US" noProof="0" dirty="0"/>
              <a:t>Teaches them how to do their work successfully.</a:t>
            </a:r>
          </a:p>
          <a:p>
            <a:pPr lvl="1"/>
            <a:endParaRPr lang="en-US" noProof="0" dirty="0"/>
          </a:p>
          <a:p>
            <a:pPr lvl="1"/>
            <a:r>
              <a:rPr lang="en-US" b="1" noProof="0" dirty="0"/>
              <a:t>Grapevine: </a:t>
            </a:r>
            <a:r>
              <a:rPr lang="en-US" noProof="0" dirty="0"/>
              <a:t>informal communication network.</a:t>
            </a:r>
          </a:p>
        </p:txBody>
      </p:sp>
      <p:sp>
        <p:nvSpPr>
          <p:cNvPr id="6" name="Slide Number Placeholder 5">
            <a:extLst>
              <a:ext uri="{FF2B5EF4-FFF2-40B4-BE49-F238E27FC236}">
                <a16:creationId xmlns:a16="http://schemas.microsoft.com/office/drawing/2014/main" id="{A5D4E3CC-0627-41B2-B5E3-B85989440161}"/>
              </a:ext>
            </a:extLst>
          </p:cNvPr>
          <p:cNvSpPr>
            <a:spLocks noGrp="1"/>
          </p:cNvSpPr>
          <p:nvPr>
            <p:ph type="sldNum" sz="quarter" idx="10"/>
          </p:nvPr>
        </p:nvSpPr>
        <p:spPr/>
        <p:txBody>
          <a:bodyPr/>
          <a:lstStyle/>
          <a:p>
            <a:fld id="{68151E55-6873-49E2-B8D5-2F265E6F1973}" type="slidenum">
              <a:rPr lang="en-US" smtClean="0"/>
              <a:t>27</a:t>
            </a:fld>
            <a:endParaRPr lang="en-US" dirty="0"/>
          </a:p>
        </p:txBody>
      </p:sp>
      <p:pic>
        <p:nvPicPr>
          <p:cNvPr id="5" name="Graphic 4" descr="Grapes with solid fill">
            <a:extLst>
              <a:ext uri="{FF2B5EF4-FFF2-40B4-BE49-F238E27FC236}">
                <a16:creationId xmlns:a16="http://schemas.microsoft.com/office/drawing/2014/main" id="{CD237929-3C38-FE1A-7D50-7FA48D5FB9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36426" y="4889090"/>
            <a:ext cx="914400" cy="914400"/>
          </a:xfrm>
          <a:prstGeom prst="rect">
            <a:avLst/>
          </a:prstGeom>
        </p:spPr>
      </p:pic>
    </p:spTree>
    <p:extLst>
      <p:ext uri="{BB962C8B-B14F-4D97-AF65-F5344CB8AC3E}">
        <p14:creationId xmlns:p14="http://schemas.microsoft.com/office/powerpoint/2010/main" val="4065498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394B9-7EFC-411B-A397-9F29A022071C}"/>
              </a:ext>
            </a:extLst>
          </p:cNvPr>
          <p:cNvSpPr>
            <a:spLocks noGrp="1"/>
          </p:cNvSpPr>
          <p:nvPr>
            <p:ph type="title"/>
          </p:nvPr>
        </p:nvSpPr>
        <p:spPr/>
        <p:txBody>
          <a:bodyPr/>
          <a:lstStyle/>
          <a:p>
            <a:pPr algn="ctr"/>
            <a:r>
              <a:rPr lang="en-US" noProof="0" dirty="0">
                <a:solidFill>
                  <a:srgbClr val="FF0000"/>
                </a:solidFill>
              </a:rPr>
              <a:t>Managing Informal Communication</a:t>
            </a:r>
          </a:p>
        </p:txBody>
      </p:sp>
      <p:sp>
        <p:nvSpPr>
          <p:cNvPr id="3" name="Content Placeholder 2">
            <a:extLst>
              <a:ext uri="{FF2B5EF4-FFF2-40B4-BE49-F238E27FC236}">
                <a16:creationId xmlns:a16="http://schemas.microsoft.com/office/drawing/2014/main" id="{C7700712-7E8C-4F16-B829-8B3030D7398D}"/>
              </a:ext>
            </a:extLst>
          </p:cNvPr>
          <p:cNvSpPr>
            <a:spLocks noGrp="1"/>
          </p:cNvSpPr>
          <p:nvPr>
            <p:ph sz="quarter" idx="11"/>
          </p:nvPr>
        </p:nvSpPr>
        <p:spPr>
          <a:xfrm>
            <a:off x="342900" y="1276710"/>
            <a:ext cx="4381500" cy="506370"/>
          </a:xfrm>
        </p:spPr>
        <p:txBody>
          <a:bodyPr/>
          <a:lstStyle/>
          <a:p>
            <a:r>
              <a:rPr lang="en-US" noProof="0" dirty="0"/>
              <a:t>How to manage the grapevine:</a:t>
            </a:r>
          </a:p>
        </p:txBody>
      </p:sp>
      <p:sp>
        <p:nvSpPr>
          <p:cNvPr id="4" name="Content Placeholder 3">
            <a:extLst>
              <a:ext uri="{FF2B5EF4-FFF2-40B4-BE49-F238E27FC236}">
                <a16:creationId xmlns:a16="http://schemas.microsoft.com/office/drawing/2014/main" id="{A532C46D-D248-4A95-BD44-CBFF9FF064F5}"/>
              </a:ext>
            </a:extLst>
          </p:cNvPr>
          <p:cNvSpPr>
            <a:spLocks noGrp="1"/>
          </p:cNvSpPr>
          <p:nvPr>
            <p:ph sz="quarter" idx="14"/>
          </p:nvPr>
        </p:nvSpPr>
        <p:spPr>
          <a:xfrm>
            <a:off x="342900" y="1872376"/>
            <a:ext cx="8458200" cy="1419464"/>
          </a:xfrm>
        </p:spPr>
        <p:txBody>
          <a:bodyPr/>
          <a:lstStyle/>
          <a:p>
            <a:pPr marL="402336" indent="-402336">
              <a:buFont typeface="+mj-lt"/>
              <a:buAutoNum type="arabicPeriod"/>
            </a:pPr>
            <a:r>
              <a:rPr lang="en-US" noProof="0" dirty="0"/>
              <a:t>Don’t allow malicious gossip.</a:t>
            </a:r>
          </a:p>
          <a:p>
            <a:pPr marL="402336" indent="-402336">
              <a:buFont typeface="+mj-lt"/>
              <a:buAutoNum type="arabicPeriod"/>
            </a:pPr>
            <a:r>
              <a:rPr lang="en-US" noProof="0" dirty="0"/>
              <a:t>Prevent rumors from starting by providing facts. </a:t>
            </a:r>
          </a:p>
          <a:p>
            <a:pPr marL="402336" indent="-402336">
              <a:buFont typeface="+mj-lt"/>
              <a:buAutoNum type="arabicPeriod"/>
            </a:pPr>
            <a:r>
              <a:rPr lang="en-US" noProof="0" dirty="0"/>
              <a:t>Neutralize rumors once they have started.</a:t>
            </a:r>
          </a:p>
        </p:txBody>
      </p:sp>
      <p:sp>
        <p:nvSpPr>
          <p:cNvPr id="5" name="Content Placeholder 4">
            <a:extLst>
              <a:ext uri="{FF2B5EF4-FFF2-40B4-BE49-F238E27FC236}">
                <a16:creationId xmlns:a16="http://schemas.microsoft.com/office/drawing/2014/main" id="{D0FA03B7-E3E8-4A57-8F65-D5414FF87AF3}"/>
              </a:ext>
            </a:extLst>
          </p:cNvPr>
          <p:cNvSpPr>
            <a:spLocks noGrp="1"/>
          </p:cNvSpPr>
          <p:nvPr>
            <p:ph sz="quarter" idx="15"/>
          </p:nvPr>
        </p:nvSpPr>
        <p:spPr>
          <a:xfrm>
            <a:off x="342900" y="3795251"/>
            <a:ext cx="8458200" cy="2182761"/>
          </a:xfrm>
        </p:spPr>
        <p:txBody>
          <a:bodyPr/>
          <a:lstStyle/>
          <a:p>
            <a:r>
              <a:rPr lang="en-US" b="1" noProof="0" dirty="0"/>
              <a:t>Transparency:</a:t>
            </a:r>
          </a:p>
          <a:p>
            <a:pPr lvl="1"/>
            <a:r>
              <a:rPr lang="en-US" noProof="0" dirty="0"/>
              <a:t>People’s beliefs that the information their employer and others send them is of high quality, as defined by accuracy, timeliness, and full disclosure of relevant information.</a:t>
            </a:r>
          </a:p>
        </p:txBody>
      </p:sp>
      <p:sp>
        <p:nvSpPr>
          <p:cNvPr id="11" name="Slide Number Placeholder 10">
            <a:extLst>
              <a:ext uri="{FF2B5EF4-FFF2-40B4-BE49-F238E27FC236}">
                <a16:creationId xmlns:a16="http://schemas.microsoft.com/office/drawing/2014/main" id="{EDEC3093-D35C-4D76-9727-0699EBE1689A}"/>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3726250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1F602-BF5F-4E1F-8A25-466C846AF8C2}"/>
              </a:ext>
            </a:extLst>
          </p:cNvPr>
          <p:cNvSpPr>
            <a:spLocks noGrp="1"/>
          </p:cNvSpPr>
          <p:nvPr>
            <p:ph type="title"/>
          </p:nvPr>
        </p:nvSpPr>
        <p:spPr/>
        <p:txBody>
          <a:bodyPr/>
          <a:lstStyle/>
          <a:p>
            <a:pPr algn="ctr"/>
            <a:r>
              <a:rPr lang="en-US" noProof="0" dirty="0">
                <a:solidFill>
                  <a:srgbClr val="FF0000"/>
                </a:solidFill>
              </a:rPr>
              <a:t>Boundaryless Organization</a:t>
            </a:r>
          </a:p>
        </p:txBody>
      </p:sp>
      <p:sp>
        <p:nvSpPr>
          <p:cNvPr id="3" name="Content Placeholder 2">
            <a:extLst>
              <a:ext uri="{FF2B5EF4-FFF2-40B4-BE49-F238E27FC236}">
                <a16:creationId xmlns:a16="http://schemas.microsoft.com/office/drawing/2014/main" id="{02F748AB-52BC-4351-92EB-618365F3845C}"/>
              </a:ext>
            </a:extLst>
          </p:cNvPr>
          <p:cNvSpPr>
            <a:spLocks noGrp="1"/>
          </p:cNvSpPr>
          <p:nvPr>
            <p:ph sz="quarter" idx="11"/>
          </p:nvPr>
        </p:nvSpPr>
        <p:spPr/>
        <p:txBody>
          <a:bodyPr/>
          <a:lstStyle/>
          <a:p>
            <a:pPr algn="ctr"/>
            <a:r>
              <a:rPr lang="en-US" noProof="0" dirty="0"/>
              <a:t>An organization in which there are few major obstacles to information flow</a:t>
            </a:r>
          </a:p>
          <a:p>
            <a:endParaRPr lang="en-US" noProof="0" dirty="0"/>
          </a:p>
          <a:p>
            <a:r>
              <a:rPr lang="en-US" noProof="0" dirty="0"/>
              <a:t>Information is available as needed, moving quickly and easily enough so that the organization functions far better as a whole than as separate parts.</a:t>
            </a:r>
          </a:p>
          <a:p>
            <a:r>
              <a:rPr lang="en-US" noProof="0" dirty="0"/>
              <a:t> </a:t>
            </a:r>
          </a:p>
          <a:p>
            <a:r>
              <a:rPr lang="en-US" b="1" noProof="0" dirty="0">
                <a:solidFill>
                  <a:srgbClr val="FF0000"/>
                </a:solidFill>
              </a:rPr>
              <a:t>Transparency </a:t>
            </a:r>
            <a:r>
              <a:rPr lang="en-US" noProof="0" dirty="0">
                <a:solidFill>
                  <a:srgbClr val="FF0000"/>
                </a:solidFill>
              </a:rPr>
              <a:t>strengthens people’s trust in an organization and in one another.</a:t>
            </a:r>
          </a:p>
        </p:txBody>
      </p:sp>
      <p:sp>
        <p:nvSpPr>
          <p:cNvPr id="6" name="Slide Number Placeholder 5">
            <a:extLst>
              <a:ext uri="{FF2B5EF4-FFF2-40B4-BE49-F238E27FC236}">
                <a16:creationId xmlns:a16="http://schemas.microsoft.com/office/drawing/2014/main" id="{18B66B1E-1037-4A68-BE8D-F8DBB18CBCC1}"/>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4172010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AFC03-5DE3-4AE8-B9D8-BE23AEBA54EA}"/>
              </a:ext>
            </a:extLst>
          </p:cNvPr>
          <p:cNvSpPr>
            <a:spLocks noGrp="1"/>
          </p:cNvSpPr>
          <p:nvPr>
            <p:ph type="title"/>
          </p:nvPr>
        </p:nvSpPr>
        <p:spPr/>
        <p:txBody>
          <a:bodyPr>
            <a:normAutofit fontScale="90000"/>
          </a:bodyPr>
          <a:lstStyle/>
          <a:p>
            <a:pPr algn="ctr"/>
            <a:r>
              <a:rPr lang="en-US" noProof="0" dirty="0">
                <a:solidFill>
                  <a:srgbClr val="FF0000"/>
                </a:solidFill>
              </a:rPr>
              <a:t>Management in Action What Does Bumble Communicate? Ladies First!</a:t>
            </a:r>
          </a:p>
        </p:txBody>
      </p:sp>
      <p:sp>
        <p:nvSpPr>
          <p:cNvPr id="3" name="Content Placeholder 2">
            <a:extLst>
              <a:ext uri="{FF2B5EF4-FFF2-40B4-BE49-F238E27FC236}">
                <a16:creationId xmlns:a16="http://schemas.microsoft.com/office/drawing/2014/main" id="{D1D41D76-AAD2-41E3-BC58-545288AE1411}"/>
              </a:ext>
            </a:extLst>
          </p:cNvPr>
          <p:cNvSpPr>
            <a:spLocks noGrp="1"/>
          </p:cNvSpPr>
          <p:nvPr>
            <p:ph sz="quarter" idx="11"/>
          </p:nvPr>
        </p:nvSpPr>
        <p:spPr>
          <a:xfrm>
            <a:off x="342900" y="1276709"/>
            <a:ext cx="8458200" cy="1603651"/>
          </a:xfrm>
        </p:spPr>
        <p:txBody>
          <a:bodyPr/>
          <a:lstStyle/>
          <a:p>
            <a:r>
              <a:rPr lang="en-US" noProof="0" dirty="0"/>
              <a:t>Bumble, the dating app that puts women in the lead, is completely transparent about what it wants to communicate both inside the workplace and to the world at large: Ladies should in fact (and at long last!) come first.</a:t>
            </a:r>
          </a:p>
        </p:txBody>
      </p:sp>
      <p:sp>
        <p:nvSpPr>
          <p:cNvPr id="4" name="Content Placeholder 3">
            <a:extLst>
              <a:ext uri="{FF2B5EF4-FFF2-40B4-BE49-F238E27FC236}">
                <a16:creationId xmlns:a16="http://schemas.microsoft.com/office/drawing/2014/main" id="{C6C4616D-FE66-4072-907B-7CF7998538AE}"/>
              </a:ext>
            </a:extLst>
          </p:cNvPr>
          <p:cNvSpPr>
            <a:spLocks noGrp="1"/>
          </p:cNvSpPr>
          <p:nvPr>
            <p:ph sz="quarter" idx="14"/>
          </p:nvPr>
        </p:nvSpPr>
        <p:spPr>
          <a:xfrm>
            <a:off x="342900" y="3010790"/>
            <a:ext cx="8458200" cy="3311351"/>
          </a:xfrm>
        </p:spPr>
        <p:txBody>
          <a:bodyPr/>
          <a:lstStyle/>
          <a:p>
            <a:pPr lvl="1"/>
            <a:endParaRPr lang="en-US" noProof="0" dirty="0"/>
          </a:p>
          <a:p>
            <a:pPr lvl="1"/>
            <a:r>
              <a:rPr lang="en-US" noProof="0" dirty="0"/>
              <a:t>What do you think of Bumble’s central message of “Ladies first"? What are its advantages? What are some potential drawbacks?</a:t>
            </a:r>
          </a:p>
          <a:p>
            <a:pPr lvl="1"/>
            <a:r>
              <a:rPr lang="en-US" noProof="0" dirty="0"/>
              <a:t>Bumble is trying to create a more collaborative environment for female employees. How can two-way communication be used to realize this goal?</a:t>
            </a:r>
          </a:p>
        </p:txBody>
      </p:sp>
      <p:sp>
        <p:nvSpPr>
          <p:cNvPr id="7" name="Slide Number Placeholder 6">
            <a:extLst>
              <a:ext uri="{FF2B5EF4-FFF2-40B4-BE49-F238E27FC236}">
                <a16:creationId xmlns:a16="http://schemas.microsoft.com/office/drawing/2014/main" id="{2C77B6AF-5A89-4B82-A72D-FB9EC7CB890D}"/>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3308850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A0EC4-7683-4F66-A8FC-E2DA2D42A374}"/>
              </a:ext>
            </a:extLst>
          </p:cNvPr>
          <p:cNvSpPr>
            <a:spLocks noGrp="1"/>
          </p:cNvSpPr>
          <p:nvPr>
            <p:ph type="title"/>
          </p:nvPr>
        </p:nvSpPr>
        <p:spPr/>
        <p:txBody>
          <a:bodyPr/>
          <a:lstStyle/>
          <a:p>
            <a:r>
              <a:rPr lang="en-US" noProof="0" dirty="0"/>
              <a:t>In Review</a:t>
            </a:r>
          </a:p>
        </p:txBody>
      </p:sp>
      <p:sp>
        <p:nvSpPr>
          <p:cNvPr id="3" name="Content Placeholder 2">
            <a:extLst>
              <a:ext uri="{FF2B5EF4-FFF2-40B4-BE49-F238E27FC236}">
                <a16:creationId xmlns:a16="http://schemas.microsoft.com/office/drawing/2014/main" id="{5822CEFA-9C37-4ABF-9785-78DD48B2A453}"/>
              </a:ext>
            </a:extLst>
          </p:cNvPr>
          <p:cNvSpPr>
            <a:spLocks noGrp="1"/>
          </p:cNvSpPr>
          <p:nvPr>
            <p:ph sz="quarter" idx="11"/>
          </p:nvPr>
        </p:nvSpPr>
        <p:spPr/>
        <p:txBody>
          <a:bodyPr/>
          <a:lstStyle/>
          <a:p>
            <a:pPr marL="402336" indent="-402336">
              <a:buFont typeface="+mj-lt"/>
              <a:buAutoNum type="arabicPeriod"/>
            </a:pPr>
            <a:r>
              <a:rPr lang="en-US" noProof="0" dirty="0"/>
              <a:t>Discuss important advantages of two-way communication.</a:t>
            </a:r>
          </a:p>
          <a:p>
            <a:pPr marL="402336" indent="-402336">
              <a:buFont typeface="+mj-lt"/>
              <a:buAutoNum type="arabicPeriod"/>
            </a:pPr>
            <a:r>
              <a:rPr lang="en-US" noProof="0" dirty="0"/>
              <a:t>Identify communication problems to avoid.</a:t>
            </a:r>
          </a:p>
          <a:p>
            <a:pPr marL="402336" indent="-402336">
              <a:buFont typeface="+mj-lt"/>
              <a:buAutoNum type="arabicPeriod"/>
            </a:pPr>
            <a:r>
              <a:rPr lang="en-US" noProof="0" dirty="0"/>
              <a:t>Describe when and how to use the various communication channels.</a:t>
            </a:r>
          </a:p>
          <a:p>
            <a:pPr marL="402336" indent="-402336">
              <a:buFont typeface="+mj-lt"/>
              <a:buAutoNum type="arabicPeriod"/>
            </a:pPr>
            <a:r>
              <a:rPr lang="en-US" noProof="0" dirty="0"/>
              <a:t>Summarize ways to become a better sender and receiver of information.</a:t>
            </a:r>
          </a:p>
          <a:p>
            <a:pPr marL="402336" indent="-402336">
              <a:buFont typeface="+mj-lt"/>
              <a:buAutoNum type="arabicPeriod"/>
            </a:pPr>
            <a:r>
              <a:rPr lang="en-US" noProof="0" dirty="0"/>
              <a:t>Explain how to improve downward, upward, and horizontal communication.</a:t>
            </a:r>
          </a:p>
          <a:p>
            <a:pPr marL="402336" indent="-402336">
              <a:buFont typeface="+mj-lt"/>
              <a:buAutoNum type="arabicPeriod"/>
            </a:pPr>
            <a:r>
              <a:rPr lang="en-US" noProof="0" dirty="0"/>
              <a:t>Summarize how to work with the company grapevine.</a:t>
            </a:r>
          </a:p>
          <a:p>
            <a:pPr marL="402336" indent="-402336">
              <a:buFont typeface="+mj-lt"/>
              <a:buAutoNum type="arabicPeriod"/>
            </a:pPr>
            <a:r>
              <a:rPr lang="en-US" noProof="0" dirty="0"/>
              <a:t>Understand transparency and what it means to be “boundaryless.”</a:t>
            </a:r>
          </a:p>
        </p:txBody>
      </p:sp>
      <p:sp>
        <p:nvSpPr>
          <p:cNvPr id="6" name="Slide Number Placeholder 5">
            <a:extLst>
              <a:ext uri="{FF2B5EF4-FFF2-40B4-BE49-F238E27FC236}">
                <a16:creationId xmlns:a16="http://schemas.microsoft.com/office/drawing/2014/main" id="{D76E2564-187D-4FB8-9058-4F5F0C935B57}"/>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3585049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2AAE7BB7-8AAC-4997-A2E0-E359554D7833}"/>
              </a:ext>
            </a:extLst>
          </p:cNvPr>
          <p:cNvSpPr>
            <a:spLocks noGrp="1"/>
          </p:cNvSpPr>
          <p:nvPr>
            <p:ph sz="quarter" idx="10"/>
          </p:nvPr>
        </p:nvSpPr>
        <p:spPr>
          <a:xfrm>
            <a:off x="-83129" y="6551618"/>
            <a:ext cx="9277005" cy="232133"/>
          </a:xfrm>
        </p:spPr>
        <p:txBody>
          <a:bodyPr/>
          <a:lstStyle/>
          <a:p>
            <a:r>
              <a:rPr lang="en-US" sz="800" noProof="0" dirty="0"/>
              <a:t>© 2023 McGraw Hill, LLC. All rights reserved. Authorized only for instructor use in the classroom. No reproduction or further distribution permitted without the prior written consent of McGraw Hill, LLC.</a:t>
            </a:r>
          </a:p>
        </p:txBody>
      </p:sp>
    </p:spTree>
    <p:extLst>
      <p:ext uri="{BB962C8B-B14F-4D97-AF65-F5344CB8AC3E}">
        <p14:creationId xmlns:p14="http://schemas.microsoft.com/office/powerpoint/2010/main" val="1080484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33</a:t>
            </a:fld>
            <a:endParaRPr lang="en-US"/>
          </a:p>
        </p:txBody>
      </p:sp>
    </p:spTree>
    <p:extLst>
      <p:ext uri="{BB962C8B-B14F-4D97-AF65-F5344CB8AC3E}">
        <p14:creationId xmlns:p14="http://schemas.microsoft.com/office/powerpoint/2010/main" val="4245016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34140"/>
            <a:ext cx="8005233" cy="822237"/>
          </a:xfrm>
        </p:spPr>
        <p:txBody>
          <a:bodyPr>
            <a:noAutofit/>
          </a:bodyPr>
          <a:lstStyle/>
          <a:p>
            <a:r>
              <a:rPr lang="en-US" sz="2800" noProof="0" dirty="0"/>
              <a:t>Exhibit 15.1 A General Model of Communication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56084"/>
            <a:ext cx="8458200" cy="3046396"/>
          </a:xfrm>
        </p:spPr>
        <p:txBody>
          <a:bodyPr>
            <a:noAutofit/>
          </a:bodyPr>
          <a:lstStyle/>
          <a:p>
            <a:pPr>
              <a:spcBef>
                <a:spcPts val="500"/>
              </a:spcBef>
              <a:spcAft>
                <a:spcPts val="0"/>
              </a:spcAft>
            </a:pPr>
            <a:r>
              <a:rPr lang="en-US" sz="2200" noProof="0" dirty="0"/>
              <a:t>Step 1. Person A, the sender, has meaning he or she wants to convey.</a:t>
            </a:r>
          </a:p>
          <a:p>
            <a:pPr>
              <a:spcBef>
                <a:spcPts val="500"/>
              </a:spcBef>
              <a:spcAft>
                <a:spcPts val="0"/>
              </a:spcAft>
            </a:pPr>
            <a:r>
              <a:rPr lang="en-US" sz="2200" noProof="0" dirty="0"/>
              <a:t>Step 2. Person A encodes the meaning into symbols (chosen words).</a:t>
            </a:r>
          </a:p>
          <a:p>
            <a:pPr>
              <a:spcBef>
                <a:spcPts val="500"/>
              </a:spcBef>
              <a:spcAft>
                <a:spcPts val="0"/>
              </a:spcAft>
            </a:pPr>
            <a:r>
              <a:rPr lang="en-US" sz="2200" noProof="0" dirty="0"/>
              <a:t>Step 3. The message goes through the communication channel.</a:t>
            </a:r>
          </a:p>
          <a:p>
            <a:pPr>
              <a:spcBef>
                <a:spcPts val="500"/>
              </a:spcBef>
              <a:spcAft>
                <a:spcPts val="0"/>
              </a:spcAft>
            </a:pPr>
            <a:r>
              <a:rPr lang="en-US" sz="2200" noProof="0" dirty="0"/>
              <a:t>Step 4. Person B, the receiver, decodes the message.</a:t>
            </a:r>
          </a:p>
          <a:p>
            <a:pPr>
              <a:spcBef>
                <a:spcPts val="500"/>
              </a:spcBef>
              <a:spcAft>
                <a:spcPts val="0"/>
              </a:spcAft>
            </a:pPr>
            <a:r>
              <a:rPr lang="en-US" sz="2200" noProof="0" dirty="0"/>
              <a:t>Step 5. Decoding the message provides Person B with the perceived meaning.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45764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34140"/>
            <a:ext cx="8458200" cy="822237"/>
          </a:xfrm>
        </p:spPr>
        <p:txBody>
          <a:bodyPr>
            <a:noAutofit/>
          </a:bodyPr>
          <a:lstStyle/>
          <a:p>
            <a:r>
              <a:rPr lang="en-US" sz="2800" noProof="0" dirty="0"/>
              <a:t>Exhibit 15.4 Information Loss in Downward Communication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56084"/>
            <a:ext cx="8458200" cy="4433236"/>
          </a:xfrm>
        </p:spPr>
        <p:txBody>
          <a:bodyPr>
            <a:noAutofit/>
          </a:bodyPr>
          <a:lstStyle/>
          <a:p>
            <a:pPr>
              <a:spcBef>
                <a:spcPts val="500"/>
              </a:spcBef>
              <a:spcAft>
                <a:spcPts val="0"/>
              </a:spcAft>
            </a:pPr>
            <a:r>
              <a:rPr lang="en-US" sz="2200" noProof="0" dirty="0"/>
              <a:t>A pyramid represents the hierarchy of an organization and shows the percentages of information loss that might occur at each level in this structure. </a:t>
            </a:r>
          </a:p>
          <a:p>
            <a:pPr>
              <a:spcBef>
                <a:spcPts val="500"/>
              </a:spcBef>
              <a:spcAft>
                <a:spcPts val="0"/>
              </a:spcAft>
            </a:pPr>
            <a:r>
              <a:rPr lang="en-US" sz="2200" noProof="0" dirty="0"/>
              <a:t>With the information starting from the top, the board of directors, there is 0 percentage loss of information—all information is 100 percent complete. As it moves down the hierarchy, information is lost: 37 percent loss at the vice president level, 44 percent loss at general managers level, 60 percent loss at plant managers level, 70 percent loss at supervisor level, and finally the workers miss 80 percent of the information communicated.</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66177413"/>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MainContentSlideMaster">
  <a:themeElements>
    <a:clrScheme name="Custom 20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5.xml><?xml version="1.0" encoding="utf-8"?>
<a:theme xmlns:a="http://schemas.openxmlformats.org/drawingml/2006/main" name="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6.xml><?xml version="1.0" encoding="utf-8"?>
<a:theme xmlns:a="http://schemas.openxmlformats.org/drawingml/2006/main" name="1_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7.xml><?xml version="1.0" encoding="utf-8"?>
<a:theme xmlns:a="http://schemas.openxmlformats.org/drawingml/2006/main" name="Swinburne Theme1">
  <a:themeElements>
    <a:clrScheme name="Swinburne">
      <a:dk1>
        <a:srgbClr val="000000"/>
      </a:dk1>
      <a:lt1>
        <a:sysClr val="window" lastClr="FFFFFF"/>
      </a:lt1>
      <a:dk2>
        <a:srgbClr val="3D3A3B"/>
      </a:dk2>
      <a:lt2>
        <a:srgbClr val="E7E7E8"/>
      </a:lt2>
      <a:accent1>
        <a:srgbClr val="3D3A3B"/>
      </a:accent1>
      <a:accent2>
        <a:srgbClr val="E7E7E8"/>
      </a:accent2>
      <a:accent3>
        <a:srgbClr val="A5A5A5"/>
      </a:accent3>
      <a:accent4>
        <a:srgbClr val="BFBFBF"/>
      </a:accent4>
      <a:accent5>
        <a:srgbClr val="D8D8D8"/>
      </a:accent5>
      <a:accent6>
        <a:srgbClr val="F2F2F2"/>
      </a:accent6>
      <a:hlink>
        <a:srgbClr val="0563C1"/>
      </a:hlink>
      <a:folHlink>
        <a:srgbClr val="954F72"/>
      </a:folHlink>
    </a:clrScheme>
    <a:fontScheme name="SwinburneFonts">
      <a:majorFont>
        <a:latin typeface="Barlow Light"/>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nburne Theme1" id="{3C269CD2-56DB-44C8-AE91-4BC69BA49F9B}" vid="{B6F4882B-9E8C-4DF1-8CA8-DCCA6165D824}"/>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Template>
  <TotalTime>5492</TotalTime>
  <Words>4460</Words>
  <Application>Microsoft Office PowerPoint</Application>
  <PresentationFormat>On-screen Show (4:3)</PresentationFormat>
  <Paragraphs>370</Paragraphs>
  <Slides>35</Slides>
  <Notes>31</Notes>
  <HiddenSlides>3</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35</vt:i4>
      </vt:variant>
    </vt:vector>
  </HeadingPairs>
  <TitlesOfParts>
    <vt:vector size="52" baseType="lpstr">
      <vt:lpstr>ＭＳ Ｐゴシック</vt:lpstr>
      <vt:lpstr>Aptos</vt:lpstr>
      <vt:lpstr>Aptos Display</vt:lpstr>
      <vt:lpstr>Arial</vt:lpstr>
      <vt:lpstr>Barlow Light</vt:lpstr>
      <vt:lpstr>Barlow SemiBold</vt:lpstr>
      <vt:lpstr>Calibri</vt:lpstr>
      <vt:lpstr>Open Sans Light</vt:lpstr>
      <vt:lpstr>Open Sans Semibold</vt:lpstr>
      <vt:lpstr>Title Slides Master</vt:lpstr>
      <vt:lpstr>MainContentSlideMaster</vt:lpstr>
      <vt:lpstr>ClosingMaster</vt:lpstr>
      <vt:lpstr>DividerSlideMaster</vt:lpstr>
      <vt:lpstr>ImageDescriptionAppendixSlideMaster</vt:lpstr>
      <vt:lpstr>1_ImageDescriptionAppendixSlideMaster</vt:lpstr>
      <vt:lpstr>Swinburne Theme1</vt:lpstr>
      <vt:lpstr>Office Theme</vt:lpstr>
      <vt:lpstr>PowerPoint Presentation</vt:lpstr>
      <vt:lpstr>Learning Objectives</vt:lpstr>
      <vt:lpstr>Management in Action Communication During Difficult Times</vt:lpstr>
      <vt:lpstr>Exhibit 15.1 A General Model of Communication</vt:lpstr>
      <vt:lpstr>One-Way versus Two-Way Communication</vt:lpstr>
      <vt:lpstr>Communication Pitfalls</vt:lpstr>
      <vt:lpstr>Verbal and Written Channels</vt:lpstr>
      <vt:lpstr>Verbal Communications</vt:lpstr>
      <vt:lpstr>Written Communication</vt:lpstr>
      <vt:lpstr>Digital Communication and Social Media</vt:lpstr>
      <vt:lpstr>The Virtual Office</vt:lpstr>
      <vt:lpstr>Exhibit 15.2 Differences in Media Richness</vt:lpstr>
      <vt:lpstr>Management in Action Communicating, SoundCloud Style</vt:lpstr>
      <vt:lpstr>Writing Skills</vt:lpstr>
      <vt:lpstr>Language Skills</vt:lpstr>
      <vt:lpstr>Nonverbal Skills</vt:lpstr>
      <vt:lpstr>SPOTLIGHT ON…  Communicating to Create Change</vt:lpstr>
      <vt:lpstr>Listening</vt:lpstr>
      <vt:lpstr>Exhibit 15.3 Ten Keys to Effective Listening</vt:lpstr>
      <vt:lpstr>Reading</vt:lpstr>
      <vt:lpstr>Observing</vt:lpstr>
      <vt:lpstr>Downward Communication</vt:lpstr>
      <vt:lpstr>Exhibit 15.4 Information Loss in Downward Communication</vt:lpstr>
      <vt:lpstr>Coaching and Open-Book Management</vt:lpstr>
      <vt:lpstr>Upward Communication</vt:lpstr>
      <vt:lpstr>Horizontal Communication</vt:lpstr>
      <vt:lpstr>Informal Communication</vt:lpstr>
      <vt:lpstr>Managing Informal Communication</vt:lpstr>
      <vt:lpstr>Boundaryless Organization</vt:lpstr>
      <vt:lpstr>Management in Action What Does Bumble Communicate? Ladies First!</vt:lpstr>
      <vt:lpstr>In Review</vt:lpstr>
      <vt:lpstr>End of Main Content</vt:lpstr>
      <vt:lpstr>Accessibility Content: Text Alternatives for Images</vt:lpstr>
      <vt:lpstr>Exhibit 15.1 A General Model of Communication – Text Alternative</vt:lpstr>
      <vt:lpstr>Exhibit 15.4 Information Loss in Downward Communication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P Moran</dc:creator>
  <cp:keywords/>
  <cp:lastModifiedBy>P Moran</cp:lastModifiedBy>
  <cp:revision>782</cp:revision>
  <dcterms:created xsi:type="dcterms:W3CDTF">2021-07-01T13:49:16Z</dcterms:created>
  <dcterms:modified xsi:type="dcterms:W3CDTF">2025-02-23T12:30:17Z</dcterms:modified>
</cp:coreProperties>
</file>