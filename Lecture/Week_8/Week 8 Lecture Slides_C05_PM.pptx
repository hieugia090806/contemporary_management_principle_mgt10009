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6" r:id="rId6"/>
  </p:sldMasterIdLst>
  <p:notesMasterIdLst>
    <p:notesMasterId r:id="rId48"/>
  </p:notesMasterIdLst>
  <p:sldIdLst>
    <p:sldId id="568" r:id="rId7"/>
    <p:sldId id="506" r:id="rId8"/>
    <p:sldId id="518" r:id="rId9"/>
    <p:sldId id="590" r:id="rId10"/>
    <p:sldId id="591" r:id="rId11"/>
    <p:sldId id="592" r:id="rId12"/>
    <p:sldId id="593" r:id="rId13"/>
    <p:sldId id="594" r:id="rId14"/>
    <p:sldId id="307" r:id="rId15"/>
    <p:sldId id="595" r:id="rId16"/>
    <p:sldId id="596" r:id="rId17"/>
    <p:sldId id="597" r:id="rId18"/>
    <p:sldId id="598" r:id="rId19"/>
    <p:sldId id="599" r:id="rId20"/>
    <p:sldId id="600" r:id="rId21"/>
    <p:sldId id="601" r:id="rId22"/>
    <p:sldId id="602" r:id="rId23"/>
    <p:sldId id="603" r:id="rId24"/>
    <p:sldId id="604" r:id="rId25"/>
    <p:sldId id="605" r:id="rId26"/>
    <p:sldId id="606" r:id="rId27"/>
    <p:sldId id="607" r:id="rId28"/>
    <p:sldId id="608" r:id="rId29"/>
    <p:sldId id="609" r:id="rId30"/>
    <p:sldId id="610" r:id="rId31"/>
    <p:sldId id="611" r:id="rId32"/>
    <p:sldId id="612" r:id="rId33"/>
    <p:sldId id="613" r:id="rId34"/>
    <p:sldId id="614" r:id="rId35"/>
    <p:sldId id="615" r:id="rId36"/>
    <p:sldId id="616" r:id="rId37"/>
    <p:sldId id="617" r:id="rId38"/>
    <p:sldId id="618" r:id="rId39"/>
    <p:sldId id="619" r:id="rId40"/>
    <p:sldId id="620" r:id="rId41"/>
    <p:sldId id="621" r:id="rId42"/>
    <p:sldId id="622" r:id="rId43"/>
    <p:sldId id="260" r:id="rId44"/>
    <p:sldId id="258" r:id="rId45"/>
    <p:sldId id="623" r:id="rId46"/>
    <p:sldId id="624"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568"/>
            <p14:sldId id="506"/>
            <p14:sldId id="518"/>
            <p14:sldId id="590"/>
            <p14:sldId id="591"/>
            <p14:sldId id="592"/>
            <p14:sldId id="593"/>
            <p14:sldId id="594"/>
            <p14:sldId id="307"/>
            <p14:sldId id="595"/>
            <p14:sldId id="596"/>
            <p14:sldId id="597"/>
            <p14:sldId id="598"/>
            <p14:sldId id="599"/>
            <p14:sldId id="600"/>
            <p14:sldId id="601"/>
            <p14:sldId id="602"/>
            <p14:sldId id="603"/>
            <p14:sldId id="604"/>
            <p14:sldId id="605"/>
            <p14:sldId id="606"/>
            <p14:sldId id="607"/>
            <p14:sldId id="608"/>
            <p14:sldId id="609"/>
            <p14:sldId id="610"/>
            <p14:sldId id="611"/>
            <p14:sldId id="612"/>
            <p14:sldId id="613"/>
            <p14:sldId id="614"/>
            <p14:sldId id="615"/>
            <p14:sldId id="616"/>
            <p14:sldId id="617"/>
            <p14:sldId id="618"/>
            <p14:sldId id="619"/>
            <p14:sldId id="620"/>
            <p14:sldId id="621"/>
            <p14:sldId id="622"/>
            <p14:sldId id="260"/>
          </p14:sldIdLst>
        </p14:section>
        <p14:section name="Appendix: Image Descriptions for Unsighted Students" id="{9E859B0B-078E-463E-89A6-21C20DD280C4}">
          <p14:sldIdLst>
            <p14:sldId id="258"/>
            <p14:sldId id="623"/>
            <p14:sldId id="624"/>
          </p14:sldIdLst>
        </p14:section>
      </p14:sectionLst>
    </p:ext>
    <p:ext uri="{EFAFB233-063F-42B5-8137-9DF3F51BA10A}">
      <p15:sldGuideLst xmlns:p15="http://schemas.microsoft.com/office/powerpoint/2012/main">
        <p15:guide id="2" pos="456" userDrawn="1">
          <p15:clr>
            <a:srgbClr val="A4A3A4"/>
          </p15:clr>
        </p15:guide>
        <p15:guide id="3" orient="horz" pos="2256" userDrawn="1">
          <p15:clr>
            <a:srgbClr val="A4A3A4"/>
          </p15:clr>
        </p15:guide>
        <p15:guide id="4" pos="56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141B"/>
    <a:srgbClr val="C0161E"/>
    <a:srgbClr val="069598"/>
    <a:srgbClr val="F4CCCC"/>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A0CFF-19BB-40F0-ACF3-335ACED13F47}" v="8" dt="2025-04-22T07:31:32.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9" autoAdjust="0"/>
    <p:restoredTop sz="78109" autoAdjust="0"/>
  </p:normalViewPr>
  <p:slideViewPr>
    <p:cSldViewPr snapToGrid="0" showGuides="1">
      <p:cViewPr varScale="1">
        <p:scale>
          <a:sx n="86" d="100"/>
          <a:sy n="86" d="100"/>
        </p:scale>
        <p:origin x="2454" y="90"/>
      </p:cViewPr>
      <p:guideLst>
        <p:guide pos="456"/>
        <p:guide orient="horz" pos="2256"/>
        <p:guide pos="5664"/>
      </p:guideLst>
    </p:cSldViewPr>
  </p:slideViewPr>
  <p:outlineViewPr>
    <p:cViewPr>
      <p:scale>
        <a:sx n="33" d="100"/>
        <a:sy n="33" d="100"/>
      </p:scale>
      <p:origin x="0" y="-43008"/>
    </p:cViewPr>
  </p:outlineViewPr>
  <p:notesTextViewPr>
    <p:cViewPr>
      <p:scale>
        <a:sx n="100" d="100"/>
        <a:sy n="100" d="100"/>
      </p:scale>
      <p:origin x="0" y="0"/>
    </p:cViewPr>
  </p:notesTextViewPr>
  <p:sorterViewPr>
    <p:cViewPr>
      <p:scale>
        <a:sx n="100" d="100"/>
        <a:sy n="100" d="100"/>
      </p:scale>
      <p:origin x="0" y="-306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Moran" userId="204e4a19ae7aee6c" providerId="LiveId" clId="{5E9A0CFF-19BB-40F0-ACF3-335ACED13F47}"/>
    <pc:docChg chg="custSel modSld">
      <pc:chgData name="P Moran" userId="204e4a19ae7aee6c" providerId="LiveId" clId="{5E9A0CFF-19BB-40F0-ACF3-335ACED13F47}" dt="2025-04-22T07:32:35.970" v="136" actId="13926"/>
      <pc:docMkLst>
        <pc:docMk/>
      </pc:docMkLst>
      <pc:sldChg chg="modSp mod">
        <pc:chgData name="P Moran" userId="204e4a19ae7aee6c" providerId="LiveId" clId="{5E9A0CFF-19BB-40F0-ACF3-335ACED13F47}" dt="2025-04-22T07:11:50.860" v="24" actId="13926"/>
        <pc:sldMkLst>
          <pc:docMk/>
          <pc:sldMk cId="0" sldId="307"/>
        </pc:sldMkLst>
        <pc:spChg chg="mod">
          <ac:chgData name="P Moran" userId="204e4a19ae7aee6c" providerId="LiveId" clId="{5E9A0CFF-19BB-40F0-ACF3-335ACED13F47}" dt="2025-04-22T07:11:50.860" v="24" actId="13926"/>
          <ac:spMkLst>
            <pc:docMk/>
            <pc:sldMk cId="0" sldId="307"/>
            <ac:spMk id="24578" creationId="{00000000-0000-0000-0000-000000000000}"/>
          </ac:spMkLst>
        </pc:spChg>
      </pc:sldChg>
      <pc:sldChg chg="modSp mod">
        <pc:chgData name="P Moran" userId="204e4a19ae7aee6c" providerId="LiveId" clId="{5E9A0CFF-19BB-40F0-ACF3-335ACED13F47}" dt="2025-04-22T07:12:10.631" v="26" actId="13926"/>
        <pc:sldMkLst>
          <pc:docMk/>
          <pc:sldMk cId="2780852276" sldId="506"/>
        </pc:sldMkLst>
        <pc:spChg chg="mod">
          <ac:chgData name="P Moran" userId="204e4a19ae7aee6c" providerId="LiveId" clId="{5E9A0CFF-19BB-40F0-ACF3-335ACED13F47}" dt="2025-04-22T07:12:10.631" v="26" actId="13926"/>
          <ac:spMkLst>
            <pc:docMk/>
            <pc:sldMk cId="2780852276" sldId="506"/>
            <ac:spMk id="2" creationId="{BAB42C6F-64D4-4FC0-A590-011A0A3CE9C6}"/>
          </ac:spMkLst>
        </pc:spChg>
      </pc:sldChg>
      <pc:sldChg chg="addSp modSp mod">
        <pc:chgData name="P Moran" userId="204e4a19ae7aee6c" providerId="LiveId" clId="{5E9A0CFF-19BB-40F0-ACF3-335ACED13F47}" dt="2025-04-22T07:12:18.339" v="28" actId="122"/>
        <pc:sldMkLst>
          <pc:docMk/>
          <pc:sldMk cId="2118168485" sldId="518"/>
        </pc:sldMkLst>
        <pc:spChg chg="mod">
          <ac:chgData name="P Moran" userId="204e4a19ae7aee6c" providerId="LiveId" clId="{5E9A0CFF-19BB-40F0-ACF3-335ACED13F47}" dt="2025-04-22T07:12:18.339" v="28" actId="122"/>
          <ac:spMkLst>
            <pc:docMk/>
            <pc:sldMk cId="2118168485" sldId="518"/>
            <ac:spMk id="8" creationId="{E4750013-090A-467B-9E46-CF5E7EE63A0B}"/>
          </ac:spMkLst>
        </pc:spChg>
        <pc:picChg chg="add mod">
          <ac:chgData name="P Moran" userId="204e4a19ae7aee6c" providerId="LiveId" clId="{5E9A0CFF-19BB-40F0-ACF3-335ACED13F47}" dt="2025-04-22T07:06:11.153" v="2" actId="1076"/>
          <ac:picMkLst>
            <pc:docMk/>
            <pc:sldMk cId="2118168485" sldId="518"/>
            <ac:picMk id="3" creationId="{48A74EFA-BB20-651F-9D67-20AAC5B49A9F}"/>
          </ac:picMkLst>
        </pc:picChg>
      </pc:sldChg>
      <pc:sldChg chg="addSp modSp mod">
        <pc:chgData name="P Moran" userId="204e4a19ae7aee6c" providerId="LiveId" clId="{5E9A0CFF-19BB-40F0-ACF3-335ACED13F47}" dt="2025-04-22T07:12:27.347" v="30" actId="122"/>
        <pc:sldMkLst>
          <pc:docMk/>
          <pc:sldMk cId="3356802484" sldId="590"/>
        </pc:sldMkLst>
        <pc:spChg chg="mod">
          <ac:chgData name="P Moran" userId="204e4a19ae7aee6c" providerId="LiveId" clId="{5E9A0CFF-19BB-40F0-ACF3-335ACED13F47}" dt="2025-04-22T07:12:27.347" v="30" actId="122"/>
          <ac:spMkLst>
            <pc:docMk/>
            <pc:sldMk cId="3356802484" sldId="590"/>
            <ac:spMk id="8" creationId="{E4750013-090A-467B-9E46-CF5E7EE63A0B}"/>
          </ac:spMkLst>
        </pc:spChg>
        <pc:picChg chg="add mod">
          <ac:chgData name="P Moran" userId="204e4a19ae7aee6c" providerId="LiveId" clId="{5E9A0CFF-19BB-40F0-ACF3-335ACED13F47}" dt="2025-04-22T07:08:12.752" v="6" actId="14100"/>
          <ac:picMkLst>
            <pc:docMk/>
            <pc:sldMk cId="3356802484" sldId="590"/>
            <ac:picMk id="3" creationId="{4287FC68-A8E8-A439-04C7-0B342A89AB19}"/>
          </ac:picMkLst>
        </pc:picChg>
      </pc:sldChg>
      <pc:sldChg chg="modSp mod">
        <pc:chgData name="P Moran" userId="204e4a19ae7aee6c" providerId="LiveId" clId="{5E9A0CFF-19BB-40F0-ACF3-335ACED13F47}" dt="2025-04-22T07:12:44.761" v="33" actId="13926"/>
        <pc:sldMkLst>
          <pc:docMk/>
          <pc:sldMk cId="3496997665" sldId="591"/>
        </pc:sldMkLst>
        <pc:spChg chg="mod">
          <ac:chgData name="P Moran" userId="204e4a19ae7aee6c" providerId="LiveId" clId="{5E9A0CFF-19BB-40F0-ACF3-335ACED13F47}" dt="2025-04-22T07:12:44.761" v="33" actId="13926"/>
          <ac:spMkLst>
            <pc:docMk/>
            <pc:sldMk cId="3496997665" sldId="591"/>
            <ac:spMk id="2" creationId="{E1371AA6-5DD4-49C6-AC4D-AD17C6650B9E}"/>
          </ac:spMkLst>
        </pc:spChg>
      </pc:sldChg>
      <pc:sldChg chg="modSp mod">
        <pc:chgData name="P Moran" userId="204e4a19ae7aee6c" providerId="LiveId" clId="{5E9A0CFF-19BB-40F0-ACF3-335ACED13F47}" dt="2025-04-22T07:12:59.873" v="36" actId="13926"/>
        <pc:sldMkLst>
          <pc:docMk/>
          <pc:sldMk cId="1459009125" sldId="592"/>
        </pc:sldMkLst>
        <pc:spChg chg="mod">
          <ac:chgData name="P Moran" userId="204e4a19ae7aee6c" providerId="LiveId" clId="{5E9A0CFF-19BB-40F0-ACF3-335ACED13F47}" dt="2025-04-22T07:12:59.873" v="36" actId="13926"/>
          <ac:spMkLst>
            <pc:docMk/>
            <pc:sldMk cId="1459009125" sldId="592"/>
            <ac:spMk id="2" creationId="{E1371AA6-5DD4-49C6-AC4D-AD17C6650B9E}"/>
          </ac:spMkLst>
        </pc:spChg>
      </pc:sldChg>
      <pc:sldChg chg="addSp modSp mod">
        <pc:chgData name="P Moran" userId="204e4a19ae7aee6c" providerId="LiveId" clId="{5E9A0CFF-19BB-40F0-ACF3-335ACED13F47}" dt="2025-04-22T07:13:07.849" v="38" actId="13926"/>
        <pc:sldMkLst>
          <pc:docMk/>
          <pc:sldMk cId="4184710934" sldId="593"/>
        </pc:sldMkLst>
        <pc:spChg chg="mod">
          <ac:chgData name="P Moran" userId="204e4a19ae7aee6c" providerId="LiveId" clId="{5E9A0CFF-19BB-40F0-ACF3-335ACED13F47}" dt="2025-04-22T07:13:07.849" v="38" actId="13926"/>
          <ac:spMkLst>
            <pc:docMk/>
            <pc:sldMk cId="4184710934" sldId="593"/>
            <ac:spMk id="2" creationId="{6AA0A755-710F-4ACC-AA61-E96A1BC03E85}"/>
          </ac:spMkLst>
        </pc:spChg>
        <pc:picChg chg="add mod">
          <ac:chgData name="P Moran" userId="204e4a19ae7aee6c" providerId="LiveId" clId="{5E9A0CFF-19BB-40F0-ACF3-335ACED13F47}" dt="2025-04-22T07:09:32.967" v="16" actId="14100"/>
          <ac:picMkLst>
            <pc:docMk/>
            <pc:sldMk cId="4184710934" sldId="593"/>
            <ac:picMk id="6" creationId="{C71BE5F4-4B61-7EB4-A8F7-1D115D0397DD}"/>
          </ac:picMkLst>
        </pc:picChg>
        <pc:picChg chg="add mod">
          <ac:chgData name="P Moran" userId="204e4a19ae7aee6c" providerId="LiveId" clId="{5E9A0CFF-19BB-40F0-ACF3-335ACED13F47}" dt="2025-04-22T07:09:27.695" v="14" actId="14100"/>
          <ac:picMkLst>
            <pc:docMk/>
            <pc:sldMk cId="4184710934" sldId="593"/>
            <ac:picMk id="9" creationId="{66EAECF2-4BD1-B457-B805-6314DD0D5821}"/>
          </ac:picMkLst>
        </pc:picChg>
      </pc:sldChg>
      <pc:sldChg chg="addSp modSp mod">
        <pc:chgData name="P Moran" userId="204e4a19ae7aee6c" providerId="LiveId" clId="{5E9A0CFF-19BB-40F0-ACF3-335ACED13F47}" dt="2025-04-22T07:13:16.339" v="40" actId="122"/>
        <pc:sldMkLst>
          <pc:docMk/>
          <pc:sldMk cId="2894641579" sldId="594"/>
        </pc:sldMkLst>
        <pc:spChg chg="mod">
          <ac:chgData name="P Moran" userId="204e4a19ae7aee6c" providerId="LiveId" clId="{5E9A0CFF-19BB-40F0-ACF3-335ACED13F47}" dt="2025-04-22T07:13:16.339" v="40" actId="122"/>
          <ac:spMkLst>
            <pc:docMk/>
            <pc:sldMk cId="2894641579" sldId="594"/>
            <ac:spMk id="2" creationId="{6AA0A755-710F-4ACC-AA61-E96A1BC03E85}"/>
          </ac:spMkLst>
        </pc:spChg>
        <pc:spChg chg="mod">
          <ac:chgData name="P Moran" userId="204e4a19ae7aee6c" providerId="LiveId" clId="{5E9A0CFF-19BB-40F0-ACF3-335ACED13F47}" dt="2025-04-22T07:11:19.089" v="18" actId="1076"/>
          <ac:spMkLst>
            <pc:docMk/>
            <pc:sldMk cId="2894641579" sldId="594"/>
            <ac:spMk id="4" creationId="{D5EDD9BC-226C-4D2D-BC17-39AB9190803A}"/>
          </ac:spMkLst>
        </pc:spChg>
        <pc:picChg chg="add mod">
          <ac:chgData name="P Moran" userId="204e4a19ae7aee6c" providerId="LiveId" clId="{5E9A0CFF-19BB-40F0-ACF3-335ACED13F47}" dt="2025-04-22T07:11:28.770" v="21" actId="14100"/>
          <ac:picMkLst>
            <pc:docMk/>
            <pc:sldMk cId="2894641579" sldId="594"/>
            <ac:picMk id="6" creationId="{34726BA8-6816-EFA8-CDB1-BA4FD75B1111}"/>
          </ac:picMkLst>
        </pc:picChg>
      </pc:sldChg>
      <pc:sldChg chg="modSp mod">
        <pc:chgData name="P Moran" userId="204e4a19ae7aee6c" providerId="LiveId" clId="{5E9A0CFF-19BB-40F0-ACF3-335ACED13F47}" dt="2025-04-22T07:13:26.012" v="42" actId="122"/>
        <pc:sldMkLst>
          <pc:docMk/>
          <pc:sldMk cId="1900611707" sldId="595"/>
        </pc:sldMkLst>
        <pc:spChg chg="mod">
          <ac:chgData name="P Moran" userId="204e4a19ae7aee6c" providerId="LiveId" clId="{5E9A0CFF-19BB-40F0-ACF3-335ACED13F47}" dt="2025-04-22T07:13:26.012" v="42" actId="122"/>
          <ac:spMkLst>
            <pc:docMk/>
            <pc:sldMk cId="1900611707" sldId="595"/>
            <ac:spMk id="2" creationId="{45C81E65-A48C-4FB7-ACF5-B2298D168DBF}"/>
          </ac:spMkLst>
        </pc:spChg>
      </pc:sldChg>
      <pc:sldChg chg="modSp mod">
        <pc:chgData name="P Moran" userId="204e4a19ae7aee6c" providerId="LiveId" clId="{5E9A0CFF-19BB-40F0-ACF3-335ACED13F47}" dt="2025-04-22T07:13:36.833" v="44" actId="13926"/>
        <pc:sldMkLst>
          <pc:docMk/>
          <pc:sldMk cId="823782980" sldId="596"/>
        </pc:sldMkLst>
        <pc:spChg chg="mod">
          <ac:chgData name="P Moran" userId="204e4a19ae7aee6c" providerId="LiveId" clId="{5E9A0CFF-19BB-40F0-ACF3-335ACED13F47}" dt="2025-04-22T07:13:36.833" v="44" actId="13926"/>
          <ac:spMkLst>
            <pc:docMk/>
            <pc:sldMk cId="823782980" sldId="596"/>
            <ac:spMk id="2" creationId="{45C81E65-A48C-4FB7-ACF5-B2298D168DBF}"/>
          </ac:spMkLst>
        </pc:spChg>
      </pc:sldChg>
      <pc:sldChg chg="modSp mod">
        <pc:chgData name="P Moran" userId="204e4a19ae7aee6c" providerId="LiveId" clId="{5E9A0CFF-19BB-40F0-ACF3-335ACED13F47}" dt="2025-04-22T07:13:55.506" v="46" actId="122"/>
        <pc:sldMkLst>
          <pc:docMk/>
          <pc:sldMk cId="3809741523" sldId="597"/>
        </pc:sldMkLst>
        <pc:spChg chg="mod">
          <ac:chgData name="P Moran" userId="204e4a19ae7aee6c" providerId="LiveId" clId="{5E9A0CFF-19BB-40F0-ACF3-335ACED13F47}" dt="2025-04-22T07:13:55.506" v="46" actId="122"/>
          <ac:spMkLst>
            <pc:docMk/>
            <pc:sldMk cId="3809741523" sldId="597"/>
            <ac:spMk id="2" creationId="{45C81E65-A48C-4FB7-ACF5-B2298D168DBF}"/>
          </ac:spMkLst>
        </pc:spChg>
      </pc:sldChg>
      <pc:sldChg chg="addSp modSp mod">
        <pc:chgData name="P Moran" userId="204e4a19ae7aee6c" providerId="LiveId" clId="{5E9A0CFF-19BB-40F0-ACF3-335ACED13F47}" dt="2025-04-22T07:14:47.625" v="52" actId="14100"/>
        <pc:sldMkLst>
          <pc:docMk/>
          <pc:sldMk cId="2508305838" sldId="598"/>
        </pc:sldMkLst>
        <pc:spChg chg="mod">
          <ac:chgData name="P Moran" userId="204e4a19ae7aee6c" providerId="LiveId" clId="{5E9A0CFF-19BB-40F0-ACF3-335ACED13F47}" dt="2025-04-22T07:14:04.009" v="48" actId="13926"/>
          <ac:spMkLst>
            <pc:docMk/>
            <pc:sldMk cId="2508305838" sldId="598"/>
            <ac:spMk id="2" creationId="{45C81E65-A48C-4FB7-ACF5-B2298D168DBF}"/>
          </ac:spMkLst>
        </pc:spChg>
        <pc:picChg chg="add mod">
          <ac:chgData name="P Moran" userId="204e4a19ae7aee6c" providerId="LiveId" clId="{5E9A0CFF-19BB-40F0-ACF3-335ACED13F47}" dt="2025-04-22T07:14:47.625" v="52" actId="14100"/>
          <ac:picMkLst>
            <pc:docMk/>
            <pc:sldMk cId="2508305838" sldId="598"/>
            <ac:picMk id="6" creationId="{B20E6A0A-F7D1-D2C7-4499-F1F344139C78}"/>
          </ac:picMkLst>
        </pc:picChg>
      </pc:sldChg>
      <pc:sldChg chg="modSp mod">
        <pc:chgData name="P Moran" userId="204e4a19ae7aee6c" providerId="LiveId" clId="{5E9A0CFF-19BB-40F0-ACF3-335ACED13F47}" dt="2025-04-22T07:14:58.788" v="54" actId="122"/>
        <pc:sldMkLst>
          <pc:docMk/>
          <pc:sldMk cId="3939588309" sldId="599"/>
        </pc:sldMkLst>
        <pc:spChg chg="mod">
          <ac:chgData name="P Moran" userId="204e4a19ae7aee6c" providerId="LiveId" clId="{5E9A0CFF-19BB-40F0-ACF3-335ACED13F47}" dt="2025-04-22T07:14:58.788" v="54" actId="122"/>
          <ac:spMkLst>
            <pc:docMk/>
            <pc:sldMk cId="3939588309" sldId="599"/>
            <ac:spMk id="2" creationId="{45C81E65-A48C-4FB7-ACF5-B2298D168DBF}"/>
          </ac:spMkLst>
        </pc:spChg>
      </pc:sldChg>
      <pc:sldChg chg="modSp mod">
        <pc:chgData name="P Moran" userId="204e4a19ae7aee6c" providerId="LiveId" clId="{5E9A0CFF-19BB-40F0-ACF3-335ACED13F47}" dt="2025-04-22T07:15:29.778" v="57" actId="13926"/>
        <pc:sldMkLst>
          <pc:docMk/>
          <pc:sldMk cId="3769887284" sldId="600"/>
        </pc:sldMkLst>
        <pc:spChg chg="mod">
          <ac:chgData name="P Moran" userId="204e4a19ae7aee6c" providerId="LiveId" clId="{5E9A0CFF-19BB-40F0-ACF3-335ACED13F47}" dt="2025-04-22T07:15:29.778" v="57" actId="13926"/>
          <ac:spMkLst>
            <pc:docMk/>
            <pc:sldMk cId="3769887284" sldId="600"/>
            <ac:spMk id="2" creationId="{67725146-AFDB-4E75-B81D-6C8539612404}"/>
          </ac:spMkLst>
        </pc:spChg>
      </pc:sldChg>
      <pc:sldChg chg="modSp mod">
        <pc:chgData name="P Moran" userId="204e4a19ae7aee6c" providerId="LiveId" clId="{5E9A0CFF-19BB-40F0-ACF3-335ACED13F47}" dt="2025-04-22T07:15:44.424" v="60" actId="13926"/>
        <pc:sldMkLst>
          <pc:docMk/>
          <pc:sldMk cId="3552033567" sldId="601"/>
        </pc:sldMkLst>
        <pc:spChg chg="mod">
          <ac:chgData name="P Moran" userId="204e4a19ae7aee6c" providerId="LiveId" clId="{5E9A0CFF-19BB-40F0-ACF3-335ACED13F47}" dt="2025-04-22T07:15:44.424" v="60" actId="13926"/>
          <ac:spMkLst>
            <pc:docMk/>
            <pc:sldMk cId="3552033567" sldId="601"/>
            <ac:spMk id="2" creationId="{67725146-AFDB-4E75-B81D-6C8539612404}"/>
          </ac:spMkLst>
        </pc:spChg>
      </pc:sldChg>
      <pc:sldChg chg="modSp mod">
        <pc:chgData name="P Moran" userId="204e4a19ae7aee6c" providerId="LiveId" clId="{5E9A0CFF-19BB-40F0-ACF3-335ACED13F47}" dt="2025-04-22T07:15:59.611" v="62" actId="122"/>
        <pc:sldMkLst>
          <pc:docMk/>
          <pc:sldMk cId="3963350304" sldId="602"/>
        </pc:sldMkLst>
        <pc:spChg chg="mod">
          <ac:chgData name="P Moran" userId="204e4a19ae7aee6c" providerId="LiveId" clId="{5E9A0CFF-19BB-40F0-ACF3-335ACED13F47}" dt="2025-04-22T07:15:59.611" v="62" actId="122"/>
          <ac:spMkLst>
            <pc:docMk/>
            <pc:sldMk cId="3963350304" sldId="602"/>
            <ac:spMk id="2" creationId="{45C81E65-A48C-4FB7-ACF5-B2298D168DBF}"/>
          </ac:spMkLst>
        </pc:spChg>
      </pc:sldChg>
      <pc:sldChg chg="modSp mod">
        <pc:chgData name="P Moran" userId="204e4a19ae7aee6c" providerId="LiveId" clId="{5E9A0CFF-19BB-40F0-ACF3-335ACED13F47}" dt="2025-04-22T07:16:18.393" v="66" actId="13926"/>
        <pc:sldMkLst>
          <pc:docMk/>
          <pc:sldMk cId="3415338267" sldId="603"/>
        </pc:sldMkLst>
        <pc:spChg chg="mod">
          <ac:chgData name="P Moran" userId="204e4a19ae7aee6c" providerId="LiveId" clId="{5E9A0CFF-19BB-40F0-ACF3-335ACED13F47}" dt="2025-04-22T07:16:18.393" v="66" actId="13926"/>
          <ac:spMkLst>
            <pc:docMk/>
            <pc:sldMk cId="3415338267" sldId="603"/>
            <ac:spMk id="2" creationId="{A1260976-3B48-4582-AAEB-D509540ADD93}"/>
          </ac:spMkLst>
        </pc:spChg>
      </pc:sldChg>
      <pc:sldChg chg="modSp mod">
        <pc:chgData name="P Moran" userId="204e4a19ae7aee6c" providerId="LiveId" clId="{5E9A0CFF-19BB-40F0-ACF3-335ACED13F47}" dt="2025-04-22T07:17:05.798" v="75" actId="1076"/>
        <pc:sldMkLst>
          <pc:docMk/>
          <pc:sldMk cId="1704013220" sldId="604"/>
        </pc:sldMkLst>
        <pc:spChg chg="mod">
          <ac:chgData name="P Moran" userId="204e4a19ae7aee6c" providerId="LiveId" clId="{5E9A0CFF-19BB-40F0-ACF3-335ACED13F47}" dt="2025-04-22T07:16:56.258" v="74" actId="120"/>
          <ac:spMkLst>
            <pc:docMk/>
            <pc:sldMk cId="1704013220" sldId="604"/>
            <ac:spMk id="2" creationId="{45C81E65-A48C-4FB7-ACF5-B2298D168DBF}"/>
          </ac:spMkLst>
        </pc:spChg>
        <pc:spChg chg="mod">
          <ac:chgData name="P Moran" userId="204e4a19ae7aee6c" providerId="LiveId" clId="{5E9A0CFF-19BB-40F0-ACF3-335ACED13F47}" dt="2025-04-22T07:17:05.798" v="75" actId="1076"/>
          <ac:spMkLst>
            <pc:docMk/>
            <pc:sldMk cId="1704013220" sldId="604"/>
            <ac:spMk id="3" creationId="{1EBF7067-055C-4B51-9994-502D4B2E0364}"/>
          </ac:spMkLst>
        </pc:spChg>
        <pc:spChg chg="mod">
          <ac:chgData name="P Moran" userId="204e4a19ae7aee6c" providerId="LiveId" clId="{5E9A0CFF-19BB-40F0-ACF3-335ACED13F47}" dt="2025-04-22T07:16:40.449" v="69" actId="1076"/>
          <ac:spMkLst>
            <pc:docMk/>
            <pc:sldMk cId="1704013220" sldId="604"/>
            <ac:spMk id="4" creationId="{BC0F48E5-32FF-4D6F-9DB6-575CC2D5995D}"/>
          </ac:spMkLst>
        </pc:spChg>
      </pc:sldChg>
      <pc:sldChg chg="modSp mod">
        <pc:chgData name="P Moran" userId="204e4a19ae7aee6c" providerId="LiveId" clId="{5E9A0CFF-19BB-40F0-ACF3-335ACED13F47}" dt="2025-04-22T07:17:18.402" v="77" actId="122"/>
        <pc:sldMkLst>
          <pc:docMk/>
          <pc:sldMk cId="904869743" sldId="605"/>
        </pc:sldMkLst>
        <pc:spChg chg="mod">
          <ac:chgData name="P Moran" userId="204e4a19ae7aee6c" providerId="LiveId" clId="{5E9A0CFF-19BB-40F0-ACF3-335ACED13F47}" dt="2025-04-22T07:17:18.402" v="77" actId="122"/>
          <ac:spMkLst>
            <pc:docMk/>
            <pc:sldMk cId="904869743" sldId="605"/>
            <ac:spMk id="2" creationId="{45C81E65-A48C-4FB7-ACF5-B2298D168DBF}"/>
          </ac:spMkLst>
        </pc:spChg>
      </pc:sldChg>
      <pc:sldChg chg="modSp mod">
        <pc:chgData name="P Moran" userId="204e4a19ae7aee6c" providerId="LiveId" clId="{5E9A0CFF-19BB-40F0-ACF3-335ACED13F47}" dt="2025-04-22T07:17:31.115" v="79" actId="122"/>
        <pc:sldMkLst>
          <pc:docMk/>
          <pc:sldMk cId="1964867312" sldId="606"/>
        </pc:sldMkLst>
        <pc:spChg chg="mod">
          <ac:chgData name="P Moran" userId="204e4a19ae7aee6c" providerId="LiveId" clId="{5E9A0CFF-19BB-40F0-ACF3-335ACED13F47}" dt="2025-04-22T07:17:31.115" v="79" actId="122"/>
          <ac:spMkLst>
            <pc:docMk/>
            <pc:sldMk cId="1964867312" sldId="606"/>
            <ac:spMk id="2" creationId="{45C81E65-A48C-4FB7-ACF5-B2298D168DBF}"/>
          </ac:spMkLst>
        </pc:spChg>
      </pc:sldChg>
      <pc:sldChg chg="modSp mod">
        <pc:chgData name="P Moran" userId="204e4a19ae7aee6c" providerId="LiveId" clId="{5E9A0CFF-19BB-40F0-ACF3-335ACED13F47}" dt="2025-04-22T07:17:42.249" v="81" actId="122"/>
        <pc:sldMkLst>
          <pc:docMk/>
          <pc:sldMk cId="3638948873" sldId="607"/>
        </pc:sldMkLst>
        <pc:spChg chg="mod">
          <ac:chgData name="P Moran" userId="204e4a19ae7aee6c" providerId="LiveId" clId="{5E9A0CFF-19BB-40F0-ACF3-335ACED13F47}" dt="2025-04-22T07:17:42.249" v="81" actId="122"/>
          <ac:spMkLst>
            <pc:docMk/>
            <pc:sldMk cId="3638948873" sldId="607"/>
            <ac:spMk id="2" creationId="{67725146-AFDB-4E75-B81D-6C8539612404}"/>
          </ac:spMkLst>
        </pc:spChg>
      </pc:sldChg>
      <pc:sldChg chg="modSp mod">
        <pc:chgData name="P Moran" userId="204e4a19ae7aee6c" providerId="LiveId" clId="{5E9A0CFF-19BB-40F0-ACF3-335ACED13F47}" dt="2025-04-22T07:17:57.762" v="83" actId="13926"/>
        <pc:sldMkLst>
          <pc:docMk/>
          <pc:sldMk cId="2957930704" sldId="608"/>
        </pc:sldMkLst>
        <pc:spChg chg="mod">
          <ac:chgData name="P Moran" userId="204e4a19ae7aee6c" providerId="LiveId" clId="{5E9A0CFF-19BB-40F0-ACF3-335ACED13F47}" dt="2025-04-22T07:17:57.762" v="83" actId="13926"/>
          <ac:spMkLst>
            <pc:docMk/>
            <pc:sldMk cId="2957930704" sldId="608"/>
            <ac:spMk id="2" creationId="{21484B90-D959-45C6-9562-2B99A6B48979}"/>
          </ac:spMkLst>
        </pc:spChg>
      </pc:sldChg>
      <pc:sldChg chg="addSp modSp mod">
        <pc:chgData name="P Moran" userId="204e4a19ae7aee6c" providerId="LiveId" clId="{5E9A0CFF-19BB-40F0-ACF3-335ACED13F47}" dt="2025-04-22T07:23:50.872" v="89" actId="14100"/>
        <pc:sldMkLst>
          <pc:docMk/>
          <pc:sldMk cId="3189715537" sldId="609"/>
        </pc:sldMkLst>
        <pc:spChg chg="mod">
          <ac:chgData name="P Moran" userId="204e4a19ae7aee6c" providerId="LiveId" clId="{5E9A0CFF-19BB-40F0-ACF3-335ACED13F47}" dt="2025-04-22T07:18:09.633" v="85" actId="122"/>
          <ac:spMkLst>
            <pc:docMk/>
            <pc:sldMk cId="3189715537" sldId="609"/>
            <ac:spMk id="2" creationId="{13CD8FA0-8264-467C-9268-E4F2E8A922B5}"/>
          </ac:spMkLst>
        </pc:spChg>
        <pc:spChg chg="mod">
          <ac:chgData name="P Moran" userId="204e4a19ae7aee6c" providerId="LiveId" clId="{5E9A0CFF-19BB-40F0-ACF3-335ACED13F47}" dt="2025-04-22T07:18:14.409" v="86" actId="14100"/>
          <ac:spMkLst>
            <pc:docMk/>
            <pc:sldMk cId="3189715537" sldId="609"/>
            <ac:spMk id="3" creationId="{DF43C994-1887-4EF3-9049-1AB85BD3D240}"/>
          </ac:spMkLst>
        </pc:spChg>
        <pc:picChg chg="add mod">
          <ac:chgData name="P Moran" userId="204e4a19ae7aee6c" providerId="LiveId" clId="{5E9A0CFF-19BB-40F0-ACF3-335ACED13F47}" dt="2025-04-22T07:23:50.872" v="89" actId="14100"/>
          <ac:picMkLst>
            <pc:docMk/>
            <pc:sldMk cId="3189715537" sldId="609"/>
            <ac:picMk id="5" creationId="{7588A390-B77C-6756-0F2E-DFD2D137E441}"/>
          </ac:picMkLst>
        </pc:picChg>
      </pc:sldChg>
      <pc:sldChg chg="modSp mod">
        <pc:chgData name="P Moran" userId="204e4a19ae7aee6c" providerId="LiveId" clId="{5E9A0CFF-19BB-40F0-ACF3-335ACED13F47}" dt="2025-04-22T07:26:47.580" v="91" actId="122"/>
        <pc:sldMkLst>
          <pc:docMk/>
          <pc:sldMk cId="2378795885" sldId="610"/>
        </pc:sldMkLst>
        <pc:spChg chg="mod">
          <ac:chgData name="P Moran" userId="204e4a19ae7aee6c" providerId="LiveId" clId="{5E9A0CFF-19BB-40F0-ACF3-335ACED13F47}" dt="2025-04-22T07:26:47.580" v="91" actId="122"/>
          <ac:spMkLst>
            <pc:docMk/>
            <pc:sldMk cId="2378795885" sldId="610"/>
            <ac:spMk id="2" creationId="{67725146-AFDB-4E75-B81D-6C8539612404}"/>
          </ac:spMkLst>
        </pc:spChg>
      </pc:sldChg>
      <pc:sldChg chg="modSp mod">
        <pc:chgData name="P Moran" userId="204e4a19ae7aee6c" providerId="LiveId" clId="{5E9A0CFF-19BB-40F0-ACF3-335ACED13F47}" dt="2025-04-22T07:26:57.664" v="93" actId="13926"/>
        <pc:sldMkLst>
          <pc:docMk/>
          <pc:sldMk cId="1161562472" sldId="611"/>
        </pc:sldMkLst>
        <pc:spChg chg="mod">
          <ac:chgData name="P Moran" userId="204e4a19ae7aee6c" providerId="LiveId" clId="{5E9A0CFF-19BB-40F0-ACF3-335ACED13F47}" dt="2025-04-22T07:26:57.664" v="93" actId="13926"/>
          <ac:spMkLst>
            <pc:docMk/>
            <pc:sldMk cId="1161562472" sldId="611"/>
            <ac:spMk id="2" creationId="{67725146-AFDB-4E75-B81D-6C8539612404}"/>
          </ac:spMkLst>
        </pc:spChg>
      </pc:sldChg>
      <pc:sldChg chg="modSp mod">
        <pc:chgData name="P Moran" userId="204e4a19ae7aee6c" providerId="LiveId" clId="{5E9A0CFF-19BB-40F0-ACF3-335ACED13F47}" dt="2025-04-22T07:27:06.106" v="95" actId="122"/>
        <pc:sldMkLst>
          <pc:docMk/>
          <pc:sldMk cId="3033425118" sldId="612"/>
        </pc:sldMkLst>
        <pc:spChg chg="mod">
          <ac:chgData name="P Moran" userId="204e4a19ae7aee6c" providerId="LiveId" clId="{5E9A0CFF-19BB-40F0-ACF3-335ACED13F47}" dt="2025-04-22T07:27:06.106" v="95" actId="122"/>
          <ac:spMkLst>
            <pc:docMk/>
            <pc:sldMk cId="3033425118" sldId="612"/>
            <ac:spMk id="2" creationId="{67725146-AFDB-4E75-B81D-6C8539612404}"/>
          </ac:spMkLst>
        </pc:spChg>
      </pc:sldChg>
      <pc:sldChg chg="modSp mod">
        <pc:chgData name="P Moran" userId="204e4a19ae7aee6c" providerId="LiveId" clId="{5E9A0CFF-19BB-40F0-ACF3-335ACED13F47}" dt="2025-04-22T07:27:24.456" v="98" actId="122"/>
        <pc:sldMkLst>
          <pc:docMk/>
          <pc:sldMk cId="2391956562" sldId="613"/>
        </pc:sldMkLst>
        <pc:spChg chg="mod">
          <ac:chgData name="P Moran" userId="204e4a19ae7aee6c" providerId="LiveId" clId="{5E9A0CFF-19BB-40F0-ACF3-335ACED13F47}" dt="2025-04-22T07:27:24.456" v="98" actId="122"/>
          <ac:spMkLst>
            <pc:docMk/>
            <pc:sldMk cId="2391956562" sldId="613"/>
            <ac:spMk id="2" creationId="{21484B90-D959-45C6-9562-2B99A6B48979}"/>
          </ac:spMkLst>
        </pc:spChg>
      </pc:sldChg>
      <pc:sldChg chg="modSp mod">
        <pc:chgData name="P Moran" userId="204e4a19ae7aee6c" providerId="LiveId" clId="{5E9A0CFF-19BB-40F0-ACF3-335ACED13F47}" dt="2025-04-22T07:27:36.835" v="100" actId="122"/>
        <pc:sldMkLst>
          <pc:docMk/>
          <pc:sldMk cId="2337329245" sldId="614"/>
        </pc:sldMkLst>
        <pc:spChg chg="mod">
          <ac:chgData name="P Moran" userId="204e4a19ae7aee6c" providerId="LiveId" clId="{5E9A0CFF-19BB-40F0-ACF3-335ACED13F47}" dt="2025-04-22T07:27:36.835" v="100" actId="122"/>
          <ac:spMkLst>
            <pc:docMk/>
            <pc:sldMk cId="2337329245" sldId="614"/>
            <ac:spMk id="2" creationId="{67725146-AFDB-4E75-B81D-6C8539612404}"/>
          </ac:spMkLst>
        </pc:spChg>
      </pc:sldChg>
      <pc:sldChg chg="modSp mod">
        <pc:chgData name="P Moran" userId="204e4a19ae7aee6c" providerId="LiveId" clId="{5E9A0CFF-19BB-40F0-ACF3-335ACED13F47}" dt="2025-04-22T07:27:45.621" v="102" actId="122"/>
        <pc:sldMkLst>
          <pc:docMk/>
          <pc:sldMk cId="3492860583" sldId="615"/>
        </pc:sldMkLst>
        <pc:spChg chg="mod">
          <ac:chgData name="P Moran" userId="204e4a19ae7aee6c" providerId="LiveId" clId="{5E9A0CFF-19BB-40F0-ACF3-335ACED13F47}" dt="2025-04-22T07:27:45.621" v="102" actId="122"/>
          <ac:spMkLst>
            <pc:docMk/>
            <pc:sldMk cId="3492860583" sldId="615"/>
            <ac:spMk id="2" creationId="{67725146-AFDB-4E75-B81D-6C8539612404}"/>
          </ac:spMkLst>
        </pc:spChg>
      </pc:sldChg>
      <pc:sldChg chg="modSp mod">
        <pc:chgData name="P Moran" userId="204e4a19ae7aee6c" providerId="LiveId" clId="{5E9A0CFF-19BB-40F0-ACF3-335ACED13F47}" dt="2025-04-22T07:28:08.691" v="116" actId="13926"/>
        <pc:sldMkLst>
          <pc:docMk/>
          <pc:sldMk cId="3289102126" sldId="616"/>
        </pc:sldMkLst>
        <pc:spChg chg="mod">
          <ac:chgData name="P Moran" userId="204e4a19ae7aee6c" providerId="LiveId" clId="{5E9A0CFF-19BB-40F0-ACF3-335ACED13F47}" dt="2025-04-22T07:28:08.691" v="116" actId="13926"/>
          <ac:spMkLst>
            <pc:docMk/>
            <pc:sldMk cId="3289102126" sldId="616"/>
            <ac:spMk id="2" creationId="{0857A713-12C9-48FF-B0BC-6FB042B2030D}"/>
          </ac:spMkLst>
        </pc:spChg>
      </pc:sldChg>
      <pc:sldChg chg="addSp modSp mod">
        <pc:chgData name="P Moran" userId="204e4a19ae7aee6c" providerId="LiveId" clId="{5E9A0CFF-19BB-40F0-ACF3-335ACED13F47}" dt="2025-04-22T07:29:49.440" v="122" actId="14100"/>
        <pc:sldMkLst>
          <pc:docMk/>
          <pc:sldMk cId="2087351646" sldId="617"/>
        </pc:sldMkLst>
        <pc:spChg chg="mod">
          <ac:chgData name="P Moran" userId="204e4a19ae7aee6c" providerId="LiveId" clId="{5E9A0CFF-19BB-40F0-ACF3-335ACED13F47}" dt="2025-04-22T07:28:15.483" v="118" actId="122"/>
          <ac:spMkLst>
            <pc:docMk/>
            <pc:sldMk cId="2087351646" sldId="617"/>
            <ac:spMk id="2" creationId="{0857A713-12C9-48FF-B0BC-6FB042B2030D}"/>
          </ac:spMkLst>
        </pc:spChg>
        <pc:spChg chg="mod">
          <ac:chgData name="P Moran" userId="204e4a19ae7aee6c" providerId="LiveId" clId="{5E9A0CFF-19BB-40F0-ACF3-335ACED13F47}" dt="2025-04-22T07:28:22.089" v="119" actId="14100"/>
          <ac:spMkLst>
            <pc:docMk/>
            <pc:sldMk cId="2087351646" sldId="617"/>
            <ac:spMk id="3" creationId="{80547468-C664-4C2B-84BF-50407F33F2F5}"/>
          </ac:spMkLst>
        </pc:spChg>
        <pc:picChg chg="add mod">
          <ac:chgData name="P Moran" userId="204e4a19ae7aee6c" providerId="LiveId" clId="{5E9A0CFF-19BB-40F0-ACF3-335ACED13F47}" dt="2025-04-22T07:29:49.440" v="122" actId="14100"/>
          <ac:picMkLst>
            <pc:docMk/>
            <pc:sldMk cId="2087351646" sldId="617"/>
            <ac:picMk id="5" creationId="{E89EE6E1-B5C4-0B6E-7E7E-4E6EC932D268}"/>
          </ac:picMkLst>
        </pc:picChg>
      </pc:sldChg>
      <pc:sldChg chg="addSp modSp mod modAnim">
        <pc:chgData name="P Moran" userId="204e4a19ae7aee6c" providerId="LiveId" clId="{5E9A0CFF-19BB-40F0-ACF3-335ACED13F47}" dt="2025-04-22T07:31:40.961" v="128" actId="1076"/>
        <pc:sldMkLst>
          <pc:docMk/>
          <pc:sldMk cId="1766196983" sldId="618"/>
        </pc:sldMkLst>
        <pc:spChg chg="mod">
          <ac:chgData name="P Moran" userId="204e4a19ae7aee6c" providerId="LiveId" clId="{5E9A0CFF-19BB-40F0-ACF3-335ACED13F47}" dt="2025-04-22T07:29:57.652" v="124" actId="122"/>
          <ac:spMkLst>
            <pc:docMk/>
            <pc:sldMk cId="1766196983" sldId="618"/>
            <ac:spMk id="2" creationId="{0857A713-12C9-48FF-B0BC-6FB042B2030D}"/>
          </ac:spMkLst>
        </pc:spChg>
        <pc:spChg chg="mod">
          <ac:chgData name="P Moran" userId="204e4a19ae7aee6c" providerId="LiveId" clId="{5E9A0CFF-19BB-40F0-ACF3-335ACED13F47}" dt="2025-04-22T07:30:02.502" v="125" actId="14100"/>
          <ac:spMkLst>
            <pc:docMk/>
            <pc:sldMk cId="1766196983" sldId="618"/>
            <ac:spMk id="3" creationId="{80547468-C664-4C2B-84BF-50407F33F2F5}"/>
          </ac:spMkLst>
        </pc:spChg>
        <pc:picChg chg="add mod">
          <ac:chgData name="P Moran" userId="204e4a19ae7aee6c" providerId="LiveId" clId="{5E9A0CFF-19BB-40F0-ACF3-335ACED13F47}" dt="2025-04-22T07:31:40.961" v="128" actId="1076"/>
          <ac:picMkLst>
            <pc:docMk/>
            <pc:sldMk cId="1766196983" sldId="618"/>
            <ac:picMk id="5" creationId="{8145D6EB-8FDA-7436-8939-8617CF3FE91A}"/>
          </ac:picMkLst>
        </pc:picChg>
      </pc:sldChg>
      <pc:sldChg chg="modSp mod">
        <pc:chgData name="P Moran" userId="204e4a19ae7aee6c" providerId="LiveId" clId="{5E9A0CFF-19BB-40F0-ACF3-335ACED13F47}" dt="2025-04-22T07:32:02.139" v="130" actId="122"/>
        <pc:sldMkLst>
          <pc:docMk/>
          <pc:sldMk cId="1945109724" sldId="619"/>
        </pc:sldMkLst>
        <pc:spChg chg="mod">
          <ac:chgData name="P Moran" userId="204e4a19ae7aee6c" providerId="LiveId" clId="{5E9A0CFF-19BB-40F0-ACF3-335ACED13F47}" dt="2025-04-22T07:32:02.139" v="130" actId="122"/>
          <ac:spMkLst>
            <pc:docMk/>
            <pc:sldMk cId="1945109724" sldId="619"/>
            <ac:spMk id="2" creationId="{4478FCBA-E936-44F2-8D3F-2C5AAE39AA98}"/>
          </ac:spMkLst>
        </pc:spChg>
      </pc:sldChg>
      <pc:sldChg chg="modSp mod">
        <pc:chgData name="P Moran" userId="204e4a19ae7aee6c" providerId="LiveId" clId="{5E9A0CFF-19BB-40F0-ACF3-335ACED13F47}" dt="2025-04-22T07:32:10.978" v="132" actId="122"/>
        <pc:sldMkLst>
          <pc:docMk/>
          <pc:sldMk cId="858675105" sldId="620"/>
        </pc:sldMkLst>
        <pc:spChg chg="mod">
          <ac:chgData name="P Moran" userId="204e4a19ae7aee6c" providerId="LiveId" clId="{5E9A0CFF-19BB-40F0-ACF3-335ACED13F47}" dt="2025-04-22T07:32:10.978" v="132" actId="122"/>
          <ac:spMkLst>
            <pc:docMk/>
            <pc:sldMk cId="858675105" sldId="620"/>
            <ac:spMk id="2" creationId="{0857A713-12C9-48FF-B0BC-6FB042B2030D}"/>
          </ac:spMkLst>
        </pc:spChg>
      </pc:sldChg>
      <pc:sldChg chg="modSp mod">
        <pc:chgData name="P Moran" userId="204e4a19ae7aee6c" providerId="LiveId" clId="{5E9A0CFF-19BB-40F0-ACF3-335ACED13F47}" dt="2025-04-22T07:32:27.281" v="135" actId="14100"/>
        <pc:sldMkLst>
          <pc:docMk/>
          <pc:sldMk cId="587892225" sldId="621"/>
        </pc:sldMkLst>
        <pc:spChg chg="mod">
          <ac:chgData name="P Moran" userId="204e4a19ae7aee6c" providerId="LiveId" clId="{5E9A0CFF-19BB-40F0-ACF3-335ACED13F47}" dt="2025-04-22T07:32:24.698" v="134" actId="122"/>
          <ac:spMkLst>
            <pc:docMk/>
            <pc:sldMk cId="587892225" sldId="621"/>
            <ac:spMk id="2" creationId="{0857A713-12C9-48FF-B0BC-6FB042B2030D}"/>
          </ac:spMkLst>
        </pc:spChg>
        <pc:spChg chg="mod">
          <ac:chgData name="P Moran" userId="204e4a19ae7aee6c" providerId="LiveId" clId="{5E9A0CFF-19BB-40F0-ACF3-335ACED13F47}" dt="2025-04-22T07:32:27.281" v="135" actId="14100"/>
          <ac:spMkLst>
            <pc:docMk/>
            <pc:sldMk cId="587892225" sldId="621"/>
            <ac:spMk id="3" creationId="{80547468-C664-4C2B-84BF-50407F33F2F5}"/>
          </ac:spMkLst>
        </pc:spChg>
      </pc:sldChg>
      <pc:sldChg chg="modSp mod">
        <pc:chgData name="P Moran" userId="204e4a19ae7aee6c" providerId="LiveId" clId="{5E9A0CFF-19BB-40F0-ACF3-335ACED13F47}" dt="2025-04-22T07:32:35.970" v="136" actId="13926"/>
        <pc:sldMkLst>
          <pc:docMk/>
          <pc:sldMk cId="829703794" sldId="622"/>
        </pc:sldMkLst>
        <pc:spChg chg="mod">
          <ac:chgData name="P Moran" userId="204e4a19ae7aee6c" providerId="LiveId" clId="{5E9A0CFF-19BB-40F0-ACF3-335ACED13F47}" dt="2025-04-22T07:32:35.970" v="136" actId="13926"/>
          <ac:spMkLst>
            <pc:docMk/>
            <pc:sldMk cId="829703794" sldId="622"/>
            <ac:spMk id="2" creationId="{0857A713-12C9-48FF-B0BC-6FB042B2030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C15294-8BCE-4B15-84C9-4E8D5074478D}" type="datetimeFigureOut">
              <a:rPr lang="en-US" smtClean="0"/>
              <a:t>4/22/2025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56329-1779-487C-B587-BBABA473AA7C}" type="slidenum">
              <a:rPr lang="en-US" smtClean="0"/>
              <a:t>‹#›</a:t>
            </a:fld>
            <a:endParaRPr lang="en-US"/>
          </a:p>
        </p:txBody>
      </p:sp>
    </p:spTree>
    <p:extLst>
      <p:ext uri="{BB962C8B-B14F-4D97-AF65-F5344CB8AC3E}">
        <p14:creationId xmlns:p14="http://schemas.microsoft.com/office/powerpoint/2010/main" val="1955805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0D6C90F6-6BF9-4708-BB7D-CA22F176AE07}" type="slidenum">
              <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
        <p:nvSpPr>
          <p:cNvPr id="12289" name="Slide Image Placeholder 1"/>
          <p:cNvSpPr>
            <a:spLocks noGrp="1" noRot="1" noChangeAspect="1" noTextEdit="1"/>
          </p:cNvSpPr>
          <p:nvPr>
            <p:ph type="sldImg"/>
          </p:nvPr>
        </p:nvSpPr>
        <p:spPr>
          <a:xfrm>
            <a:off x="992188" y="768350"/>
            <a:ext cx="5114925" cy="3836988"/>
          </a:xfrm>
          <a:ln/>
        </p:spPr>
      </p:sp>
      <p:sp>
        <p:nvSpPr>
          <p:cNvPr id="12290" name="Notes Placeholder 2"/>
          <p:cNvSpPr>
            <a:spLocks noGrp="1"/>
          </p:cNvSpPr>
          <p:nvPr>
            <p:ph type="body" idx="1"/>
          </p:nvPr>
        </p:nvSpPr>
        <p:spPr>
          <a:noFill/>
          <a:ln/>
        </p:spPr>
        <p:txBody>
          <a:bodyPr/>
          <a:lstStyle/>
          <a:p>
            <a:endParaRPr lang="en-US" baseline="0" dirty="0">
              <a:ea typeface="ＭＳ Ｐゴシック"/>
              <a:cs typeface="ＭＳ Ｐゴシック"/>
            </a:endParaRPr>
          </a:p>
        </p:txBody>
      </p:sp>
      <p:sp>
        <p:nvSpPr>
          <p:cNvPr id="12291"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9048" tIns="49524" rIns="99048" bIns="49524" anchor="b"/>
          <a:lstStyle/>
          <a:p>
            <a:pPr marL="0" marR="0" lvl="0" indent="0" algn="r" defTabSz="990600" rtl="0" eaLnBrk="1" fontAlgn="base" latinLnBrk="0" hangingPunct="1">
              <a:lnSpc>
                <a:spcPct val="100000"/>
              </a:lnSpc>
              <a:spcBef>
                <a:spcPct val="0"/>
              </a:spcBef>
              <a:spcAft>
                <a:spcPct val="0"/>
              </a:spcAft>
              <a:buClrTx/>
              <a:buSzTx/>
              <a:buFontTx/>
              <a:buNone/>
              <a:tabLst/>
              <a:defRPr/>
            </a:pPr>
            <a:fld id="{105165CB-49A6-4291-B934-0D35AB6D5249}" type="slidenum">
              <a:rPr kumimoji="0" lang="en-AU" sz="1300" b="0" i="0" u="none" strike="noStrike" kern="1200" cap="none" spc="0" normalizeH="0" baseline="0" noProof="0">
                <a:ln>
                  <a:noFill/>
                </a:ln>
                <a:solidFill>
                  <a:srgbClr val="000000"/>
                </a:solidFill>
                <a:effectLst/>
                <a:uLnTx/>
                <a:uFillTx/>
                <a:latin typeface="Arial" charset="0"/>
                <a:ea typeface="ＭＳ Ｐゴシック"/>
              </a:rPr>
              <a:pPr marL="0" marR="0" lvl="0" indent="0" algn="r" defTabSz="990600" rtl="0" eaLnBrk="1" fontAlgn="base" latinLnBrk="0" hangingPunct="1">
                <a:lnSpc>
                  <a:spcPct val="100000"/>
                </a:lnSpc>
                <a:spcBef>
                  <a:spcPct val="0"/>
                </a:spcBef>
                <a:spcAft>
                  <a:spcPct val="0"/>
                </a:spcAft>
                <a:buClrTx/>
                <a:buSzTx/>
                <a:buFontTx/>
                <a:buNone/>
                <a:tabLst/>
                <a:defRPr/>
              </a:pPr>
              <a:t>1</a:t>
            </a:fld>
            <a:endParaRPr kumimoji="0" lang="en-AU" sz="1300" b="0" i="0" u="none" strike="noStrike" kern="1200" cap="none" spc="0" normalizeH="0" baseline="0" noProof="0">
              <a:ln>
                <a:noFill/>
              </a:ln>
              <a:solidFill>
                <a:srgbClr val="000000"/>
              </a:solidFill>
              <a:effectLst/>
              <a:uLnTx/>
              <a:uFillTx/>
              <a:latin typeface="Arial" charset="0"/>
              <a:ea typeface="ＭＳ Ｐゴシック"/>
            </a:endParaRPr>
          </a:p>
        </p:txBody>
      </p:sp>
    </p:spTree>
    <p:extLst>
      <p:ext uri="{BB962C8B-B14F-4D97-AF65-F5344CB8AC3E}">
        <p14:creationId xmlns:p14="http://schemas.microsoft.com/office/powerpoint/2010/main" val="91175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endParaRPr lang="en-US" sz="1200" dirty="0"/>
          </a:p>
        </p:txBody>
      </p:sp>
      <p:sp>
        <p:nvSpPr>
          <p:cNvPr id="4" name="Slide Number Placeholder 3"/>
          <p:cNvSpPr>
            <a:spLocks noGrp="1"/>
          </p:cNvSpPr>
          <p:nvPr>
            <p:ph type="sldNum" sz="quarter" idx="5"/>
          </p:nvPr>
        </p:nvSpPr>
        <p:spPr/>
        <p:txBody>
          <a:bodyPr/>
          <a:lstStyle/>
          <a:p>
            <a:fld id="{35356329-1779-487C-B587-BBABA473AA7C}" type="slidenum">
              <a:rPr lang="en-US" smtClean="0"/>
              <a:t>2</a:t>
            </a:fld>
            <a:endParaRPr lang="en-US"/>
          </a:p>
        </p:txBody>
      </p:sp>
    </p:spTree>
    <p:extLst>
      <p:ext uri="{BB962C8B-B14F-4D97-AF65-F5344CB8AC3E}">
        <p14:creationId xmlns:p14="http://schemas.microsoft.com/office/powerpoint/2010/main" val="245462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chapter explores ways of applying ethics, the moral principles and standards that guide the behavior of an individual or </a:t>
            </a:r>
            <a:r>
              <a:rPr lang="en-US"/>
              <a:t>group. We </a:t>
            </a:r>
            <a:r>
              <a:rPr lang="en-US" dirty="0"/>
              <a:t>do so based on the premise that employees, their employers, and their communities thrive over the long term when managers apply ethical standards that direct them to act with integrity.</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a:t>
            </a:fld>
            <a:endParaRPr lang="en-US"/>
          </a:p>
        </p:txBody>
      </p:sp>
    </p:spTree>
    <p:extLst>
      <p:ext uri="{BB962C8B-B14F-4D97-AF65-F5344CB8AC3E}">
        <p14:creationId xmlns:p14="http://schemas.microsoft.com/office/powerpoint/2010/main" val="4129667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may be used to explore the challenge of ethical boundaries not always being clear.</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4</a:t>
            </a:fld>
            <a:endParaRPr lang="en-US"/>
          </a:p>
        </p:txBody>
      </p:sp>
    </p:spTree>
    <p:extLst>
      <p:ext uri="{BB962C8B-B14F-4D97-AF65-F5344CB8AC3E}">
        <p14:creationId xmlns:p14="http://schemas.microsoft.com/office/powerpoint/2010/main" val="2350950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This slide recreates </a:t>
            </a:r>
            <a:r>
              <a:rPr kumimoji="0" lang="en-US" sz="1200" b="1" i="0" u="none" strike="noStrike" kern="1200" cap="none" spc="0" normalizeH="0" baseline="0" noProof="0" dirty="0">
                <a:ln>
                  <a:noFill/>
                </a:ln>
                <a:solidFill>
                  <a:prstClr val="black"/>
                </a:solidFill>
                <a:effectLst/>
                <a:uLnTx/>
                <a:uFillTx/>
                <a:latin typeface="+mn-lt"/>
                <a:ea typeface="+mn-ea"/>
                <a:cs typeface="+mn-cs"/>
              </a:rPr>
              <a:t>Exhibit 5.1 </a:t>
            </a:r>
            <a:r>
              <a:rPr kumimoji="0" lang="en-US" sz="1200" b="0" i="0" u="none" strike="noStrike" kern="1200" cap="none" spc="0" normalizeH="0" baseline="0" noProof="0" dirty="0">
                <a:ln>
                  <a:noFill/>
                </a:ln>
                <a:solidFill>
                  <a:prstClr val="black"/>
                </a:solidFill>
                <a:effectLst/>
                <a:uLnTx/>
                <a:uFillTx/>
                <a:latin typeface="+mn-lt"/>
                <a:ea typeface="+mn-ea"/>
                <a:cs typeface="+mn-cs"/>
              </a:rPr>
              <a:t>and can be an introduction to the consequences of behavior. </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5</a:t>
            </a:fld>
            <a:endParaRPr lang="en-US"/>
          </a:p>
        </p:txBody>
      </p:sp>
    </p:spTree>
    <p:extLst>
      <p:ext uri="{BB962C8B-B14F-4D97-AF65-F5344CB8AC3E}">
        <p14:creationId xmlns:p14="http://schemas.microsoft.com/office/powerpoint/2010/main" val="17115177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This slide recreates the second part of </a:t>
            </a:r>
            <a:r>
              <a:rPr kumimoji="0" lang="en-US" sz="1200" b="1" i="0" u="none" strike="noStrike" kern="1200" cap="none" spc="0" normalizeH="0" baseline="0" noProof="0" dirty="0">
                <a:ln>
                  <a:noFill/>
                </a:ln>
                <a:solidFill>
                  <a:prstClr val="black"/>
                </a:solidFill>
                <a:effectLst/>
                <a:uLnTx/>
                <a:uFillTx/>
                <a:latin typeface="+mn-lt"/>
                <a:ea typeface="+mn-ea"/>
                <a:cs typeface="+mn-cs"/>
              </a:rPr>
              <a:t>Exhibit 5.1 </a:t>
            </a:r>
            <a:r>
              <a:rPr kumimoji="0" lang="en-US" sz="1200" b="0" i="0" u="none" strike="noStrike" kern="1200" cap="none" spc="0" normalizeH="0" baseline="0" noProof="0" dirty="0">
                <a:ln>
                  <a:noFill/>
                </a:ln>
                <a:solidFill>
                  <a:prstClr val="black"/>
                </a:solidFill>
                <a:effectLst/>
                <a:uLnTx/>
                <a:uFillTx/>
                <a:latin typeface="+mn-lt"/>
                <a:ea typeface="+mn-ea"/>
                <a:cs typeface="+mn-cs"/>
              </a:rPr>
              <a:t>and can be an introduction to the consequences of behavior.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6</a:t>
            </a:fld>
            <a:endParaRPr lang="en-US"/>
          </a:p>
        </p:txBody>
      </p:sp>
    </p:spTree>
    <p:extLst>
      <p:ext uri="{BB962C8B-B14F-4D97-AF65-F5344CB8AC3E}">
        <p14:creationId xmlns:p14="http://schemas.microsoft.com/office/powerpoint/2010/main" val="2302285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Most people would agree that all of these values are admirable guidelines for behavior. However, ethics becomes a more complicated issue when a situation dictates that you must chooses one value over others. </a:t>
            </a:r>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7</a:t>
            </a:fld>
            <a:endParaRPr lang="en-US"/>
          </a:p>
        </p:txBody>
      </p:sp>
    </p:spTree>
    <p:extLst>
      <p:ext uri="{BB962C8B-B14F-4D97-AF65-F5344CB8AC3E}">
        <p14:creationId xmlns:p14="http://schemas.microsoft.com/office/powerpoint/2010/main" val="3593898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Moral philosophy</a:t>
            </a:r>
            <a:r>
              <a:rPr lang="en-US" dirty="0"/>
              <a:t> refers to the principles, rules, and values people use in deciding what is right or wrong. This is a simple definition in the abstract but often terribly complex and difficult when facing real choices. How do you decide what is right and wrong? Do you know what criteria you apply and how you apply them?</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8</a:t>
            </a:fld>
            <a:endParaRPr lang="en-US"/>
          </a:p>
        </p:txBody>
      </p:sp>
    </p:spTree>
    <p:extLst>
      <p:ext uri="{BB962C8B-B14F-4D97-AF65-F5344CB8AC3E}">
        <p14:creationId xmlns:p14="http://schemas.microsoft.com/office/powerpoint/2010/main" val="244306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6975" y="692150"/>
            <a:ext cx="4622800" cy="34686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01D59BE-D277-46E3-93E0-2DB425D3D42C}" type="slidenum">
              <a:rPr lang="en-US" smtClean="0"/>
              <a:pPr>
                <a:defRPr/>
              </a:pPr>
              <a:t>9</a:t>
            </a:fld>
            <a:endParaRPr lang="en-US" dirty="0"/>
          </a:p>
        </p:txBody>
      </p:sp>
    </p:spTree>
    <p:extLst>
      <p:ext uri="{BB962C8B-B14F-4D97-AF65-F5344CB8AC3E}">
        <p14:creationId xmlns:p14="http://schemas.microsoft.com/office/powerpoint/2010/main" val="255241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Ethical principles established by international executives based in </a:t>
            </a:r>
            <a:r>
              <a:rPr lang="en-US" sz="1200" dirty="0" err="1"/>
              <a:t>Caux</a:t>
            </a:r>
            <a:r>
              <a:rPr lang="en-US" sz="1200" dirty="0"/>
              <a:t>, Switzerland, in collaboration with business leaders from Japan, Europe, and the United States.</a:t>
            </a:r>
            <a:endParaRPr lang="en-US" sz="1050" dirty="0"/>
          </a:p>
          <a:p>
            <a:r>
              <a:rPr lang="en-US" dirty="0"/>
              <a:t>Two basic ethical ideals underpin the </a:t>
            </a:r>
            <a:r>
              <a:rPr lang="en-US" dirty="0" err="1"/>
              <a:t>Caux</a:t>
            </a:r>
            <a:r>
              <a:rPr lang="en-US" dirty="0"/>
              <a:t> Principles: </a:t>
            </a:r>
            <a:r>
              <a:rPr lang="en-US" i="1" dirty="0" err="1"/>
              <a:t>kyosei</a:t>
            </a:r>
            <a:r>
              <a:rPr lang="en-US" dirty="0"/>
              <a:t> and human dignity. </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10</a:t>
            </a:fld>
            <a:endParaRPr lang="en-US"/>
          </a:p>
        </p:txBody>
      </p:sp>
    </p:spTree>
    <p:extLst>
      <p:ext uri="{BB962C8B-B14F-4D97-AF65-F5344CB8AC3E}">
        <p14:creationId xmlns:p14="http://schemas.microsoft.com/office/powerpoint/2010/main" val="2127736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a:t>
            </a:r>
            <a:r>
              <a:rPr lang="en-US" b="1" i="1" dirty="0"/>
              <a:t>egoism</a:t>
            </a:r>
            <a:r>
              <a:rPr lang="en-US" dirty="0"/>
              <a:t>, acceptable behavior is that which maximizes benefits for the individual. “Doing the right thing,” the focus of moral philosophy, is defined by egoism as “do the act that promotes the greatest good for oneself.”</a:t>
            </a:r>
          </a:p>
          <a:p>
            <a:endParaRPr lang="en-US" dirty="0"/>
          </a:p>
          <a:p>
            <a:r>
              <a:rPr lang="en-US" dirty="0"/>
              <a:t>Unlike egoism, </a:t>
            </a:r>
            <a:r>
              <a:rPr lang="en-US" b="1" i="1" dirty="0"/>
              <a:t>utilitarianism</a:t>
            </a:r>
            <a:r>
              <a:rPr lang="en-US" dirty="0"/>
              <a:t> directly seeks the greatest good for the greatest number of people.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11</a:t>
            </a:fld>
            <a:endParaRPr lang="en-US"/>
          </a:p>
        </p:txBody>
      </p:sp>
    </p:spTree>
    <p:extLst>
      <p:ext uri="{BB962C8B-B14F-4D97-AF65-F5344CB8AC3E}">
        <p14:creationId xmlns:p14="http://schemas.microsoft.com/office/powerpoint/2010/main" val="3933688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Perhaps it seems that an individual makes ethical choices on a personal basis, applying personal perspectives. But this is not necessarily the case. Relativism defines ethical behavior according to how others behave.</a:t>
            </a:r>
          </a:p>
          <a:p>
            <a:endParaRPr lang="en-US" dirty="0"/>
          </a:p>
          <a:p>
            <a:r>
              <a:rPr lang="en-US" b="1" i="1" dirty="0"/>
              <a:t>Virtue ethics</a:t>
            </a:r>
            <a:r>
              <a:rPr lang="en-US" dirty="0"/>
              <a:t> is a perspective that says </a:t>
            </a:r>
            <a:r>
              <a:rPr lang="en-US" sz="1200" b="0" i="0" u="none" strike="noStrike" kern="1200" baseline="0" dirty="0">
                <a:solidFill>
                  <a:schemeClr val="tx1"/>
                </a:solidFill>
                <a:latin typeface="+mn-lt"/>
                <a:ea typeface="+mn-ea"/>
                <a:cs typeface="+mn-cs"/>
              </a:rPr>
              <a:t>society’s rules provide a moral minimum, and then moral individuals can transcend rules by applying their personal virtues such as faith, honesty, and integrity. </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12</a:t>
            </a:fld>
            <a:endParaRPr lang="en-US"/>
          </a:p>
        </p:txBody>
      </p:sp>
    </p:spTree>
    <p:extLst>
      <p:ext uri="{BB962C8B-B14F-4D97-AF65-F5344CB8AC3E}">
        <p14:creationId xmlns:p14="http://schemas.microsoft.com/office/powerpoint/2010/main" val="667460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t>Kohlberg’s model of cognitive moral development</a:t>
            </a:r>
            <a:r>
              <a:rPr lang="en-US" i="0" dirty="0"/>
              <a:t> </a:t>
            </a:r>
            <a:r>
              <a:rPr lang="en-US" dirty="0"/>
              <a:t>classifies people into categories based on their level of moral judgment.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People in the </a:t>
            </a:r>
            <a:r>
              <a:rPr lang="en-US" i="1" dirty="0"/>
              <a:t>preconventional</a:t>
            </a:r>
            <a:r>
              <a:rPr lang="en-US" dirty="0"/>
              <a:t> stage make decisions based on rewards and punishments and immediate self-interest.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People in the </a:t>
            </a:r>
            <a:r>
              <a:rPr lang="en-US" i="1" dirty="0"/>
              <a:t>conventional</a:t>
            </a:r>
            <a:r>
              <a:rPr lang="en-US" dirty="0"/>
              <a:t> stage conform to the expectations of ethical behavior held by groups or institutions such as society, family, or peers.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People in the </a:t>
            </a:r>
            <a:r>
              <a:rPr lang="en-US" i="1" dirty="0"/>
              <a:t>principled</a:t>
            </a:r>
            <a:r>
              <a:rPr lang="en-US" dirty="0"/>
              <a:t> stage see beyond authority, laws, and norms and follow their self-chosen ethical principles.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Some people forever reside in the preconventional stage, some move into the conventional stage, and some develop further yet into the principled stage. Over time, and through education and experience, people may change their values and ethical behavior.</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13</a:t>
            </a:fld>
            <a:endParaRPr lang="en-US"/>
          </a:p>
        </p:txBody>
      </p:sp>
    </p:spTree>
    <p:extLst>
      <p:ext uri="{BB962C8B-B14F-4D97-AF65-F5344CB8AC3E}">
        <p14:creationId xmlns:p14="http://schemas.microsoft.com/office/powerpoint/2010/main" val="678505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Responding to a series of corporate scandals—particularly the high-profile cases of Enron and WorldCom—Congress passed the </a:t>
            </a:r>
            <a:r>
              <a:rPr lang="en-US" b="1" i="1" dirty="0"/>
              <a:t>Sarbanes-Oxley Act</a:t>
            </a:r>
            <a:r>
              <a:rPr lang="en-US" dirty="0"/>
              <a:t> in 2002 to improve and maintain investor confidence. The law requires companies to have more independent board directors (not just company insiders), to adhere strictly to accounting rules, and to have senior managers personally sign off on financial results. Violations can result in heavy fines and criminal prosecution. One of the biggest impacts of the law was the requirement for companies and their auditors to provide reports to financial statement users about the effectiveness of internal controls.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14</a:t>
            </a:fld>
            <a:endParaRPr lang="en-US"/>
          </a:p>
        </p:txBody>
      </p:sp>
    </p:spTree>
    <p:extLst>
      <p:ext uri="{BB962C8B-B14F-4D97-AF65-F5344CB8AC3E}">
        <p14:creationId xmlns:p14="http://schemas.microsoft.com/office/powerpoint/2010/main" val="1442798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Exhibit 5.3</a:t>
            </a:r>
            <a:r>
              <a:rPr lang="en-US" b="1" baseline="0" dirty="0"/>
              <a:t> </a:t>
            </a:r>
            <a:r>
              <a:rPr lang="en-US" baseline="0" dirty="0"/>
              <a:t>is </a:t>
            </a:r>
            <a:r>
              <a:rPr lang="en-US" dirty="0"/>
              <a:t>abbreviated on the slide. </a:t>
            </a:r>
          </a:p>
          <a:p>
            <a:r>
              <a:rPr lang="en-US" dirty="0"/>
              <a:t>Next slide contains:</a:t>
            </a:r>
          </a:p>
          <a:p>
            <a:r>
              <a:rPr lang="en-US" dirty="0"/>
              <a:t>Obesity</a:t>
            </a:r>
          </a:p>
          <a:p>
            <a:r>
              <a:rPr lang="en-US" dirty="0"/>
              <a:t>Online privacy</a:t>
            </a:r>
          </a:p>
          <a:p>
            <a:r>
              <a:rPr lang="en-US" dirty="0"/>
              <a:t>Social media</a:t>
            </a:r>
          </a:p>
          <a:p>
            <a:r>
              <a:rPr lang="en-US" dirty="0"/>
              <a:t>Wages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15</a:t>
            </a:fld>
            <a:endParaRPr lang="en-US"/>
          </a:p>
        </p:txBody>
      </p:sp>
    </p:spTree>
    <p:extLst>
      <p:ext uri="{BB962C8B-B14F-4D97-AF65-F5344CB8AC3E}">
        <p14:creationId xmlns:p14="http://schemas.microsoft.com/office/powerpoint/2010/main" val="3004407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Exhibit 5.3</a:t>
            </a:r>
            <a:r>
              <a:rPr lang="en-US" b="1" baseline="0" dirty="0"/>
              <a:t> </a:t>
            </a:r>
            <a:r>
              <a:rPr lang="en-US" baseline="0" dirty="0"/>
              <a:t>is </a:t>
            </a:r>
            <a:r>
              <a:rPr lang="en-US" dirty="0"/>
              <a:t>abbreviated on the slide. The previous slide contains CEO pay, climate, globalization, and health care.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16</a:t>
            </a:fld>
            <a:endParaRPr lang="en-US"/>
          </a:p>
        </p:txBody>
      </p:sp>
    </p:spTree>
    <p:extLst>
      <p:ext uri="{BB962C8B-B14F-4D97-AF65-F5344CB8AC3E}">
        <p14:creationId xmlns:p14="http://schemas.microsoft.com/office/powerpoint/2010/main" val="1715850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employees, strong ethics climates can be a source of ethical personal actions plus pride, satisfaction, and commitment to the employer, while a weak culture or one that ignores ethics often causes unethical behavior or dissatisfaction and quitting. </a:t>
            </a:r>
          </a:p>
          <a:p>
            <a:endParaRPr lang="en-US" dirty="0"/>
          </a:p>
          <a:p>
            <a:r>
              <a:rPr lang="en-US" dirty="0"/>
              <a:t>You can have strong personal character, but if you “manage” ethics only by benign neglect, you won’t develop a reputation as an ethical leader.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17</a:t>
            </a:fld>
            <a:endParaRPr lang="en-US"/>
          </a:p>
        </p:txBody>
      </p:sp>
    </p:spTree>
    <p:extLst>
      <p:ext uri="{BB962C8B-B14F-4D97-AF65-F5344CB8AC3E}">
        <p14:creationId xmlns:p14="http://schemas.microsoft.com/office/powerpoint/2010/main" val="14413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Maintaining consistent ethical behavior by all employees is an ongoing challenge. What are some danger signs that an organization may be allowing or even encouraging unethical behavior? </a:t>
            </a:r>
            <a:r>
              <a:rPr lang="en-US" b="1" dirty="0"/>
              <a:t>Exhibit 5.4 </a:t>
            </a:r>
            <a:r>
              <a:rPr lang="en-US" dirty="0"/>
              <a:t>(recreated on this slide) lists factors that could create a climate conducive to unethical behavior.</a:t>
            </a:r>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18</a:t>
            </a:fld>
            <a:endParaRPr lang="en-US"/>
          </a:p>
        </p:txBody>
      </p:sp>
    </p:spTree>
    <p:extLst>
      <p:ext uri="{BB962C8B-B14F-4D97-AF65-F5344CB8AC3E}">
        <p14:creationId xmlns:p14="http://schemas.microsoft.com/office/powerpoint/2010/main" val="2583772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Stduent</a:t>
            </a:r>
            <a:r>
              <a:rPr lang="en-US" dirty="0"/>
              <a:t> responses will vary for the first question. They may vary for the second as well, but referrals to Big Brother issues (but in the private sector) may come up.</a:t>
            </a:r>
          </a:p>
        </p:txBody>
      </p:sp>
      <p:sp>
        <p:nvSpPr>
          <p:cNvPr id="4" name="Slide Number Placeholder 3"/>
          <p:cNvSpPr>
            <a:spLocks noGrp="1"/>
          </p:cNvSpPr>
          <p:nvPr>
            <p:ph type="sldNum" sz="quarter" idx="5"/>
          </p:nvPr>
        </p:nvSpPr>
        <p:spPr/>
        <p:txBody>
          <a:bodyPr/>
          <a:lstStyle/>
          <a:p>
            <a:fld id="{35356329-1779-487C-B587-BBABA473AA7C}" type="slidenum">
              <a:rPr lang="en-US" smtClean="0"/>
              <a:t>19</a:t>
            </a:fld>
            <a:endParaRPr lang="en-US"/>
          </a:p>
        </p:txBody>
      </p:sp>
    </p:spTree>
    <p:extLst>
      <p:ext uri="{BB962C8B-B14F-4D97-AF65-F5344CB8AC3E}">
        <p14:creationId xmlns:p14="http://schemas.microsoft.com/office/powerpoint/2010/main" val="4170777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20</a:t>
            </a:fld>
            <a:endParaRPr lang="en-US"/>
          </a:p>
        </p:txBody>
      </p:sp>
    </p:spTree>
    <p:extLst>
      <p:ext uri="{BB962C8B-B14F-4D97-AF65-F5344CB8AC3E}">
        <p14:creationId xmlns:p14="http://schemas.microsoft.com/office/powerpoint/2010/main" val="3629093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Compliance-based ethics p</a:t>
            </a:r>
            <a:r>
              <a:rPr lang="en-US" dirty="0"/>
              <a:t>rogram elements include establishing and communicating legal standards and procedures, assigning high-level managers to oversee compliance, auditing and monitoring compliance, reporting criminal misconduct, punishing wrongdoers, and taking steps to prevent offenses in the future.</a:t>
            </a:r>
          </a:p>
          <a:p>
            <a:endParaRPr lang="en-US" b="1" i="1" dirty="0"/>
          </a:p>
          <a:p>
            <a:r>
              <a:rPr lang="en-US" b="1" i="1" dirty="0"/>
              <a:t>Integrity-based ethics programs</a:t>
            </a:r>
            <a:r>
              <a:rPr lang="en-US" dirty="0"/>
              <a:t> go beyond the mere avoidance of illegality; they are concerned with the law but also with instilling in people a personal responsibility for ethical behavior. With such a program, companies and people govern themselves through a set of guiding principles that they embrace.</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21</a:t>
            </a:fld>
            <a:endParaRPr lang="en-US"/>
          </a:p>
        </p:txBody>
      </p:sp>
    </p:spTree>
    <p:extLst>
      <p:ext uri="{BB962C8B-B14F-4D97-AF65-F5344CB8AC3E}">
        <p14:creationId xmlns:p14="http://schemas.microsoft.com/office/powerpoint/2010/main" val="339678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22</a:t>
            </a:fld>
            <a:endParaRPr lang="en-US"/>
          </a:p>
        </p:txBody>
      </p:sp>
    </p:spTree>
    <p:extLst>
      <p:ext uri="{BB962C8B-B14F-4D97-AF65-F5344CB8AC3E}">
        <p14:creationId xmlns:p14="http://schemas.microsoft.com/office/powerpoint/2010/main" val="2467625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Thinking before deciding, and having an ethics-oriented conversation with others, can help you and others make more ethical decisions. You can use the process illustrated in </a:t>
            </a:r>
            <a:r>
              <a:rPr lang="en-US" b="1" dirty="0"/>
              <a:t>Exhibit 5.6. </a:t>
            </a:r>
            <a:r>
              <a:rPr lang="en-US" dirty="0"/>
              <a:t>Understand the various moral standards (universalism, relativism, etc.), as described earlier in the chapter.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23</a:t>
            </a:fld>
            <a:endParaRPr lang="en-US"/>
          </a:p>
        </p:txBody>
      </p:sp>
    </p:spTree>
    <p:extLst>
      <p:ext uri="{BB962C8B-B14F-4D97-AF65-F5344CB8AC3E}">
        <p14:creationId xmlns:p14="http://schemas.microsoft.com/office/powerpoint/2010/main" val="23971767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u="none" strike="noStrike" kern="1200" baseline="0" dirty="0">
                <a:solidFill>
                  <a:schemeClr val="tx1"/>
                </a:solidFill>
                <a:latin typeface="+mn-lt"/>
                <a:ea typeface="+mn-ea"/>
                <a:cs typeface="+mn-cs"/>
              </a:rPr>
              <a:t>Whistleblowing </a:t>
            </a:r>
            <a:r>
              <a:rPr lang="en-US" sz="1200" b="0" i="0" u="none" strike="noStrike" kern="1200" baseline="0" dirty="0">
                <a:solidFill>
                  <a:schemeClr val="tx1"/>
                </a:solidFill>
                <a:latin typeface="+mn-lt"/>
                <a:ea typeface="+mn-ea"/>
                <a:cs typeface="+mn-cs"/>
              </a:rPr>
              <a:t>involves telling others, inside or outside the organization, about wrongdoing .</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24</a:t>
            </a:fld>
            <a:endParaRPr lang="en-US"/>
          </a:p>
        </p:txBody>
      </p:sp>
    </p:spTree>
    <p:extLst>
      <p:ext uri="{BB962C8B-B14F-4D97-AF65-F5344CB8AC3E}">
        <p14:creationId xmlns:p14="http://schemas.microsoft.com/office/powerpoint/2010/main" val="16442336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Corporate social responsibility (CSR)</a:t>
            </a:r>
            <a:r>
              <a:rPr lang="en-US" dirty="0"/>
              <a:t> is the obligation toward society assumed by business. Corporate social responsibility reflects the social imperatives and the social consequences of business practices; it consists broadly of policies and practices that indicate business responsibility for some wider societal good. </a:t>
            </a:r>
          </a:p>
          <a:p>
            <a:endParaRPr lang="en-US" dirty="0"/>
          </a:p>
          <a:p>
            <a:r>
              <a:rPr lang="en-US" dirty="0"/>
              <a:t>CSR policies and actions take into account stakeholders’ expectations and often highlight the </a:t>
            </a:r>
            <a:r>
              <a:rPr lang="en-US" b="1" i="1" dirty="0"/>
              <a:t>triple bottom line</a:t>
            </a:r>
            <a:r>
              <a:rPr lang="en-US" dirty="0"/>
              <a:t> of economic, social, and environmental performance. The precise policies and practices underlying this responsibility lie at the discretion of the corporation.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25</a:t>
            </a:fld>
            <a:endParaRPr lang="en-US"/>
          </a:p>
        </p:txBody>
      </p:sp>
    </p:spTree>
    <p:extLst>
      <p:ext uri="{BB962C8B-B14F-4D97-AF65-F5344CB8AC3E}">
        <p14:creationId xmlns:p14="http://schemas.microsoft.com/office/powerpoint/2010/main" val="1407607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26</a:t>
            </a:fld>
            <a:endParaRPr lang="en-US"/>
          </a:p>
        </p:txBody>
      </p:sp>
    </p:spTree>
    <p:extLst>
      <p:ext uri="{BB962C8B-B14F-4D97-AF65-F5344CB8AC3E}">
        <p14:creationId xmlns:p14="http://schemas.microsoft.com/office/powerpoint/2010/main" val="2416807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27</a:t>
            </a:fld>
            <a:endParaRPr lang="en-US"/>
          </a:p>
        </p:txBody>
      </p:sp>
    </p:spTree>
    <p:extLst>
      <p:ext uri="{BB962C8B-B14F-4D97-AF65-F5344CB8AC3E}">
        <p14:creationId xmlns:p14="http://schemas.microsoft.com/office/powerpoint/2010/main" val="42132075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responsibilities can be categorized as shown in </a:t>
            </a:r>
            <a:r>
              <a:rPr lang="en-US" b="1" dirty="0"/>
              <a:t>Exhibit 5.7.</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28</a:t>
            </a:fld>
            <a:endParaRPr lang="en-US"/>
          </a:p>
        </p:txBody>
      </p:sp>
    </p:spTree>
    <p:extLst>
      <p:ext uri="{BB962C8B-B14F-4D97-AF65-F5344CB8AC3E}">
        <p14:creationId xmlns:p14="http://schemas.microsoft.com/office/powerpoint/2010/main" val="30519297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basic and contrasting views describe principles that guide managerial responsibility. The first holds that managers act as agents for shareholders and, as such, are obligated to maximize the present value of the firm. The second perspective, different from the profit maximization perspective, is that managers should be motivated by principled moral reasoning.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29</a:t>
            </a:fld>
            <a:endParaRPr lang="en-US"/>
          </a:p>
        </p:txBody>
      </p:sp>
    </p:spTree>
    <p:extLst>
      <p:ext uri="{BB962C8B-B14F-4D97-AF65-F5344CB8AC3E}">
        <p14:creationId xmlns:p14="http://schemas.microsoft.com/office/powerpoint/2010/main" val="450568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relationship between corporate social performance and corporate financial performance is complex; socially responsible organizations are not always more or less successful in financial terms. </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30</a:t>
            </a:fld>
            <a:endParaRPr lang="en-US"/>
          </a:p>
        </p:txBody>
      </p:sp>
    </p:spTree>
    <p:extLst>
      <p:ext uri="{BB962C8B-B14F-4D97-AF65-F5344CB8AC3E}">
        <p14:creationId xmlns:p14="http://schemas.microsoft.com/office/powerpoint/2010/main" val="9638414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 College Built by and for the Poor</a:t>
            </a:r>
          </a:p>
          <a:p>
            <a:r>
              <a:rPr lang="en-US" dirty="0"/>
              <a:t>Barefoot College is based on the guiding principles of service and sustainability espoused by Mahatma Gandhi, along with a commitment to equality, shared decision making, and self-reliance. Its projects have brought artificial light to more than half a million people and provide clean water and solar energy for cooking and heating to thousands of communities</a:t>
            </a:r>
            <a:endParaRPr lang="en-US" sz="1200" b="0" kern="1200" dirty="0">
              <a:solidFill>
                <a:schemeClr val="tx1"/>
              </a:solidFill>
              <a:effectLst/>
              <a:latin typeface="+mn-lt"/>
              <a:ea typeface="+mn-ea"/>
              <a:cs typeface="+mn-cs"/>
            </a:endParaRPr>
          </a:p>
          <a:p>
            <a:pPr marL="0" lvl="0" indent="0">
              <a:buFont typeface="Arial" panose="020B0604020202020204" pitchFamily="34" charset="0"/>
              <a:buNone/>
            </a:pPr>
            <a:endParaRPr lang="en-US" sz="1200" dirty="0"/>
          </a:p>
          <a:p>
            <a:pPr marL="0" lvl="0" indent="0">
              <a:buFont typeface="Arial" panose="020B0604020202020204" pitchFamily="34" charset="0"/>
              <a:buNone/>
            </a:pPr>
            <a:r>
              <a:rPr lang="en-US" sz="1200" b="1" i="1" dirty="0"/>
              <a:t>In what ways are Barefoot College’s mission and goals characteristic of a social enterprise?</a:t>
            </a:r>
          </a:p>
          <a:p>
            <a:r>
              <a:rPr lang="en-US" sz="1200" b="0" i="1" kern="1200" dirty="0">
                <a:solidFill>
                  <a:schemeClr val="tx1"/>
                </a:solidFill>
                <a:effectLst/>
                <a:latin typeface="+mn-lt"/>
                <a:ea typeface="+mn-ea"/>
                <a:cs typeface="+mn-cs"/>
              </a:rPr>
              <a:t>Student responses will vary you may refer students to the discussion of social enterprises in Chapter 7. </a:t>
            </a:r>
          </a:p>
          <a:p>
            <a:endParaRPr lang="en-US" sz="1200" b="0" i="1"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Which of Barefoot College’s guiding principles have you observed in environments in which you have worked or volunteered? Choose a principle you might not have observed and explain how would you go about incorporating it into your current or a recent workplace?</a:t>
            </a:r>
          </a:p>
          <a:p>
            <a:r>
              <a:rPr lang="en-US" sz="1200" b="0" i="1" kern="1200" dirty="0">
                <a:solidFill>
                  <a:schemeClr val="tx1"/>
                </a:solidFill>
                <a:effectLst/>
                <a:latin typeface="+mn-lt"/>
                <a:ea typeface="+mn-ea"/>
                <a:cs typeface="+mn-cs"/>
              </a:rPr>
              <a:t>Student responses will vary; however, they should refer to one of the ethical principles discussed in the chapter.</a:t>
            </a:r>
          </a:p>
          <a:p>
            <a:endParaRPr lang="en-US" sz="1200" b="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31</a:t>
            </a:fld>
            <a:endParaRPr lang="en-US"/>
          </a:p>
        </p:txBody>
      </p:sp>
    </p:spTree>
    <p:extLst>
      <p:ext uri="{BB962C8B-B14F-4D97-AF65-F5344CB8AC3E}">
        <p14:creationId xmlns:p14="http://schemas.microsoft.com/office/powerpoint/2010/main" val="29107462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pollution risks include air pollution, smog, global warming, ozone depletion, acid rain, toxic waste sites, nuclear hazards, obsolete weapons arsenals, industrial accidents and hazardous products.</a:t>
            </a:r>
          </a:p>
        </p:txBody>
      </p:sp>
      <p:sp>
        <p:nvSpPr>
          <p:cNvPr id="4" name="Slide Number Placeholder 3"/>
          <p:cNvSpPr>
            <a:spLocks noGrp="1"/>
          </p:cNvSpPr>
          <p:nvPr>
            <p:ph type="sldNum" sz="quarter" idx="5"/>
          </p:nvPr>
        </p:nvSpPr>
        <p:spPr/>
        <p:txBody>
          <a:bodyPr/>
          <a:lstStyle/>
          <a:p>
            <a:fld id="{35356329-1779-487C-B587-BBABA473AA7C}" type="slidenum">
              <a:rPr lang="en-US" smtClean="0"/>
              <a:t>32</a:t>
            </a:fld>
            <a:endParaRPr lang="en-US"/>
          </a:p>
        </p:txBody>
      </p:sp>
    </p:spTree>
    <p:extLst>
      <p:ext uri="{BB962C8B-B14F-4D97-AF65-F5344CB8AC3E}">
        <p14:creationId xmlns:p14="http://schemas.microsoft.com/office/powerpoint/2010/main" val="35298988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 used to look at environmental issues as a no-win situation, but a paradigm shift is taking place. At the same time, perhaps no time in history has offered greater possibilities for a change in business thinking than now. Some maintain that ecological sustainability is </a:t>
            </a:r>
            <a:r>
              <a:rPr lang="en-US" i="1" dirty="0"/>
              <a:t>now</a:t>
            </a:r>
            <a:r>
              <a:rPr lang="en-US" dirty="0"/>
              <a:t> the key driver of innovation.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Businesses are both a cause of and a solutions to the environmental degradation, and clearly have a major role to play in sustainability debates and strategies.</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33</a:t>
            </a:fld>
            <a:endParaRPr lang="en-US"/>
          </a:p>
        </p:txBody>
      </p:sp>
    </p:spTree>
    <p:extLst>
      <p:ext uri="{BB962C8B-B14F-4D97-AF65-F5344CB8AC3E}">
        <p14:creationId xmlns:p14="http://schemas.microsoft.com/office/powerpoint/2010/main" val="28367674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Increasingly, firms are paying attention to their total environmental impact throughout the life cycle of their products.</a:t>
            </a:r>
          </a:p>
          <a:p>
            <a:endParaRPr lang="en-US" b="1" i="1" dirty="0"/>
          </a:p>
          <a:p>
            <a:r>
              <a:rPr lang="en-US" dirty="0"/>
              <a:t>Life-cycle analysis (LCA) quantifies the total use of resources and the releases into the air, water, and land. </a:t>
            </a:r>
          </a:p>
          <a:p>
            <a:endParaRPr lang="en-US" b="1" dirty="0"/>
          </a:p>
          <a:p>
            <a:r>
              <a:rPr lang="en-US" b="1" dirty="0"/>
              <a:t>Carbon footprint: </a:t>
            </a:r>
            <a:r>
              <a:rPr lang="en-US" sz="1200" b="0" i="0" u="none" strike="noStrike" kern="1200" baseline="0" dirty="0">
                <a:solidFill>
                  <a:schemeClr val="tx1"/>
                </a:solidFill>
                <a:latin typeface="+mn-lt"/>
                <a:ea typeface="+mn-ea"/>
                <a:cs typeface="+mn-cs"/>
              </a:rPr>
              <a:t>The output of carbon dioxide and other greenhouse gases.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34</a:t>
            </a:fld>
            <a:endParaRPr lang="en-US"/>
          </a:p>
        </p:txBody>
      </p:sp>
    </p:spTree>
    <p:extLst>
      <p:ext uri="{BB962C8B-B14F-4D97-AF65-F5344CB8AC3E}">
        <p14:creationId xmlns:p14="http://schemas.microsoft.com/office/powerpoint/2010/main" val="27124582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35</a:t>
            </a:fld>
            <a:endParaRPr lang="en-US"/>
          </a:p>
        </p:txBody>
      </p:sp>
    </p:spTree>
    <p:extLst>
      <p:ext uri="{BB962C8B-B14F-4D97-AF65-F5344CB8AC3E}">
        <p14:creationId xmlns:p14="http://schemas.microsoft.com/office/powerpoint/2010/main" val="23478092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builds trust with the public by publishing its values and policies online, as well as an annual Corporate Responsibility Report. IBM describes itself as socially responsible in that it applies its expertise to social problems and empowers employees and others to serve their communities. In addition, the company says, “We integrate corporate citizenship and social responsibility into every aspect of our company.” </a:t>
            </a:r>
          </a:p>
          <a:p>
            <a:endParaRPr lang="en-US" dirty="0"/>
          </a:p>
          <a:p>
            <a:r>
              <a:rPr lang="en-US" b="1" i="0" dirty="0"/>
              <a:t>1. How is IBM’s commitment to corporate social responsibility good for IBM’s long-term profitability? Explain.</a:t>
            </a:r>
          </a:p>
          <a:p>
            <a:r>
              <a:rPr lang="en-US" i="1" dirty="0"/>
              <a:t>Students may disagree (giving reasons), but the text makes the case that being responsible can be good for business. IBM’s socially responsible conduct not only helps communities but also showcases the company’s problem-solving capabilities. They position the company as an expert at tackling difficult projects.</a:t>
            </a:r>
            <a:br>
              <a:rPr lang="en-US" i="1" dirty="0"/>
            </a:br>
            <a:endParaRPr lang="en-US" i="1" dirty="0"/>
          </a:p>
          <a:p>
            <a:r>
              <a:rPr lang="en-US" sz="1200" b="1" i="0" u="none" strike="noStrike" kern="1200" baseline="0" dirty="0">
                <a:solidFill>
                  <a:schemeClr val="tx1"/>
                </a:solidFill>
                <a:latin typeface="+mn-lt"/>
                <a:ea typeface="+mn-ea"/>
                <a:cs typeface="+mn-cs"/>
              </a:rPr>
              <a:t>2. If you were managing a firm that had IBM’s resources IBM, what social and environmental issues would you prioritize?</a:t>
            </a:r>
          </a:p>
          <a:p>
            <a:r>
              <a:rPr lang="en-US" sz="1200" b="0" i="1" u="none" strike="noStrike" kern="1200" baseline="0" dirty="0">
                <a:solidFill>
                  <a:schemeClr val="tx1"/>
                </a:solidFill>
                <a:latin typeface="+mn-lt"/>
                <a:ea typeface="+mn-ea"/>
                <a:cs typeface="+mn-cs"/>
              </a:rPr>
              <a:t>Student answers may vary.</a:t>
            </a:r>
            <a:endParaRPr lang="en-US" dirty="0"/>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36</a:t>
            </a:fld>
            <a:endParaRPr lang="en-US"/>
          </a:p>
        </p:txBody>
      </p:sp>
    </p:spTree>
    <p:extLst>
      <p:ext uri="{BB962C8B-B14F-4D97-AF65-F5344CB8AC3E}">
        <p14:creationId xmlns:p14="http://schemas.microsoft.com/office/powerpoint/2010/main" val="23395621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relists the chapter learning objectives and can be used to review the chapter highlights.</a:t>
            </a:r>
          </a:p>
          <a:p>
            <a:endParaRPr lang="en-US" dirty="0"/>
          </a:p>
          <a:p>
            <a:r>
              <a:rPr lang="en-US" dirty="0"/>
              <a:t>Chapter 6 will focus on international management.</a:t>
            </a:r>
          </a:p>
          <a:p>
            <a:endParaRPr lang="en-US" dirty="0"/>
          </a:p>
        </p:txBody>
      </p:sp>
      <p:sp>
        <p:nvSpPr>
          <p:cNvPr id="4" name="Slide Number Placeholder 3"/>
          <p:cNvSpPr>
            <a:spLocks noGrp="1"/>
          </p:cNvSpPr>
          <p:nvPr>
            <p:ph type="sldNum" sz="quarter" idx="5"/>
          </p:nvPr>
        </p:nvSpPr>
        <p:spPr/>
        <p:txBody>
          <a:bodyPr/>
          <a:lstStyle/>
          <a:p>
            <a:fld id="{35356329-1779-487C-B587-BBABA473AA7C}" type="slidenum">
              <a:rPr lang="en-US" smtClean="0"/>
              <a:t>37</a:t>
            </a:fld>
            <a:endParaRPr lang="en-US"/>
          </a:p>
        </p:txBody>
      </p:sp>
    </p:spTree>
    <p:extLst>
      <p:ext uri="{BB962C8B-B14F-4D97-AF65-F5344CB8AC3E}">
        <p14:creationId xmlns:p14="http://schemas.microsoft.com/office/powerpoint/2010/main" val="2401541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6" name="Content Placeholder 5">
            <a:extLst>
              <a:ext uri="{FF2B5EF4-FFF2-40B4-BE49-F238E27FC236}">
                <a16:creationId xmlns:a16="http://schemas.microsoft.com/office/drawing/2014/main" id="{95FB06C8-11A0-4E73-A5CE-7801EB091162}"/>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515965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693BA5A3-DAB5-45C2-AE6D-5271B0A7976C}"/>
              </a:ext>
            </a:extLst>
          </p:cNvPr>
          <p:cNvSpPr>
            <a:spLocks noGrp="1"/>
          </p:cNvSpPr>
          <p:nvPr>
            <p:ph sz="quarter" idx="12"/>
          </p:nvPr>
        </p:nvSpPr>
        <p:spPr>
          <a:xfrm>
            <a:off x="166688" y="6426200"/>
            <a:ext cx="8505825" cy="3111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solidFill>
                  <a:schemeClr val="tx1"/>
                </a:solidFill>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1_Title Slide">
    <p:spTree>
      <p:nvGrpSpPr>
        <p:cNvPr id="1" name=""/>
        <p:cNvGrpSpPr/>
        <p:nvPr/>
      </p:nvGrpSpPr>
      <p:grpSpPr>
        <a:xfrm>
          <a:off x="0" y="0"/>
          <a:ext cx="0" cy="0"/>
          <a:chOff x="0" y="0"/>
          <a:chExt cx="0" cy="0"/>
        </a:xfrm>
      </p:grpSpPr>
      <p:pic>
        <p:nvPicPr>
          <p:cNvPr id="7" name="Picture 6" descr="ATC Building powerpoint.jpg"/>
          <p:cNvPicPr>
            <a:picLocks noChangeAspect="1"/>
          </p:cNvPicPr>
          <p:nvPr userDrawn="1"/>
        </p:nvPicPr>
        <p:blipFill rotWithShape="1">
          <a:blip r:embed="rId2">
            <a:extLst>
              <a:ext uri="{28A0092B-C50C-407E-A947-70E740481C1C}">
                <a14:useLocalDpi xmlns:a14="http://schemas.microsoft.com/office/drawing/2010/main" val="0"/>
              </a:ext>
            </a:extLst>
          </a:blip>
          <a:srcRect r="11220"/>
          <a:stretch/>
        </p:blipFill>
        <p:spPr>
          <a:xfrm>
            <a:off x="0" y="-1"/>
            <a:ext cx="9144000" cy="6866467"/>
          </a:xfrm>
          <a:prstGeom prst="rect">
            <a:avLst/>
          </a:prstGeom>
        </p:spPr>
      </p:pic>
      <p:pic>
        <p:nvPicPr>
          <p:cNvPr id="8" name="Picture 7"/>
          <p:cNvPicPr>
            <a:picLocks noChangeAspect="1"/>
          </p:cNvPicPr>
          <p:nvPr userDrawn="1"/>
        </p:nvPicPr>
        <p:blipFill>
          <a:blip r:embed="rId3"/>
          <a:stretch>
            <a:fillRect/>
          </a:stretch>
        </p:blipFill>
        <p:spPr>
          <a:xfrm>
            <a:off x="6268085" y="5346700"/>
            <a:ext cx="2456815" cy="927100"/>
          </a:xfrm>
          <a:prstGeom prst="rect">
            <a:avLst/>
          </a:prstGeom>
        </p:spPr>
      </p:pic>
      <p:pic>
        <p:nvPicPr>
          <p:cNvPr id="9" name="Picture 8" descr="DVC Bubbles.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08001" y="741679"/>
            <a:ext cx="6776085" cy="3755676"/>
          </a:xfrm>
          <a:prstGeom prst="rect">
            <a:avLst/>
          </a:prstGeom>
        </p:spPr>
      </p:pic>
      <p:sp>
        <p:nvSpPr>
          <p:cNvPr id="11" name="Text Placeholder 9"/>
          <p:cNvSpPr>
            <a:spLocks noGrp="1"/>
          </p:cNvSpPr>
          <p:nvPr>
            <p:ph type="body" sz="quarter" idx="13" hasCustomPrompt="1"/>
          </p:nvPr>
        </p:nvSpPr>
        <p:spPr>
          <a:xfrm>
            <a:off x="295275" y="1200150"/>
            <a:ext cx="5200651" cy="1419367"/>
          </a:xfrm>
          <a:prstGeom prst="rect">
            <a:avLst/>
          </a:prstGeom>
        </p:spPr>
        <p:txBody>
          <a:bodyPr/>
          <a:lstStyle>
            <a:lvl1pPr marL="0" indent="0">
              <a:defRPr sz="2700" baseline="0">
                <a:solidFill>
                  <a:schemeClr val="tx1"/>
                </a:solidFill>
              </a:defRPr>
            </a:lvl1pPr>
          </a:lstStyle>
          <a:p>
            <a:pPr lvl="0"/>
            <a:r>
              <a:rPr lang="en-US" dirty="0"/>
              <a:t>Presentation title</a:t>
            </a:r>
          </a:p>
        </p:txBody>
      </p:sp>
      <p:sp>
        <p:nvSpPr>
          <p:cNvPr id="12" name="Text Placeholder 13"/>
          <p:cNvSpPr>
            <a:spLocks noGrp="1"/>
          </p:cNvSpPr>
          <p:nvPr>
            <p:ph type="body" sz="quarter" idx="14" hasCustomPrompt="1"/>
          </p:nvPr>
        </p:nvSpPr>
        <p:spPr>
          <a:xfrm>
            <a:off x="304800" y="3114676"/>
            <a:ext cx="4133850" cy="1133475"/>
          </a:xfrm>
          <a:prstGeom prst="rect">
            <a:avLst/>
          </a:prstGeom>
        </p:spPr>
        <p:txBody>
          <a:bodyPr/>
          <a:lstStyle>
            <a:lvl1pPr marL="0" indent="0">
              <a:defRPr baseline="0"/>
            </a:lvl1pPr>
          </a:lstStyle>
          <a:p>
            <a:pPr lvl="0"/>
            <a:r>
              <a:rPr lang="en-US" dirty="0"/>
              <a:t>Presenter</a:t>
            </a:r>
          </a:p>
        </p:txBody>
      </p:sp>
      <p:pic>
        <p:nvPicPr>
          <p:cNvPr id="13" name="Picture 7" descr="swin logo v.png"/>
          <p:cNvPicPr>
            <a:picLocks noChangeAspect="1"/>
          </p:cNvPicPr>
          <p:nvPr userDrawn="1"/>
        </p:nvPicPr>
        <p:blipFill>
          <a:blip r:embed="rId5"/>
          <a:srcRect/>
          <a:stretch>
            <a:fillRect/>
          </a:stretch>
        </p:blipFill>
        <p:spPr bwMode="auto">
          <a:xfrm>
            <a:off x="7699376" y="0"/>
            <a:ext cx="1444625" cy="2882900"/>
          </a:xfrm>
          <a:prstGeom prst="rect">
            <a:avLst/>
          </a:prstGeom>
          <a:noFill/>
          <a:ln w="9525">
            <a:noFill/>
            <a:miter lim="800000"/>
            <a:headEnd/>
            <a:tailEnd/>
          </a:ln>
        </p:spPr>
      </p:pic>
    </p:spTree>
    <p:extLst>
      <p:ext uri="{BB962C8B-B14F-4D97-AF65-F5344CB8AC3E}">
        <p14:creationId xmlns:p14="http://schemas.microsoft.com/office/powerpoint/2010/main" val="70934246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03133A46-43F0-4734-A847-009F11688B7F}"/>
              </a:ext>
            </a:extLst>
          </p:cNvPr>
          <p:cNvSpPr>
            <a:spLocks noGrp="1"/>
          </p:cNvSpPr>
          <p:nvPr>
            <p:ph type="body" sz="quarter" idx="14"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vl2pPr>
              <a:spcBef>
                <a:spcPts val="1000"/>
              </a:spcBef>
              <a:spcAft>
                <a:spcPts val="0"/>
              </a:spcAft>
              <a:defRPr/>
            </a:lvl2pPr>
            <a:lvl3pPr>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2pPr>
              <a:spcBef>
                <a:spcPts val="1000"/>
              </a:spcBef>
              <a:spcAft>
                <a:spcPts val="0"/>
              </a:spcAft>
              <a:defRPr/>
            </a:lvl2pPr>
            <a:lvl3pPr>
              <a:spcBef>
                <a:spcPts val="1000"/>
              </a:spcBef>
              <a:spcAft>
                <a:spcPts val="0"/>
              </a:spcAft>
              <a:defRPr/>
            </a:lvl3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F07503B-138D-44F5-84FC-A7637F059B66}"/>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D5840A85-FE10-45F4-81E4-A52DE2319ED9}"/>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Appendix Link">
            <a:extLst>
              <a:ext uri="{FF2B5EF4-FFF2-40B4-BE49-F238E27FC236}">
                <a16:creationId xmlns:a16="http://schemas.microsoft.com/office/drawing/2014/main" id="{72A1E447-C26A-4D25-8792-9B7C6A839F37}"/>
              </a:ext>
            </a:extLst>
          </p:cNvPr>
          <p:cNvSpPr>
            <a:spLocks noGrp="1"/>
          </p:cNvSpPr>
          <p:nvPr>
            <p:ph type="body" sz="quarter" idx="15"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CA880A79-A85B-437C-BC20-FC23BDD36F54}"/>
              </a:ext>
            </a:extLst>
          </p:cNvPr>
          <p:cNvSpPr>
            <a:spLocks noGrp="1"/>
          </p:cNvSpPr>
          <p:nvPr>
            <p:ph type="body" sz="quarter" idx="16"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9893AC4A-29B0-44AE-8CE5-26A7096591D7}"/>
              </a:ext>
            </a:extLst>
          </p:cNvPr>
          <p:cNvSpPr>
            <a:spLocks noGrp="1"/>
          </p:cNvSpPr>
          <p:nvPr>
            <p:ph type="body" sz="quarter" idx="19"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553357"/>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810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474668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3546"/>
            <a:ext cx="8458200" cy="821119"/>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9749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20368"/>
            <a:ext cx="8458200" cy="49528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587044"/>
            <a:ext cx="8458200" cy="497349"/>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223090"/>
            <a:ext cx="8458200" cy="4891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870885"/>
            <a:ext cx="8458200" cy="428155"/>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481749"/>
            <a:ext cx="8458200" cy="436533"/>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12" name="Content Placeholder 7">
            <a:extLst>
              <a:ext uri="{FF2B5EF4-FFF2-40B4-BE49-F238E27FC236}">
                <a16:creationId xmlns:a16="http://schemas.microsoft.com/office/drawing/2014/main" id="{CBC0FE29-09D4-4E55-BCD6-2FA65595DD14}"/>
              </a:ext>
            </a:extLst>
          </p:cNvPr>
          <p:cNvSpPr>
            <a:spLocks noGrp="1"/>
          </p:cNvSpPr>
          <p:nvPr>
            <p:ph sz="quarter" idx="19" hasCustomPrompt="1"/>
          </p:nvPr>
        </p:nvSpPr>
        <p:spPr>
          <a:xfrm>
            <a:off x="342900" y="5091317"/>
            <a:ext cx="8458200" cy="436533"/>
          </a:xfrm>
        </p:spPr>
        <p:txBody>
          <a:bodyPr/>
          <a:lstStyle>
            <a:lvl1pPr>
              <a:defRPr/>
            </a:lvl1pPr>
          </a:lstStyle>
          <a:p>
            <a:pPr lvl="0"/>
            <a:r>
              <a:rPr lang="en-US" dirty="0"/>
              <a:t>Slide Content 7</a:t>
            </a:r>
          </a:p>
          <a:p>
            <a:pPr lvl="1"/>
            <a:r>
              <a:rPr lang="en-US" dirty="0"/>
              <a:t>Second level</a:t>
            </a:r>
          </a:p>
          <a:p>
            <a:pPr lvl="2"/>
            <a:r>
              <a:rPr lang="en-US" dirty="0"/>
              <a:t>Third level</a:t>
            </a:r>
          </a:p>
        </p:txBody>
      </p:sp>
      <p:sp>
        <p:nvSpPr>
          <p:cNvPr id="16" name="Content Placeholder 8">
            <a:extLst>
              <a:ext uri="{FF2B5EF4-FFF2-40B4-BE49-F238E27FC236}">
                <a16:creationId xmlns:a16="http://schemas.microsoft.com/office/drawing/2014/main" id="{CDAC9D78-8CE5-4E8D-AA81-3FCEE7371FFF}"/>
              </a:ext>
            </a:extLst>
          </p:cNvPr>
          <p:cNvSpPr>
            <a:spLocks noGrp="1"/>
          </p:cNvSpPr>
          <p:nvPr>
            <p:ph sz="quarter" idx="20" hasCustomPrompt="1"/>
          </p:nvPr>
        </p:nvSpPr>
        <p:spPr>
          <a:xfrm>
            <a:off x="342900" y="5711422"/>
            <a:ext cx="8458200" cy="436533"/>
          </a:xfrm>
        </p:spPr>
        <p:txBody>
          <a:bodyPr/>
          <a:lstStyle>
            <a:lvl1pPr>
              <a:defRPr/>
            </a:lvl1pPr>
          </a:lstStyle>
          <a:p>
            <a:pPr lvl="0"/>
            <a:r>
              <a:rPr lang="en-US" dirty="0"/>
              <a:t>Slide Content 8</a:t>
            </a:r>
          </a:p>
          <a:p>
            <a:pPr lvl="1"/>
            <a:r>
              <a:rPr lang="en-US" dirty="0"/>
              <a:t>Second level</a:t>
            </a:r>
          </a:p>
          <a:p>
            <a:pPr lvl="2"/>
            <a:r>
              <a:rPr lang="en-US" dirty="0"/>
              <a:t>Third level</a:t>
            </a:r>
          </a:p>
        </p:txBody>
      </p:sp>
      <p:sp>
        <p:nvSpPr>
          <p:cNvPr id="17" name="Content Placeholder 9">
            <a:extLst>
              <a:ext uri="{FF2B5EF4-FFF2-40B4-BE49-F238E27FC236}">
                <a16:creationId xmlns:a16="http://schemas.microsoft.com/office/drawing/2014/main" id="{E3C60504-9967-4D01-B408-D8C146D1DFFA}"/>
              </a:ext>
            </a:extLst>
          </p:cNvPr>
          <p:cNvSpPr>
            <a:spLocks noGrp="1"/>
          </p:cNvSpPr>
          <p:nvPr>
            <p:ph sz="quarter" idx="21" hasCustomPrompt="1"/>
          </p:nvPr>
        </p:nvSpPr>
        <p:spPr>
          <a:xfrm>
            <a:off x="344638" y="6684963"/>
            <a:ext cx="8458200" cy="436533"/>
          </a:xfrm>
        </p:spPr>
        <p:txBody>
          <a:bodyPr/>
          <a:lstStyle>
            <a:lvl1pPr>
              <a:defRPr/>
            </a:lvl1pPr>
          </a:lstStyle>
          <a:p>
            <a:pPr lvl="0"/>
            <a:r>
              <a:rPr lang="en-US" dirty="0"/>
              <a:t>Slide Content 9</a:t>
            </a:r>
          </a:p>
          <a:p>
            <a:pPr lvl="1"/>
            <a:r>
              <a:rPr lang="en-US" dirty="0"/>
              <a:t>Second level</a:t>
            </a:r>
          </a:p>
          <a:p>
            <a:pPr lvl="2"/>
            <a:r>
              <a:rPr lang="en-US" dirty="0"/>
              <a:t>Third level</a:t>
            </a:r>
          </a:p>
        </p:txBody>
      </p:sp>
      <p:sp>
        <p:nvSpPr>
          <p:cNvPr id="18" name="Content Placeholder 10">
            <a:extLst>
              <a:ext uri="{FF2B5EF4-FFF2-40B4-BE49-F238E27FC236}">
                <a16:creationId xmlns:a16="http://schemas.microsoft.com/office/drawing/2014/main" id="{A99C91D1-85FB-4150-AE75-34B22018BC06}"/>
              </a:ext>
            </a:extLst>
          </p:cNvPr>
          <p:cNvSpPr>
            <a:spLocks noGrp="1"/>
          </p:cNvSpPr>
          <p:nvPr>
            <p:ph sz="quarter" idx="22" hasCustomPrompt="1"/>
          </p:nvPr>
        </p:nvSpPr>
        <p:spPr>
          <a:xfrm>
            <a:off x="342900" y="7328393"/>
            <a:ext cx="8458200" cy="436533"/>
          </a:xfrm>
        </p:spPr>
        <p:txBody>
          <a:bodyPr/>
          <a:lstStyle>
            <a:lvl1pPr>
              <a:defRPr/>
            </a:lvl1pPr>
          </a:lstStyle>
          <a:p>
            <a:pPr lvl="0"/>
            <a:r>
              <a:rPr lang="en-US" dirty="0"/>
              <a:t>Slide Content 10</a:t>
            </a:r>
          </a:p>
          <a:p>
            <a:pPr lvl="1"/>
            <a:r>
              <a:rPr lang="en-US" dirty="0"/>
              <a:t>Second level</a:t>
            </a:r>
          </a:p>
          <a:p>
            <a:pPr lvl="2"/>
            <a:r>
              <a:rPr lang="en-US" dirty="0"/>
              <a:t>Third level</a:t>
            </a:r>
          </a:p>
        </p:txBody>
      </p:sp>
      <p:sp>
        <p:nvSpPr>
          <p:cNvPr id="14" name="Appendix Link">
            <a:extLst>
              <a:ext uri="{FF2B5EF4-FFF2-40B4-BE49-F238E27FC236}">
                <a16:creationId xmlns:a16="http://schemas.microsoft.com/office/drawing/2014/main" id="{2C2257D7-2308-4360-85BA-37F9E2351455}"/>
              </a:ext>
            </a:extLst>
          </p:cNvPr>
          <p:cNvSpPr>
            <a:spLocks noGrp="1"/>
          </p:cNvSpPr>
          <p:nvPr>
            <p:ph type="body" sz="quarter" idx="12" hasCustomPrompt="1"/>
          </p:nvPr>
        </p:nvSpPr>
        <p:spPr>
          <a:xfrm>
            <a:off x="2928045" y="6331527"/>
            <a:ext cx="3287910" cy="260843"/>
          </a:xfrm>
        </p:spPr>
        <p:txBody>
          <a:bodyPr anchor="ctr">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3407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solidFill>
                  <a:srgbClr val="15499F"/>
                </a:solidFill>
              </a:defRPr>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8946740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992443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lnSpc>
                <a:spcPct val="100000"/>
              </a:lnSpc>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noAutofit/>
          </a:bodyPr>
          <a:lstStyle>
            <a:lvl1pPr>
              <a:defRPr sz="2400"/>
            </a:lvl1pPr>
            <a:lvl2pPr>
              <a:defRPr sz="2400"/>
            </a:lvl2pPr>
            <a:lvl3pPr marL="640080">
              <a:defRPr sz="2000"/>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noAutofit/>
          </a:bodyPr>
          <a:lstStyle>
            <a:lvl1pPr>
              <a:defRPr sz="2400"/>
            </a:lvl1pPr>
            <a:lvl2pPr>
              <a:defRPr sz="2400"/>
            </a:lvl2pPr>
            <a:lvl3pPr marL="640080">
              <a:defRPr sz="2000"/>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noAutofit/>
          </a:bodyPr>
          <a:lstStyle>
            <a:lvl1pPr>
              <a:defRPr sz="2400"/>
            </a:lvl1pPr>
            <a:lvl2pPr>
              <a:defRPr sz="2400"/>
            </a:lvl2pPr>
            <a:lvl3pPr marL="640080">
              <a:defRPr sz="2000"/>
            </a:lvl3pPr>
          </a:lstStyle>
          <a:p>
            <a:pPr lvl="0"/>
            <a:r>
              <a:rPr lang="en-US" dirty="0"/>
              <a:t>Slide Content 3</a:t>
            </a:r>
          </a:p>
          <a:p>
            <a:pPr lvl="1"/>
            <a:r>
              <a:rPr lang="en-US" dirty="0"/>
              <a:t>Second level</a:t>
            </a:r>
          </a:p>
          <a:p>
            <a:pPr lvl="2"/>
            <a:r>
              <a:rPr lang="en-US" dirty="0"/>
              <a:t>Third level</a:t>
            </a:r>
          </a:p>
        </p:txBody>
      </p:sp>
      <p:sp>
        <p:nvSpPr>
          <p:cNvPr id="10" name="Appendix Link">
            <a:extLst>
              <a:ext uri="{FF2B5EF4-FFF2-40B4-BE49-F238E27FC236}">
                <a16:creationId xmlns:a16="http://schemas.microsoft.com/office/drawing/2014/main" id="{94C876B4-C8F8-4EDA-9579-00F8F36CB98C}"/>
              </a:ext>
            </a:extLst>
          </p:cNvPr>
          <p:cNvSpPr>
            <a:spLocks noGrp="1"/>
          </p:cNvSpPr>
          <p:nvPr>
            <p:ph type="body" sz="quarter" idx="29" hasCustomPrompt="1"/>
          </p:nvPr>
        </p:nvSpPr>
        <p:spPr>
          <a:xfrm>
            <a:off x="3200400" y="6324600"/>
            <a:ext cx="2743200" cy="192024"/>
          </a:xfrm>
        </p:spPr>
        <p:txBody>
          <a:bodyPr anchor="b" anchorCtr="0">
            <a:noAutofit/>
          </a:bodyPr>
          <a:lstStyle>
            <a:lvl1pPr algn="ctr">
              <a:defRPr sz="900"/>
            </a:lvl1pPr>
          </a:lstStyle>
          <a:p>
            <a:pPr lvl="0"/>
            <a:r>
              <a:rPr lang="en-US" dirty="0"/>
              <a:t>Add text alternative link, if needed.</a:t>
            </a:r>
          </a:p>
        </p:txBody>
      </p:sp>
      <p:sp>
        <p:nvSpPr>
          <p:cNvPr id="11" name="Image Credit">
            <a:extLst>
              <a:ext uri="{FF2B5EF4-FFF2-40B4-BE49-F238E27FC236}">
                <a16:creationId xmlns:a16="http://schemas.microsoft.com/office/drawing/2014/main" id="{9138FC26-0A66-41D8-932B-35FF43FDA976}"/>
              </a:ext>
            </a:extLst>
          </p:cNvPr>
          <p:cNvSpPr>
            <a:spLocks noGrp="1"/>
          </p:cNvSpPr>
          <p:nvPr>
            <p:ph type="body" sz="quarter" idx="30" hasCustomPrompt="1"/>
          </p:nvPr>
        </p:nvSpPr>
        <p:spPr>
          <a:xfrm>
            <a:off x="1562101" y="6684963"/>
            <a:ext cx="6976872" cy="173736"/>
          </a:xfrm>
        </p:spPr>
        <p:txBody>
          <a:bodyPr anchor="ctr" anchorCtr="0">
            <a:noAutofit/>
          </a:bodyPr>
          <a:lstStyle>
            <a:lvl1pPr algn="r">
              <a:defRPr sz="800">
                <a:solidFill>
                  <a:srgbClr val="595959"/>
                </a:solidFill>
              </a:defRPr>
            </a:lvl1pPr>
          </a:lstStyle>
          <a:p>
            <a:pPr lvl="0"/>
            <a:r>
              <a:rPr lang="en-US" dirty="0"/>
              <a:t>Insert Image Credit Here</a:t>
            </a:r>
          </a:p>
        </p:txBody>
      </p:sp>
    </p:spTree>
    <p:extLst>
      <p:ext uri="{BB962C8B-B14F-4D97-AF65-F5344CB8AC3E}">
        <p14:creationId xmlns:p14="http://schemas.microsoft.com/office/powerpoint/2010/main" val="5875130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t"/>
          <a:lstStyle>
            <a:lvl1pPr>
              <a:defRPr sz="36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95750754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LLC. All rights reserved. Authorized only for instructor use in the classroom.</a:t>
            </a:r>
          </a:p>
          <a:p>
            <a:pPr defTabSz="457200">
              <a:spcBef>
                <a:spcPct val="20000"/>
              </a:spcBef>
              <a:defRPr/>
            </a:pPr>
            <a:r>
              <a:rPr lang="en-US" dirty="0"/>
              <a:t>No reproduction or further distribution permitted without the prior written consent of McGraw Hill, LLC.</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BF25DC59-5AB2-417D-B46A-F09F380F8F67}"/>
              </a:ext>
            </a:extLst>
          </p:cNvPr>
          <p:cNvSpPr>
            <a:spLocks noGrp="1"/>
          </p:cNvSpPr>
          <p:nvPr>
            <p:ph sz="quarter" idx="10"/>
          </p:nvPr>
        </p:nvSpPr>
        <p:spPr>
          <a:xfrm>
            <a:off x="277813" y="6526213"/>
            <a:ext cx="8699500" cy="2047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395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469231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5890800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49380"/>
            <a:ext cx="8458200" cy="822237"/>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01138"/>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556084"/>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Content Placeholder 2">
            <a:extLst>
              <a:ext uri="{FF2B5EF4-FFF2-40B4-BE49-F238E27FC236}">
                <a16:creationId xmlns:a16="http://schemas.microsoft.com/office/drawing/2014/main" id="{490B3C5B-11B7-40DF-8C64-810D6BDA38D4}"/>
              </a:ext>
            </a:extLst>
          </p:cNvPr>
          <p:cNvSpPr>
            <a:spLocks noGrp="1"/>
          </p:cNvSpPr>
          <p:nvPr>
            <p:ph sz="quarter" idx="16" hasCustomPrompt="1"/>
          </p:nvPr>
        </p:nvSpPr>
        <p:spPr>
          <a:xfrm>
            <a:off x="342900" y="2190333"/>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0A10E1C6-4B3F-4C63-942D-1E6D75385F15}"/>
              </a:ext>
            </a:extLst>
          </p:cNvPr>
          <p:cNvSpPr>
            <a:spLocks noGrp="1"/>
          </p:cNvSpPr>
          <p:nvPr>
            <p:ph sz="quarter" idx="17" hasCustomPrompt="1"/>
          </p:nvPr>
        </p:nvSpPr>
        <p:spPr>
          <a:xfrm>
            <a:off x="342900" y="2911070"/>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9" name="Content Placeholder 4">
            <a:extLst>
              <a:ext uri="{FF2B5EF4-FFF2-40B4-BE49-F238E27FC236}">
                <a16:creationId xmlns:a16="http://schemas.microsoft.com/office/drawing/2014/main" id="{ED735AF3-A935-487D-8BC0-2ADACC4D12C5}"/>
              </a:ext>
            </a:extLst>
          </p:cNvPr>
          <p:cNvSpPr>
            <a:spLocks noGrp="1"/>
          </p:cNvSpPr>
          <p:nvPr>
            <p:ph sz="quarter" idx="18" hasCustomPrompt="1"/>
          </p:nvPr>
        </p:nvSpPr>
        <p:spPr>
          <a:xfrm>
            <a:off x="342900" y="3603884"/>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Content Placeholder 5">
            <a:extLst>
              <a:ext uri="{FF2B5EF4-FFF2-40B4-BE49-F238E27FC236}">
                <a16:creationId xmlns:a16="http://schemas.microsoft.com/office/drawing/2014/main" id="{058448AB-B8F6-4BD0-8F77-9F55C60D013C}"/>
              </a:ext>
            </a:extLst>
          </p:cNvPr>
          <p:cNvSpPr>
            <a:spLocks noGrp="1"/>
          </p:cNvSpPr>
          <p:nvPr>
            <p:ph sz="quarter" idx="19" hasCustomPrompt="1"/>
          </p:nvPr>
        </p:nvSpPr>
        <p:spPr>
          <a:xfrm>
            <a:off x="342900" y="4373367"/>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2" name="Content Placeholder 6">
            <a:extLst>
              <a:ext uri="{FF2B5EF4-FFF2-40B4-BE49-F238E27FC236}">
                <a16:creationId xmlns:a16="http://schemas.microsoft.com/office/drawing/2014/main" id="{FDE29B8C-DC5B-4D69-A6E1-B037A10230B9}"/>
              </a:ext>
            </a:extLst>
          </p:cNvPr>
          <p:cNvSpPr>
            <a:spLocks noGrp="1"/>
          </p:cNvSpPr>
          <p:nvPr>
            <p:ph sz="quarter" idx="20" hasCustomPrompt="1"/>
          </p:nvPr>
        </p:nvSpPr>
        <p:spPr>
          <a:xfrm>
            <a:off x="342900" y="5109425"/>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3" name="Content Placeholder 7">
            <a:extLst>
              <a:ext uri="{FF2B5EF4-FFF2-40B4-BE49-F238E27FC236}">
                <a16:creationId xmlns:a16="http://schemas.microsoft.com/office/drawing/2014/main" id="{D6B72EA2-E700-4D29-8572-424762F78C33}"/>
              </a:ext>
            </a:extLst>
          </p:cNvPr>
          <p:cNvSpPr>
            <a:spLocks noGrp="1"/>
          </p:cNvSpPr>
          <p:nvPr>
            <p:ph sz="quarter" idx="21" hasCustomPrompt="1"/>
          </p:nvPr>
        </p:nvSpPr>
        <p:spPr>
          <a:xfrm>
            <a:off x="342900" y="5743672"/>
            <a:ext cx="8458200" cy="504728"/>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51294063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4D3A09E2-C861-4D48-B4DB-F718B64FF46D}"/>
              </a:ext>
            </a:extLst>
          </p:cNvPr>
          <p:cNvSpPr txBox="1">
            <a:spLocks/>
          </p:cNvSpPr>
          <p:nvPr userDrawn="1"/>
        </p:nvSpPr>
        <p:spPr>
          <a:xfrm>
            <a:off x="342900" y="235525"/>
            <a:ext cx="8458200" cy="8222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dirty="0"/>
              <a:t>Slide Title</a:t>
            </a:r>
            <a:br>
              <a:rPr lang="en-US" dirty="0"/>
            </a:b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6585788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04" r:id="rId3"/>
    <p:sldLayoutId id="2147483682" r:id="rId4"/>
    <p:sldLayoutId id="2147483683" r:id="rId5"/>
    <p:sldLayoutId id="2147483718"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F7BFBE01-8512-49BF-81D6-10C5E13594C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9" r:id="rId7"/>
    <p:sldLayoutId id="2147483716" r:id="rId8"/>
    <p:sldLayoutId id="2147483710" r:id="rId9"/>
    <p:sldLayoutId id="2147483713" r:id="rId10"/>
    <p:sldLayoutId id="2147483714" r:id="rId11"/>
    <p:sldLayoutId id="2147483715" r:id="rId12"/>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baseline="0">
          <a:solidFill>
            <a:schemeClr val="tx2"/>
          </a:solidFill>
          <a:latin typeface="+mn-lt"/>
          <a:ea typeface="+mn-ea"/>
          <a:cs typeface="+mn-cs"/>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400" kern="1200" baseline="0">
          <a:solidFill>
            <a:schemeClr val="tx2"/>
          </a:solidFill>
          <a:latin typeface="+mn-lt"/>
          <a:ea typeface="+mn-ea"/>
          <a:cs typeface="+mn-cs"/>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solidFill>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 LLC</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841519326"/>
      </p:ext>
    </p:extLst>
  </p:cSld>
  <p:clrMap bg1="lt1" tx1="dk1" bg2="lt2" tx2="dk2" accent1="accent1" accent2="accent2" accent3="accent3" accent4="accent4" accent5="accent5" accent6="accent6" hlink="hlink" folHlink="folHlink"/>
  <p:sldLayoutIdLst>
    <p:sldLayoutId id="2147483707" r:id="rId1"/>
    <p:sldLayoutId id="2147483717" r:id="rId2"/>
    <p:sldLayoutId id="2147483708"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slide" Target="slide4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slide" Target="slide4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9.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272846" y="990600"/>
            <a:ext cx="5487287" cy="1898341"/>
          </a:xfrm>
        </p:spPr>
        <p:txBody>
          <a:bodyPr>
            <a:noAutofit/>
          </a:bodyPr>
          <a:lstStyle/>
          <a:p>
            <a:pPr>
              <a:buNone/>
            </a:pPr>
            <a:r>
              <a:rPr lang="en-AU" sz="3200" dirty="0"/>
              <a:t>MGT10009 Contemporary Management Principles</a:t>
            </a:r>
            <a:endParaRPr lang="en-GB" sz="3200" dirty="0">
              <a:latin typeface="Arial" pitchFamily="34" charset="0"/>
              <a:cs typeface="Arial" pitchFamily="34" charset="0"/>
            </a:endParaRPr>
          </a:p>
          <a:p>
            <a:pPr>
              <a:buNone/>
            </a:pPr>
            <a:r>
              <a:rPr lang="en-AU" sz="3200" dirty="0"/>
              <a:t> Lecture 8 </a:t>
            </a:r>
            <a:r>
              <a:rPr lang="en-AU" sz="3200"/>
              <a:t>Org Structure</a:t>
            </a:r>
            <a:endParaRPr lang="en-AU" sz="3200" dirty="0"/>
          </a:p>
        </p:txBody>
      </p:sp>
      <p:sp>
        <p:nvSpPr>
          <p:cNvPr id="5" name="Text Placeholder 4"/>
          <p:cNvSpPr>
            <a:spLocks noGrp="1"/>
          </p:cNvSpPr>
          <p:nvPr>
            <p:ph type="body" sz="quarter" idx="14"/>
          </p:nvPr>
        </p:nvSpPr>
        <p:spPr>
          <a:xfrm>
            <a:off x="339213" y="2983707"/>
            <a:ext cx="4132775" cy="1417402"/>
          </a:xfrm>
        </p:spPr>
        <p:txBody>
          <a:bodyPr/>
          <a:lstStyle/>
          <a:p>
            <a:pPr>
              <a:buNone/>
            </a:pPr>
            <a:r>
              <a:rPr lang="en-AU" sz="2400" dirty="0"/>
              <a:t>Dr David Qian </a:t>
            </a:r>
            <a:r>
              <a:rPr lang="en-AU" sz="1600" dirty="0"/>
              <a:t>dqian@swin.edu.au</a:t>
            </a:r>
          </a:p>
          <a:p>
            <a:pPr>
              <a:buNone/>
            </a:pPr>
            <a:r>
              <a:rPr lang="en-AU" sz="2400" dirty="0"/>
              <a:t>Peter Moran </a:t>
            </a:r>
            <a:r>
              <a:rPr lang="en-AU" sz="1600" dirty="0"/>
              <a:t>pmoran@swin.edu.au</a:t>
            </a:r>
          </a:p>
        </p:txBody>
      </p:sp>
    </p:spTree>
    <p:extLst>
      <p:ext uri="{BB962C8B-B14F-4D97-AF65-F5344CB8AC3E}">
        <p14:creationId xmlns:p14="http://schemas.microsoft.com/office/powerpoint/2010/main" val="243967569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42C6F-64D4-4FC0-A590-011A0A3CE9C6}"/>
              </a:ext>
            </a:extLst>
          </p:cNvPr>
          <p:cNvSpPr>
            <a:spLocks noGrp="1"/>
          </p:cNvSpPr>
          <p:nvPr>
            <p:ph type="title"/>
          </p:nvPr>
        </p:nvSpPr>
        <p:spPr/>
        <p:txBody>
          <a:bodyPr/>
          <a:lstStyle/>
          <a:p>
            <a:pPr algn="ctr"/>
            <a:r>
              <a:rPr lang="en-US" noProof="0" dirty="0">
                <a:highlight>
                  <a:srgbClr val="FFFF00"/>
                </a:highlight>
              </a:rPr>
              <a:t>Learning Objectives</a:t>
            </a:r>
          </a:p>
        </p:txBody>
      </p:sp>
      <p:sp>
        <p:nvSpPr>
          <p:cNvPr id="3" name="Content Placeholder 2">
            <a:extLst>
              <a:ext uri="{FF2B5EF4-FFF2-40B4-BE49-F238E27FC236}">
                <a16:creationId xmlns:a16="http://schemas.microsoft.com/office/drawing/2014/main" id="{FA3088DE-9021-45DB-9A88-DA3E305FC7F3}"/>
              </a:ext>
            </a:extLst>
          </p:cNvPr>
          <p:cNvSpPr>
            <a:spLocks noGrp="1"/>
          </p:cNvSpPr>
          <p:nvPr>
            <p:ph sz="quarter" idx="11"/>
          </p:nvPr>
        </p:nvSpPr>
        <p:spPr/>
        <p:txBody>
          <a:bodyPr>
            <a:noAutofit/>
          </a:bodyPr>
          <a:lstStyle/>
          <a:p>
            <a:pPr marL="512763" indent="-512763">
              <a:defRPr/>
            </a:pPr>
            <a:r>
              <a:rPr lang="en-US" b="1" noProof="0" dirty="0">
                <a:solidFill>
                  <a:srgbClr val="B0141B"/>
                </a:solidFill>
              </a:rPr>
              <a:t>5-1 </a:t>
            </a:r>
            <a:r>
              <a:rPr lang="en-US" noProof="0" dirty="0">
                <a:solidFill>
                  <a:schemeClr val="tx1"/>
                </a:solidFill>
              </a:rPr>
              <a:t>Describe how different ethical perspectives guide decision making.</a:t>
            </a:r>
          </a:p>
          <a:p>
            <a:pPr marL="512763" indent="-512763">
              <a:defRPr/>
            </a:pPr>
            <a:r>
              <a:rPr lang="en-US" b="1" noProof="0" dirty="0">
                <a:solidFill>
                  <a:srgbClr val="B0141B"/>
                </a:solidFill>
              </a:rPr>
              <a:t>5-2	</a:t>
            </a:r>
            <a:r>
              <a:rPr lang="en-US" noProof="0" dirty="0">
                <a:solidFill>
                  <a:schemeClr val="tx1"/>
                </a:solidFill>
              </a:rPr>
              <a:t>Explain how companies influence their ethics environment.</a:t>
            </a:r>
            <a:r>
              <a:rPr lang="en-US" b="1" noProof="0" dirty="0">
                <a:solidFill>
                  <a:schemeClr val="tx1"/>
                </a:solidFill>
              </a:rPr>
              <a:t> </a:t>
            </a:r>
          </a:p>
          <a:p>
            <a:pPr marL="512763" indent="-512763">
              <a:defRPr/>
            </a:pPr>
            <a:r>
              <a:rPr lang="en-US" b="1" noProof="0" dirty="0">
                <a:solidFill>
                  <a:srgbClr val="B0141B"/>
                </a:solidFill>
              </a:rPr>
              <a:t>5-3	</a:t>
            </a:r>
            <a:r>
              <a:rPr lang="en-US" noProof="0" dirty="0">
                <a:solidFill>
                  <a:schemeClr val="tx1"/>
                </a:solidFill>
              </a:rPr>
              <a:t>Outline a process for making ethical decisions. </a:t>
            </a:r>
          </a:p>
          <a:p>
            <a:pPr marL="512763" indent="-512763">
              <a:defRPr/>
            </a:pPr>
            <a:r>
              <a:rPr lang="en-US" b="1" noProof="0" dirty="0">
                <a:solidFill>
                  <a:srgbClr val="B0141B"/>
                </a:solidFill>
              </a:rPr>
              <a:t>5-4 </a:t>
            </a:r>
            <a:r>
              <a:rPr lang="en-US" noProof="0" dirty="0">
                <a:solidFill>
                  <a:schemeClr val="tx1"/>
                </a:solidFill>
              </a:rPr>
              <a:t>Summarize the important issues surrounding corporate social responsibility.</a:t>
            </a:r>
          </a:p>
          <a:p>
            <a:pPr marL="512763" indent="-512763">
              <a:defRPr/>
            </a:pPr>
            <a:r>
              <a:rPr lang="en-US" b="1" noProof="0" dirty="0">
                <a:solidFill>
                  <a:srgbClr val="B0141B"/>
                </a:solidFill>
              </a:rPr>
              <a:t>5-5</a:t>
            </a:r>
            <a:r>
              <a:rPr lang="en-US" noProof="0" dirty="0">
                <a:solidFill>
                  <a:srgbClr val="B0141B"/>
                </a:solidFill>
              </a:rPr>
              <a:t>	</a:t>
            </a:r>
            <a:r>
              <a:rPr lang="en-US" noProof="0" dirty="0">
                <a:solidFill>
                  <a:schemeClr val="tx1"/>
                </a:solidFill>
              </a:rPr>
              <a:t>Discuss reasons for businesses’ growing interest in the natural environment.</a:t>
            </a:r>
            <a:r>
              <a:rPr lang="en-US" b="1" noProof="0" dirty="0">
                <a:solidFill>
                  <a:schemeClr val="tx1"/>
                </a:solidFill>
              </a:rPr>
              <a:t> </a:t>
            </a:r>
          </a:p>
          <a:p>
            <a:pPr marL="512763" indent="-512763">
              <a:defRPr/>
            </a:pPr>
            <a:r>
              <a:rPr lang="en-US" b="1" noProof="0" dirty="0">
                <a:solidFill>
                  <a:srgbClr val="B0141B"/>
                </a:solidFill>
              </a:rPr>
              <a:t>5-6 </a:t>
            </a:r>
            <a:r>
              <a:rPr lang="en-US" noProof="0" dirty="0">
                <a:solidFill>
                  <a:schemeClr val="tx1"/>
                </a:solidFill>
              </a:rPr>
              <a:t>Identify actions managers can take to manage with the environment in mind. </a:t>
            </a:r>
          </a:p>
        </p:txBody>
      </p:sp>
      <p:sp>
        <p:nvSpPr>
          <p:cNvPr id="6" name="Slide Number Placeholder 5">
            <a:extLst>
              <a:ext uri="{FF2B5EF4-FFF2-40B4-BE49-F238E27FC236}">
                <a16:creationId xmlns:a16="http://schemas.microsoft.com/office/drawing/2014/main" id="{1F0334C2-0494-4F34-A8A9-FF516597A4BF}"/>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278085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p:txBody>
          <a:bodyPr/>
          <a:lstStyle/>
          <a:p>
            <a:pPr algn="ctr"/>
            <a:r>
              <a:rPr lang="en-US" noProof="0" dirty="0">
                <a:highlight>
                  <a:srgbClr val="FFFF00"/>
                </a:highlight>
              </a:rPr>
              <a:t>It’s a Big Issue</a:t>
            </a:r>
          </a:p>
        </p:txBody>
      </p:sp>
      <p:sp>
        <p:nvSpPr>
          <p:cNvPr id="9" name="Content Placeholder 8">
            <a:extLst>
              <a:ext uri="{FF2B5EF4-FFF2-40B4-BE49-F238E27FC236}">
                <a16:creationId xmlns:a16="http://schemas.microsoft.com/office/drawing/2014/main" id="{ADC92AED-DC6B-43F8-A2E4-D28F2201E7A4}"/>
              </a:ext>
            </a:extLst>
          </p:cNvPr>
          <p:cNvSpPr>
            <a:spLocks noGrp="1"/>
          </p:cNvSpPr>
          <p:nvPr>
            <p:ph sz="quarter" idx="11"/>
          </p:nvPr>
        </p:nvSpPr>
        <p:spPr/>
        <p:txBody>
          <a:bodyPr/>
          <a:lstStyle/>
          <a:p>
            <a:r>
              <a:rPr lang="en-US" b="1" noProof="0" dirty="0"/>
              <a:t>Ethics </a:t>
            </a:r>
            <a:r>
              <a:rPr lang="en-US" noProof="0" dirty="0"/>
              <a:t>are the system of rules that governs the ordering of values.</a:t>
            </a:r>
          </a:p>
          <a:p>
            <a:pPr lvl="1"/>
            <a:r>
              <a:rPr lang="en-US" noProof="0" dirty="0"/>
              <a:t>It’s often the rank-and-file employees who suffer most.</a:t>
            </a:r>
          </a:p>
          <a:p>
            <a:pPr lvl="1"/>
            <a:r>
              <a:rPr lang="en-US" noProof="0" dirty="0"/>
              <a:t>The right thing to do is not always evident or easy.</a:t>
            </a:r>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fld id="{68151E55-6873-49E2-B8D5-2F265E6F1973}" type="slidenum">
              <a:rPr lang="en-US" smtClean="0"/>
              <a:t>3</a:t>
            </a:fld>
            <a:endParaRPr lang="en-US" dirty="0"/>
          </a:p>
        </p:txBody>
      </p:sp>
      <p:pic>
        <p:nvPicPr>
          <p:cNvPr id="3" name="Picture 2" descr="Customer service man frustrated">
            <a:extLst>
              <a:ext uri="{FF2B5EF4-FFF2-40B4-BE49-F238E27FC236}">
                <a16:creationId xmlns:a16="http://schemas.microsoft.com/office/drawing/2014/main" id="{48A74EFA-BB20-651F-9D67-20AAC5B49A9F}"/>
              </a:ext>
            </a:extLst>
          </p:cNvPr>
          <p:cNvPicPr>
            <a:picLocks noChangeAspect="1"/>
          </p:cNvPicPr>
          <p:nvPr/>
        </p:nvPicPr>
        <p:blipFill>
          <a:blip r:embed="rId3"/>
          <a:stretch>
            <a:fillRect/>
          </a:stretch>
        </p:blipFill>
        <p:spPr>
          <a:xfrm>
            <a:off x="2639410" y="3500412"/>
            <a:ext cx="3214980" cy="3196192"/>
          </a:xfrm>
          <a:prstGeom prst="rect">
            <a:avLst/>
          </a:prstGeom>
        </p:spPr>
      </p:pic>
    </p:spTree>
    <p:extLst>
      <p:ext uri="{BB962C8B-B14F-4D97-AF65-F5344CB8AC3E}">
        <p14:creationId xmlns:p14="http://schemas.microsoft.com/office/powerpoint/2010/main" val="2118168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4750013-090A-467B-9E46-CF5E7EE63A0B}"/>
              </a:ext>
            </a:extLst>
          </p:cNvPr>
          <p:cNvSpPr>
            <a:spLocks noGrp="1"/>
          </p:cNvSpPr>
          <p:nvPr>
            <p:ph type="title"/>
          </p:nvPr>
        </p:nvSpPr>
        <p:spPr/>
        <p:txBody>
          <a:bodyPr/>
          <a:lstStyle/>
          <a:p>
            <a:pPr algn="ctr"/>
            <a:r>
              <a:rPr lang="en-US" noProof="0" dirty="0">
                <a:highlight>
                  <a:srgbClr val="FFFF00"/>
                </a:highlight>
              </a:rPr>
              <a:t>It’s a Personal Issue</a:t>
            </a:r>
          </a:p>
        </p:txBody>
      </p:sp>
      <p:sp>
        <p:nvSpPr>
          <p:cNvPr id="9" name="Content Placeholder 8">
            <a:extLst>
              <a:ext uri="{FF2B5EF4-FFF2-40B4-BE49-F238E27FC236}">
                <a16:creationId xmlns:a16="http://schemas.microsoft.com/office/drawing/2014/main" id="{ADC92AED-DC6B-43F8-A2E4-D28F2201E7A4}"/>
              </a:ext>
            </a:extLst>
          </p:cNvPr>
          <p:cNvSpPr>
            <a:spLocks noGrp="1"/>
          </p:cNvSpPr>
          <p:nvPr>
            <p:ph sz="quarter" idx="11"/>
          </p:nvPr>
        </p:nvSpPr>
        <p:spPr/>
        <p:txBody>
          <a:bodyPr/>
          <a:lstStyle/>
          <a:p>
            <a:r>
              <a:rPr lang="en-US" noProof="0" dirty="0"/>
              <a:t>Most people have unconscious biases that favor themselves and their own group.</a:t>
            </a:r>
          </a:p>
          <a:p>
            <a:r>
              <a:rPr lang="en-US" noProof="0" dirty="0"/>
              <a:t>Managers often:</a:t>
            </a:r>
          </a:p>
          <a:p>
            <a:pPr lvl="1"/>
            <a:r>
              <a:rPr lang="en-US" noProof="0" dirty="0"/>
              <a:t>Hire people who are like them.</a:t>
            </a:r>
          </a:p>
          <a:p>
            <a:pPr lvl="1"/>
            <a:r>
              <a:rPr lang="en-US" noProof="0" dirty="0"/>
              <a:t>Think they are immune to conflicts of interest.</a:t>
            </a:r>
          </a:p>
          <a:p>
            <a:pPr lvl="1"/>
            <a:r>
              <a:rPr lang="en-US" noProof="0" dirty="0"/>
              <a:t>Take more credit than they deserve.</a:t>
            </a:r>
          </a:p>
          <a:p>
            <a:pPr lvl="1"/>
            <a:r>
              <a:rPr lang="en-US" noProof="0" dirty="0"/>
              <a:t>Blame others when they deserve the blame.</a:t>
            </a:r>
          </a:p>
        </p:txBody>
      </p:sp>
      <p:sp>
        <p:nvSpPr>
          <p:cNvPr id="7" name="Slide Number Placeholder 6">
            <a:extLst>
              <a:ext uri="{FF2B5EF4-FFF2-40B4-BE49-F238E27FC236}">
                <a16:creationId xmlns:a16="http://schemas.microsoft.com/office/drawing/2014/main" id="{7EF6F935-67F1-4282-8570-2FB3AC29612C}"/>
              </a:ext>
            </a:extLst>
          </p:cNvPr>
          <p:cNvSpPr>
            <a:spLocks noGrp="1"/>
          </p:cNvSpPr>
          <p:nvPr>
            <p:ph type="sldNum" sz="quarter" idx="10"/>
          </p:nvPr>
        </p:nvSpPr>
        <p:spPr/>
        <p:txBody>
          <a:bodyPr/>
          <a:lstStyle/>
          <a:p>
            <a:fld id="{68151E55-6873-49E2-B8D5-2F265E6F1973}" type="slidenum">
              <a:rPr lang="en-US" smtClean="0"/>
              <a:t>4</a:t>
            </a:fld>
            <a:endParaRPr lang="en-US" dirty="0"/>
          </a:p>
        </p:txBody>
      </p:sp>
      <p:pic>
        <p:nvPicPr>
          <p:cNvPr id="3" name="Picture 2" descr="Bored Bee">
            <a:extLst>
              <a:ext uri="{FF2B5EF4-FFF2-40B4-BE49-F238E27FC236}">
                <a16:creationId xmlns:a16="http://schemas.microsoft.com/office/drawing/2014/main" id="{4287FC68-A8E8-A439-04C7-0B342A89AB19}"/>
              </a:ext>
            </a:extLst>
          </p:cNvPr>
          <p:cNvPicPr>
            <a:picLocks noChangeAspect="1"/>
          </p:cNvPicPr>
          <p:nvPr/>
        </p:nvPicPr>
        <p:blipFill>
          <a:blip r:embed="rId3"/>
          <a:stretch>
            <a:fillRect/>
          </a:stretch>
        </p:blipFill>
        <p:spPr>
          <a:xfrm>
            <a:off x="1460810" y="4325486"/>
            <a:ext cx="6540190" cy="2532514"/>
          </a:xfrm>
          <a:prstGeom prst="rect">
            <a:avLst/>
          </a:prstGeom>
        </p:spPr>
      </p:pic>
    </p:spTree>
    <p:extLst>
      <p:ext uri="{BB962C8B-B14F-4D97-AF65-F5344CB8AC3E}">
        <p14:creationId xmlns:p14="http://schemas.microsoft.com/office/powerpoint/2010/main" val="3356802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71AA6-5DD4-49C6-AC4D-AD17C6650B9E}"/>
              </a:ext>
            </a:extLst>
          </p:cNvPr>
          <p:cNvSpPr>
            <a:spLocks noGrp="1"/>
          </p:cNvSpPr>
          <p:nvPr>
            <p:ph type="title"/>
          </p:nvPr>
        </p:nvSpPr>
        <p:spPr/>
        <p:txBody>
          <a:bodyPr>
            <a:normAutofit fontScale="90000"/>
          </a:bodyPr>
          <a:lstStyle/>
          <a:p>
            <a:pPr algn="ctr"/>
            <a:r>
              <a:rPr lang="en-US" sz="1000" noProof="0" dirty="0"/>
              <a:t>Exhibit 5.1 </a:t>
            </a:r>
            <a:r>
              <a:rPr lang="en-US" noProof="0" dirty="0">
                <a:highlight>
                  <a:srgbClr val="FFFF00"/>
                </a:highlight>
              </a:rPr>
              <a:t>Possible Outcomes of Lying and Telling the Truth </a:t>
            </a:r>
            <a:r>
              <a:rPr lang="en-US" sz="1100" b="0" noProof="0" dirty="0"/>
              <a:t>1</a:t>
            </a:r>
          </a:p>
        </p:txBody>
      </p:sp>
      <p:graphicFrame>
        <p:nvGraphicFramePr>
          <p:cNvPr id="7" name="Table 7">
            <a:extLst>
              <a:ext uri="{FF2B5EF4-FFF2-40B4-BE49-F238E27FC236}">
                <a16:creationId xmlns:a16="http://schemas.microsoft.com/office/drawing/2014/main" id="{33C2F55D-AD60-4F09-837C-2CA4105AEFBF}"/>
              </a:ext>
            </a:extLst>
          </p:cNvPr>
          <p:cNvGraphicFramePr>
            <a:graphicFrameLocks noGrp="1"/>
          </p:cNvGraphicFramePr>
          <p:nvPr>
            <p:extLst>
              <p:ext uri="{D42A27DB-BD31-4B8C-83A1-F6EECF244321}">
                <p14:modId xmlns:p14="http://schemas.microsoft.com/office/powerpoint/2010/main" val="218110899"/>
              </p:ext>
            </p:extLst>
          </p:nvPr>
        </p:nvGraphicFramePr>
        <p:xfrm>
          <a:off x="550024" y="1530000"/>
          <a:ext cx="8251075" cy="4668520"/>
        </p:xfrm>
        <a:graphic>
          <a:graphicData uri="http://schemas.openxmlformats.org/drawingml/2006/table">
            <a:tbl>
              <a:tblPr firstRow="1" bandRow="1">
                <a:tableStyleId>{5C22544A-7EE6-4342-B048-85BDC9FD1C3A}</a:tableStyleId>
              </a:tblPr>
              <a:tblGrid>
                <a:gridCol w="2307245">
                  <a:extLst>
                    <a:ext uri="{9D8B030D-6E8A-4147-A177-3AD203B41FA5}">
                      <a16:colId xmlns:a16="http://schemas.microsoft.com/office/drawing/2014/main" val="1648427223"/>
                    </a:ext>
                  </a:extLst>
                </a:gridCol>
                <a:gridCol w="2629131">
                  <a:extLst>
                    <a:ext uri="{9D8B030D-6E8A-4147-A177-3AD203B41FA5}">
                      <a16:colId xmlns:a16="http://schemas.microsoft.com/office/drawing/2014/main" val="2085562610"/>
                    </a:ext>
                  </a:extLst>
                </a:gridCol>
                <a:gridCol w="3314699">
                  <a:extLst>
                    <a:ext uri="{9D8B030D-6E8A-4147-A177-3AD203B41FA5}">
                      <a16:colId xmlns:a16="http://schemas.microsoft.com/office/drawing/2014/main" val="2183451425"/>
                    </a:ext>
                  </a:extLst>
                </a:gridCol>
              </a:tblGrid>
              <a:tr h="370840">
                <a:tc>
                  <a:txBody>
                    <a:bodyPr/>
                    <a:lstStyle/>
                    <a:p>
                      <a:r>
                        <a:rPr lang="en-US" dirty="0">
                          <a:latin typeface="+mn-lt"/>
                        </a:rPr>
                        <a:t>Reason for the Lie</a:t>
                      </a:r>
                    </a:p>
                  </a:txBody>
                  <a:tcPr anchor="b">
                    <a:solidFill>
                      <a:srgbClr val="C00000"/>
                    </a:solidFill>
                  </a:tcPr>
                </a:tc>
                <a:tc>
                  <a:txBody>
                    <a:bodyPr/>
                    <a:lstStyle/>
                    <a:p>
                      <a:r>
                        <a:rPr lang="en-US" dirty="0">
                          <a:latin typeface="+mn-lt"/>
                        </a:rPr>
                        <a:t>Results of Lying</a:t>
                      </a:r>
                    </a:p>
                  </a:txBody>
                  <a:tcPr anchor="b">
                    <a:solidFill>
                      <a:srgbClr val="C00000"/>
                    </a:solidFill>
                  </a:tcPr>
                </a:tc>
                <a:tc>
                  <a:txBody>
                    <a:bodyPr/>
                    <a:lstStyle/>
                    <a:p>
                      <a:r>
                        <a:rPr lang="en-US" dirty="0">
                          <a:latin typeface="+mn-lt"/>
                        </a:rPr>
                        <a:t>Results of Telling the Truth</a:t>
                      </a:r>
                    </a:p>
                  </a:txBody>
                  <a:tcPr anchor="b">
                    <a:solidFill>
                      <a:srgbClr val="C00000"/>
                    </a:solidFill>
                  </a:tcPr>
                </a:tc>
                <a:extLst>
                  <a:ext uri="{0D108BD9-81ED-4DB2-BD59-A6C34878D82A}">
                    <a16:rowId xmlns:a16="http://schemas.microsoft.com/office/drawing/2014/main" val="1799034542"/>
                  </a:ext>
                </a:extLst>
              </a:tr>
              <a:tr h="370840">
                <a:tc>
                  <a:txBody>
                    <a:bodyPr/>
                    <a:lstStyle/>
                    <a:p>
                      <a:r>
                        <a:rPr lang="en-US" dirty="0">
                          <a:latin typeface="+mn-lt"/>
                        </a:rPr>
                        <a:t>Negotiation</a:t>
                      </a:r>
                    </a:p>
                  </a:txBody>
                  <a:tcPr/>
                </a:tc>
                <a:tc>
                  <a:txBody>
                    <a:bodyPr/>
                    <a:lstStyle/>
                    <a:p>
                      <a:pPr marL="292608" indent="-292608">
                        <a:buFont typeface="Arial" panose="020B0604020202020204" pitchFamily="34" charset="0"/>
                        <a:buChar char="•"/>
                        <a:tabLst/>
                      </a:pPr>
                      <a:r>
                        <a:rPr lang="en-US" dirty="0">
                          <a:latin typeface="+mn-lt"/>
                        </a:rPr>
                        <a:t>Short-term gain and economically positive.</a:t>
                      </a:r>
                    </a:p>
                    <a:p>
                      <a:pPr marL="292608" indent="-292608">
                        <a:buFont typeface="Arial" panose="020B0604020202020204" pitchFamily="34" charset="0"/>
                        <a:buChar char="•"/>
                        <a:tabLst/>
                      </a:pPr>
                      <a:r>
                        <a:rPr lang="en-US" dirty="0">
                          <a:latin typeface="+mn-lt"/>
                        </a:rPr>
                        <a:t>Harms long-term relationship.</a:t>
                      </a:r>
                    </a:p>
                    <a:p>
                      <a:pPr marL="292608" indent="-292608">
                        <a:buFont typeface="Arial" panose="020B0604020202020204" pitchFamily="34" charset="0"/>
                        <a:buChar char="•"/>
                        <a:tabLst/>
                      </a:pPr>
                      <a:r>
                        <a:rPr lang="en-US" dirty="0">
                          <a:latin typeface="+mn-lt"/>
                        </a:rPr>
                        <a:t>Must rationalize to oneself.</a:t>
                      </a:r>
                    </a:p>
                  </a:txBody>
                  <a:tcPr/>
                </a:tc>
                <a:tc>
                  <a:txBody>
                    <a:bodyPr/>
                    <a:lstStyle/>
                    <a:p>
                      <a:pPr marL="292608" indent="-292608">
                        <a:buFont typeface="Arial" panose="020B0604020202020204" pitchFamily="34" charset="0"/>
                        <a:buChar char="•"/>
                        <a:tabLst/>
                      </a:pPr>
                      <a:r>
                        <a:rPr lang="en-US" dirty="0">
                          <a:latin typeface="+mn-lt"/>
                        </a:rPr>
                        <a:t>Supports high-quality, long-term relationship.</a:t>
                      </a:r>
                    </a:p>
                    <a:p>
                      <a:pPr marL="292608" indent="-292608">
                        <a:buFont typeface="Arial" panose="020B0604020202020204" pitchFamily="34" charset="0"/>
                        <a:buChar char="•"/>
                        <a:tabLst/>
                      </a:pPr>
                      <a:r>
                        <a:rPr lang="en-US" dirty="0">
                          <a:latin typeface="+mn-lt"/>
                        </a:rPr>
                        <a:t>Develops reputation of integrity.</a:t>
                      </a:r>
                    </a:p>
                    <a:p>
                      <a:pPr marL="292608" indent="-292608">
                        <a:buFont typeface="Arial" panose="020B0604020202020204" pitchFamily="34" charset="0"/>
                        <a:buChar char="•"/>
                        <a:tabLst/>
                      </a:pPr>
                      <a:r>
                        <a:rPr lang="en-US" dirty="0">
                          <a:latin typeface="+mn-lt"/>
                        </a:rPr>
                        <a:t>Models behavior to others.</a:t>
                      </a:r>
                    </a:p>
                  </a:txBody>
                  <a:tcPr/>
                </a:tc>
                <a:extLst>
                  <a:ext uri="{0D108BD9-81ED-4DB2-BD59-A6C34878D82A}">
                    <a16:rowId xmlns:a16="http://schemas.microsoft.com/office/drawing/2014/main" val="3756944838"/>
                  </a:ext>
                </a:extLst>
              </a:tr>
              <a:tr h="370840">
                <a:tc>
                  <a:txBody>
                    <a:bodyPr/>
                    <a:lstStyle/>
                    <a:p>
                      <a:r>
                        <a:rPr lang="en-US" dirty="0">
                          <a:latin typeface="+mn-lt"/>
                        </a:rPr>
                        <a:t>Conflicting</a:t>
                      </a:r>
                    </a:p>
                    <a:p>
                      <a:r>
                        <a:rPr lang="en-US" dirty="0">
                          <a:latin typeface="+mn-lt"/>
                        </a:rPr>
                        <a:t>expectations</a:t>
                      </a:r>
                    </a:p>
                  </a:txBody>
                  <a:tcPr/>
                </a:tc>
                <a:tc>
                  <a:txBody>
                    <a:bodyPr/>
                    <a:lstStyle/>
                    <a:p>
                      <a:pPr marL="292608" indent="-292608">
                        <a:buFont typeface="Arial" panose="020B0604020202020204" pitchFamily="34" charset="0"/>
                        <a:buChar char="•"/>
                        <a:tabLst/>
                      </a:pPr>
                      <a:r>
                        <a:rPr lang="en-US" sz="1800" b="0" i="0" u="none" strike="noStrike" kern="1200" baseline="0" dirty="0">
                          <a:solidFill>
                            <a:schemeClr val="tx1"/>
                          </a:solidFill>
                          <a:latin typeface="+mn-lt"/>
                          <a:ea typeface="+mn-ea"/>
                          <a:cs typeface="+mn-cs"/>
                        </a:rPr>
                        <a:t>Easier to lie than to address the. underlying conflict</a:t>
                      </a:r>
                    </a:p>
                    <a:p>
                      <a:pPr marL="292608" indent="-292608">
                        <a:buFont typeface="Arial" panose="020B0604020202020204" pitchFamily="34" charset="0"/>
                        <a:buChar char="•"/>
                        <a:tabLst/>
                      </a:pPr>
                      <a:r>
                        <a:rPr lang="en-US" sz="1800" b="0" i="0" u="none" strike="noStrike" kern="1200" baseline="0" dirty="0">
                          <a:solidFill>
                            <a:schemeClr val="tx1"/>
                          </a:solidFill>
                          <a:latin typeface="+mn-lt"/>
                          <a:ea typeface="+mn-ea"/>
                          <a:cs typeface="+mn-cs"/>
                        </a:rPr>
                        <a:t>Does not solve underlying problem.</a:t>
                      </a:r>
                    </a:p>
                    <a:p>
                      <a:pPr marL="292608" indent="-292608">
                        <a:buFont typeface="Arial" panose="020B0604020202020204" pitchFamily="34" charset="0"/>
                        <a:buChar char="•"/>
                        <a:tabLst/>
                      </a:pPr>
                      <a:r>
                        <a:rPr lang="en-US" sz="1800" b="0" i="0" u="none" strike="noStrike" kern="1200" baseline="0" dirty="0">
                          <a:solidFill>
                            <a:schemeClr val="tx1"/>
                          </a:solidFill>
                          <a:latin typeface="+mn-lt"/>
                          <a:ea typeface="+mn-ea"/>
                          <a:cs typeface="+mn-cs"/>
                        </a:rPr>
                        <a:t>Liar must rationalize the lie to preserve positive self-concept.</a:t>
                      </a:r>
                    </a:p>
                  </a:txBody>
                  <a:tcPr/>
                </a:tc>
                <a:tc>
                  <a:txBody>
                    <a:bodyPr/>
                    <a:lstStyle/>
                    <a:p>
                      <a:pPr marL="292608" marR="0" indent="-292608">
                        <a:buFont typeface="Arial" panose="020B0604020202020204" pitchFamily="34" charset="0"/>
                        <a:buChar char="•"/>
                        <a:tabLst/>
                      </a:pPr>
                      <a:r>
                        <a:rPr lang="en-US" sz="1800" b="0" i="0" u="none" strike="noStrike" baseline="0" dirty="0">
                          <a:solidFill>
                            <a:srgbClr val="000000"/>
                          </a:solidFill>
                          <a:latin typeface="+mn-lt"/>
                        </a:rPr>
                        <a:t>Emotionally more difficult than lying.</a:t>
                      </a:r>
                    </a:p>
                    <a:p>
                      <a:pPr marL="292608" marR="0" indent="-292608">
                        <a:buFont typeface="Arial" panose="020B0604020202020204" pitchFamily="34" charset="0"/>
                        <a:buChar char="•"/>
                        <a:tabLst/>
                      </a:pPr>
                      <a:r>
                        <a:rPr lang="en-US" sz="1800" b="0" i="0" u="none" strike="noStrike" baseline="0" dirty="0">
                          <a:solidFill>
                            <a:srgbClr val="000000"/>
                          </a:solidFill>
                          <a:latin typeface="+mn-lt"/>
                        </a:rPr>
                        <a:t>May correct underlying problem.</a:t>
                      </a:r>
                    </a:p>
                    <a:p>
                      <a:pPr marL="292608" indent="-292608">
                        <a:buFont typeface="Arial" panose="020B0604020202020204" pitchFamily="34" charset="0"/>
                        <a:buChar char="•"/>
                        <a:tabLst/>
                      </a:pPr>
                      <a:r>
                        <a:rPr lang="en-US" sz="1800" b="0" i="0" u="none" strike="noStrike" baseline="0" dirty="0">
                          <a:solidFill>
                            <a:srgbClr val="000000"/>
                          </a:solidFill>
                          <a:latin typeface="+mn-lt"/>
                        </a:rPr>
                        <a:t>Develops one’s reputation as an honest person.	</a:t>
                      </a:r>
                    </a:p>
                  </a:txBody>
                  <a:tcPr/>
                </a:tc>
                <a:extLst>
                  <a:ext uri="{0D108BD9-81ED-4DB2-BD59-A6C34878D82A}">
                    <a16:rowId xmlns:a16="http://schemas.microsoft.com/office/drawing/2014/main" val="2199339159"/>
                  </a:ext>
                </a:extLst>
              </a:tr>
            </a:tbl>
          </a:graphicData>
        </a:graphic>
      </p:graphicFrame>
      <p:sp>
        <p:nvSpPr>
          <p:cNvPr id="6" name="Slide Number Placeholder 5">
            <a:extLst>
              <a:ext uri="{FF2B5EF4-FFF2-40B4-BE49-F238E27FC236}">
                <a16:creationId xmlns:a16="http://schemas.microsoft.com/office/drawing/2014/main" id="{32E0D978-F34B-4B22-87E7-BFD475FD3278}"/>
              </a:ext>
            </a:extLst>
          </p:cNvPr>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349699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71AA6-5DD4-49C6-AC4D-AD17C6650B9E}"/>
              </a:ext>
            </a:extLst>
          </p:cNvPr>
          <p:cNvSpPr>
            <a:spLocks noGrp="1"/>
          </p:cNvSpPr>
          <p:nvPr>
            <p:ph type="title"/>
          </p:nvPr>
        </p:nvSpPr>
        <p:spPr/>
        <p:txBody>
          <a:bodyPr>
            <a:normAutofit fontScale="90000"/>
          </a:bodyPr>
          <a:lstStyle/>
          <a:p>
            <a:pPr algn="ctr"/>
            <a:r>
              <a:rPr lang="en-US" sz="1000" noProof="0" dirty="0"/>
              <a:t>Exhibit 5.1 </a:t>
            </a:r>
            <a:r>
              <a:rPr lang="en-US" noProof="0" dirty="0">
                <a:highlight>
                  <a:srgbClr val="FFFF00"/>
                </a:highlight>
              </a:rPr>
              <a:t>Possible Outcomes of Lying and Telling the Truth </a:t>
            </a:r>
            <a:r>
              <a:rPr lang="en-US" sz="1100" b="0" noProof="0" dirty="0"/>
              <a:t>2</a:t>
            </a:r>
          </a:p>
        </p:txBody>
      </p:sp>
      <p:graphicFrame>
        <p:nvGraphicFramePr>
          <p:cNvPr id="7" name="Table 7">
            <a:extLst>
              <a:ext uri="{FF2B5EF4-FFF2-40B4-BE49-F238E27FC236}">
                <a16:creationId xmlns:a16="http://schemas.microsoft.com/office/drawing/2014/main" id="{33C2F55D-AD60-4F09-837C-2CA4105AEFBF}"/>
              </a:ext>
            </a:extLst>
          </p:cNvPr>
          <p:cNvGraphicFramePr>
            <a:graphicFrameLocks noGrp="1"/>
          </p:cNvGraphicFramePr>
          <p:nvPr>
            <p:extLst>
              <p:ext uri="{D42A27DB-BD31-4B8C-83A1-F6EECF244321}">
                <p14:modId xmlns:p14="http://schemas.microsoft.com/office/powerpoint/2010/main" val="68221322"/>
              </p:ext>
            </p:extLst>
          </p:nvPr>
        </p:nvGraphicFramePr>
        <p:xfrm>
          <a:off x="488375" y="1422137"/>
          <a:ext cx="8229600" cy="4119880"/>
        </p:xfrm>
        <a:graphic>
          <a:graphicData uri="http://schemas.openxmlformats.org/drawingml/2006/table">
            <a:tbl>
              <a:tblPr firstRow="1" bandRow="1">
                <a:tableStyleId>{5C22544A-7EE6-4342-B048-85BDC9FD1C3A}</a:tableStyleId>
              </a:tblPr>
              <a:tblGrid>
                <a:gridCol w="2301240">
                  <a:extLst>
                    <a:ext uri="{9D8B030D-6E8A-4147-A177-3AD203B41FA5}">
                      <a16:colId xmlns:a16="http://schemas.microsoft.com/office/drawing/2014/main" val="1648427223"/>
                    </a:ext>
                  </a:extLst>
                </a:gridCol>
                <a:gridCol w="2701636">
                  <a:extLst>
                    <a:ext uri="{9D8B030D-6E8A-4147-A177-3AD203B41FA5}">
                      <a16:colId xmlns:a16="http://schemas.microsoft.com/office/drawing/2014/main" val="2085562610"/>
                    </a:ext>
                  </a:extLst>
                </a:gridCol>
                <a:gridCol w="3226724">
                  <a:extLst>
                    <a:ext uri="{9D8B030D-6E8A-4147-A177-3AD203B41FA5}">
                      <a16:colId xmlns:a16="http://schemas.microsoft.com/office/drawing/2014/main" val="2183451425"/>
                    </a:ext>
                  </a:extLst>
                </a:gridCol>
              </a:tblGrid>
              <a:tr h="370840">
                <a:tc>
                  <a:txBody>
                    <a:bodyPr/>
                    <a:lstStyle/>
                    <a:p>
                      <a:r>
                        <a:rPr lang="en-US" dirty="0">
                          <a:latin typeface="+mn-lt"/>
                        </a:rPr>
                        <a:t>Reason for the Lie</a:t>
                      </a:r>
                    </a:p>
                  </a:txBody>
                  <a:tcPr anchor="b">
                    <a:solidFill>
                      <a:srgbClr val="C00000"/>
                    </a:solidFill>
                  </a:tcPr>
                </a:tc>
                <a:tc>
                  <a:txBody>
                    <a:bodyPr/>
                    <a:lstStyle/>
                    <a:p>
                      <a:r>
                        <a:rPr lang="en-US" dirty="0">
                          <a:latin typeface="+mn-lt"/>
                        </a:rPr>
                        <a:t>Results of Lying</a:t>
                      </a:r>
                    </a:p>
                  </a:txBody>
                  <a:tcPr anchor="b">
                    <a:solidFill>
                      <a:srgbClr val="C00000"/>
                    </a:solidFill>
                  </a:tcPr>
                </a:tc>
                <a:tc>
                  <a:txBody>
                    <a:bodyPr/>
                    <a:lstStyle/>
                    <a:p>
                      <a:r>
                        <a:rPr lang="en-US" dirty="0">
                          <a:latin typeface="+mn-lt"/>
                        </a:rPr>
                        <a:t>Results of Telling the Truth</a:t>
                      </a:r>
                    </a:p>
                  </a:txBody>
                  <a:tcPr>
                    <a:solidFill>
                      <a:srgbClr val="C00000"/>
                    </a:solidFill>
                  </a:tcPr>
                </a:tc>
                <a:extLst>
                  <a:ext uri="{0D108BD9-81ED-4DB2-BD59-A6C34878D82A}">
                    <a16:rowId xmlns:a16="http://schemas.microsoft.com/office/drawing/2014/main" val="1799034542"/>
                  </a:ext>
                </a:extLst>
              </a:tr>
              <a:tr h="370840">
                <a:tc>
                  <a:txBody>
                    <a:bodyPr/>
                    <a:lstStyle/>
                    <a:p>
                      <a:r>
                        <a:rPr lang="en-US" sz="1800" b="0" i="0" u="none" strike="noStrike" kern="1200" baseline="0" dirty="0">
                          <a:solidFill>
                            <a:schemeClr val="tx1"/>
                          </a:solidFill>
                          <a:latin typeface="+mn-lt"/>
                          <a:ea typeface="+mn-ea"/>
                          <a:cs typeface="+mn-cs"/>
                        </a:rPr>
                        <a:t>To keep a confidence (that may require at least a lie of omission) 	</a:t>
                      </a:r>
                    </a:p>
                  </a:txBody>
                  <a:tcPr/>
                </a:tc>
                <a:tc>
                  <a:txBody>
                    <a:bodyPr/>
                    <a:lstStyle/>
                    <a:p>
                      <a:pPr marL="292608" indent="-292608">
                        <a:buFont typeface="Arial" panose="020B0604020202020204" pitchFamily="34" charset="0"/>
                        <a:buChar char="•"/>
                      </a:pPr>
                      <a:r>
                        <a:rPr lang="en-US" sz="1800" b="0" i="0" u="none" strike="noStrike" kern="1200" baseline="0" dirty="0">
                          <a:solidFill>
                            <a:schemeClr val="tx1"/>
                          </a:solidFill>
                          <a:latin typeface="+mn-lt"/>
                          <a:ea typeface="+mn-ea"/>
                          <a:cs typeface="+mn-cs"/>
                        </a:rPr>
                        <a:t>Maintains relationship with the party for whom confidence is kept</a:t>
                      </a:r>
                    </a:p>
                    <a:p>
                      <a:pPr marL="292608" indent="-292608">
                        <a:buFont typeface="Arial" panose="020B0604020202020204" pitchFamily="34" charset="0"/>
                        <a:buChar char="•"/>
                      </a:pPr>
                      <a:r>
                        <a:rPr lang="en-US" sz="1800" b="0" i="0" u="none" strike="noStrike" kern="1200" baseline="0" dirty="0">
                          <a:solidFill>
                            <a:schemeClr val="tx1"/>
                          </a:solidFill>
                          <a:latin typeface="+mn-lt"/>
                          <a:ea typeface="+mn-ea"/>
                          <a:cs typeface="+mn-cs"/>
                        </a:rPr>
                        <a:t>May project deceitfulness to the deceived party	</a:t>
                      </a:r>
                    </a:p>
                  </a:txBody>
                  <a:tcPr/>
                </a:tc>
                <a:tc>
                  <a:txBody>
                    <a:bodyPr/>
                    <a:lstStyle/>
                    <a:p>
                      <a:pPr marL="292608" marR="0" indent="-292608">
                        <a:buFont typeface="Arial" panose="020B0604020202020204" pitchFamily="34" charset="0"/>
                        <a:buChar char="•"/>
                      </a:pPr>
                      <a:r>
                        <a:rPr lang="en-US" sz="1800" b="0" i="0" u="none" strike="noStrike" baseline="0" dirty="0">
                          <a:solidFill>
                            <a:srgbClr val="000000"/>
                          </a:solidFill>
                          <a:latin typeface="+mn-lt"/>
                        </a:rPr>
                        <a:t>Violates a trust to the confiding party</a:t>
                      </a:r>
                    </a:p>
                    <a:p>
                      <a:pPr marL="292608" indent="-292608">
                        <a:buFont typeface="Arial" panose="020B0604020202020204" pitchFamily="34" charset="0"/>
                        <a:buChar char="•"/>
                      </a:pPr>
                      <a:r>
                        <a:rPr lang="en-US" sz="1800" b="0" i="0" u="none" strike="noStrike" baseline="0" dirty="0">
                          <a:solidFill>
                            <a:srgbClr val="000000"/>
                          </a:solidFill>
                          <a:latin typeface="+mn-lt"/>
                        </a:rPr>
                        <a:t>Makes one appear deceitful to all parties in the long run</a:t>
                      </a:r>
                    </a:p>
                  </a:txBody>
                  <a:tcPr/>
                </a:tc>
                <a:extLst>
                  <a:ext uri="{0D108BD9-81ED-4DB2-BD59-A6C34878D82A}">
                    <a16:rowId xmlns:a16="http://schemas.microsoft.com/office/drawing/2014/main" val="3756944838"/>
                  </a:ext>
                </a:extLst>
              </a:tr>
              <a:tr h="370840">
                <a:tc>
                  <a:txBody>
                    <a:bodyPr/>
                    <a:lstStyle/>
                    <a:p>
                      <a:r>
                        <a:rPr lang="en-US" sz="1800" b="0" i="0" u="none" strike="noStrike" kern="1200" baseline="0" dirty="0">
                          <a:solidFill>
                            <a:schemeClr val="tx1"/>
                          </a:solidFill>
                          <a:latin typeface="+mn-lt"/>
                          <a:ea typeface="+mn-ea"/>
                          <a:cs typeface="+mn-cs"/>
                        </a:rPr>
                        <a:t>To report your own performance (within an organization) 	</a:t>
                      </a:r>
                    </a:p>
                  </a:txBody>
                  <a:tcPr/>
                </a:tc>
                <a:tc>
                  <a:txBody>
                    <a:bodyPr/>
                    <a:lstStyle/>
                    <a:p>
                      <a:pPr marL="292608" marR="0" indent="-292608">
                        <a:buFont typeface="Arial" panose="020B0604020202020204" pitchFamily="34" charset="0"/>
                        <a:buChar char="•"/>
                      </a:pPr>
                      <a:r>
                        <a:rPr lang="en-US" sz="1800" b="0" i="0" u="none" strike="noStrike" baseline="0" dirty="0">
                          <a:solidFill>
                            <a:srgbClr val="000000"/>
                          </a:solidFill>
                          <a:latin typeface="+mn-lt"/>
                        </a:rPr>
                        <a:t>Might advance oneself or one’s cause</a:t>
                      </a:r>
                    </a:p>
                    <a:p>
                      <a:pPr marL="292608" indent="-292608">
                        <a:buFont typeface="Arial" panose="020B0604020202020204" pitchFamily="34" charset="0"/>
                        <a:buChar char="•"/>
                      </a:pPr>
                      <a:r>
                        <a:rPr lang="en-US" sz="1800" b="0" i="0" u="none" strike="noStrike" baseline="0" dirty="0">
                          <a:solidFill>
                            <a:srgbClr val="000000"/>
                          </a:solidFill>
                          <a:latin typeface="+mn-lt"/>
                        </a:rPr>
                        <a:t>Develops dishonest reputation over time</a:t>
                      </a:r>
                      <a:r>
                        <a:rPr lang="en-US" sz="1800" b="0" i="0" u="none" strike="noStrike" kern="1200" baseline="0" dirty="0">
                          <a:solidFill>
                            <a:schemeClr val="tx1"/>
                          </a:solidFill>
                          <a:latin typeface="+mn-lt"/>
                          <a:ea typeface="+mn-ea"/>
                          <a:cs typeface="+mn-cs"/>
                        </a:rPr>
                        <a:t>	</a:t>
                      </a:r>
                    </a:p>
                  </a:txBody>
                  <a:tcPr/>
                </a:tc>
                <a:tc>
                  <a:txBody>
                    <a:bodyPr/>
                    <a:lstStyle/>
                    <a:p>
                      <a:pPr marL="292608" marR="0" indent="-292608">
                        <a:buFont typeface="Arial" panose="020B0604020202020204" pitchFamily="34" charset="0"/>
                        <a:buChar char="•"/>
                      </a:pPr>
                      <a:r>
                        <a:rPr lang="en-US" sz="1800" b="0" i="0" u="none" strike="noStrike" baseline="0" dirty="0">
                          <a:solidFill>
                            <a:srgbClr val="000000"/>
                          </a:solidFill>
                          <a:latin typeface="+mn-lt"/>
                        </a:rPr>
                        <a:t>Creates a reputation of honesty and integrity. </a:t>
                      </a:r>
                    </a:p>
                    <a:p>
                      <a:pPr marL="292608" indent="-292608">
                        <a:buFont typeface="Arial" panose="020B0604020202020204" pitchFamily="34" charset="0"/>
                        <a:buChar char="•"/>
                      </a:pPr>
                      <a:r>
                        <a:rPr lang="en-US" sz="1800" b="0" i="0" u="none" strike="noStrike" baseline="0" dirty="0">
                          <a:solidFill>
                            <a:srgbClr val="000000"/>
                          </a:solidFill>
                          <a:latin typeface="+mn-lt"/>
                        </a:rPr>
                        <a:t>Performance report may not always be positive	</a:t>
                      </a:r>
                    </a:p>
                  </a:txBody>
                  <a:tcPr/>
                </a:tc>
                <a:extLst>
                  <a:ext uri="{0D108BD9-81ED-4DB2-BD59-A6C34878D82A}">
                    <a16:rowId xmlns:a16="http://schemas.microsoft.com/office/drawing/2014/main" val="2199339159"/>
                  </a:ext>
                </a:extLst>
              </a:tr>
            </a:tbl>
          </a:graphicData>
        </a:graphic>
      </p:graphicFrame>
      <p:sp>
        <p:nvSpPr>
          <p:cNvPr id="3" name="Content Placeholder 2">
            <a:extLst>
              <a:ext uri="{FF2B5EF4-FFF2-40B4-BE49-F238E27FC236}">
                <a16:creationId xmlns:a16="http://schemas.microsoft.com/office/drawing/2014/main" id="{C95D980F-062A-4978-9FB4-F6CA66960630}"/>
              </a:ext>
            </a:extLst>
          </p:cNvPr>
          <p:cNvSpPr>
            <a:spLocks noGrp="1"/>
          </p:cNvSpPr>
          <p:nvPr>
            <p:ph sz="quarter" idx="11"/>
          </p:nvPr>
        </p:nvSpPr>
        <p:spPr>
          <a:xfrm>
            <a:off x="342900" y="6026579"/>
            <a:ext cx="8458200" cy="379230"/>
          </a:xfrm>
        </p:spPr>
        <p:txBody>
          <a:bodyPr/>
          <a:lstStyle/>
          <a:p>
            <a:r>
              <a:rPr lang="en-US" sz="800" noProof="0" dirty="0"/>
              <a:t>SOURCE: Adapted from S. L. </a:t>
            </a:r>
            <a:r>
              <a:rPr lang="en-US" sz="800" noProof="0" dirty="0" err="1"/>
              <a:t>Gover</a:t>
            </a:r>
            <a:r>
              <a:rPr lang="en-US" sz="800" noProof="0" dirty="0"/>
              <a:t>, “The Truth, the Whole Truth, and Nothing but the Truth: The Causes and Management of Workplace Lying,” in </a:t>
            </a:r>
            <a:r>
              <a:rPr lang="en-US" sz="800" i="1" noProof="0" dirty="0"/>
              <a:t>The Academy of Management Executive: The Thinking Manager’s Source</a:t>
            </a:r>
            <a:r>
              <a:rPr lang="en-US" sz="800" noProof="0" dirty="0"/>
              <a:t> (Starkville, MS: Academy of Management, 2005).</a:t>
            </a:r>
          </a:p>
        </p:txBody>
      </p:sp>
      <p:sp>
        <p:nvSpPr>
          <p:cNvPr id="6" name="Slide Number Placeholder 5">
            <a:extLst>
              <a:ext uri="{FF2B5EF4-FFF2-40B4-BE49-F238E27FC236}">
                <a16:creationId xmlns:a16="http://schemas.microsoft.com/office/drawing/2014/main" id="{32E0D978-F34B-4B22-87E7-BFD475FD3278}"/>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1459009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A755-710F-4ACC-AA61-E96A1BC03E85}"/>
              </a:ext>
            </a:extLst>
          </p:cNvPr>
          <p:cNvSpPr>
            <a:spLocks noGrp="1"/>
          </p:cNvSpPr>
          <p:nvPr>
            <p:ph type="title"/>
          </p:nvPr>
        </p:nvSpPr>
        <p:spPr/>
        <p:txBody>
          <a:bodyPr/>
          <a:lstStyle/>
          <a:p>
            <a:pPr algn="ctr"/>
            <a:r>
              <a:rPr lang="en-US" noProof="0" dirty="0">
                <a:highlight>
                  <a:srgbClr val="FFFF00"/>
                </a:highlight>
              </a:rPr>
              <a:t>Ethics</a:t>
            </a:r>
          </a:p>
        </p:txBody>
      </p:sp>
      <p:sp>
        <p:nvSpPr>
          <p:cNvPr id="3" name="Content Placeholder 2">
            <a:extLst>
              <a:ext uri="{FF2B5EF4-FFF2-40B4-BE49-F238E27FC236}">
                <a16:creationId xmlns:a16="http://schemas.microsoft.com/office/drawing/2014/main" id="{EB763D96-580D-4105-BDFF-15B458A7F970}"/>
              </a:ext>
            </a:extLst>
          </p:cNvPr>
          <p:cNvSpPr>
            <a:spLocks noGrp="1"/>
          </p:cNvSpPr>
          <p:nvPr>
            <p:ph sz="quarter" idx="11"/>
          </p:nvPr>
        </p:nvSpPr>
        <p:spPr>
          <a:xfrm>
            <a:off x="342900" y="1276709"/>
            <a:ext cx="8458200" cy="1786531"/>
          </a:xfrm>
        </p:spPr>
        <p:txBody>
          <a:bodyPr/>
          <a:lstStyle/>
          <a:p>
            <a:r>
              <a:rPr lang="en-US" b="1" noProof="0" dirty="0"/>
              <a:t>Ethical issue:</a:t>
            </a:r>
          </a:p>
          <a:p>
            <a:pPr lvl="1"/>
            <a:r>
              <a:rPr lang="en-US" noProof="0" dirty="0"/>
              <a:t>Situation, problem, or opportunity in which an individual must choose among several actions that must be evaluated as morally right or wrong.</a:t>
            </a:r>
          </a:p>
        </p:txBody>
      </p:sp>
      <p:sp>
        <p:nvSpPr>
          <p:cNvPr id="4" name="Content Placeholder 3">
            <a:extLst>
              <a:ext uri="{FF2B5EF4-FFF2-40B4-BE49-F238E27FC236}">
                <a16:creationId xmlns:a16="http://schemas.microsoft.com/office/drawing/2014/main" id="{D5EDD9BC-226C-4D2D-BC17-39AB9190803A}"/>
              </a:ext>
            </a:extLst>
          </p:cNvPr>
          <p:cNvSpPr>
            <a:spLocks noGrp="1"/>
          </p:cNvSpPr>
          <p:nvPr>
            <p:ph sz="quarter" idx="14"/>
          </p:nvPr>
        </p:nvSpPr>
        <p:spPr>
          <a:xfrm>
            <a:off x="342900" y="3258488"/>
            <a:ext cx="8458200" cy="1301141"/>
          </a:xfrm>
        </p:spPr>
        <p:txBody>
          <a:bodyPr/>
          <a:lstStyle/>
          <a:p>
            <a:r>
              <a:rPr lang="en-US" b="1" noProof="0" dirty="0"/>
              <a:t>Business ethics:</a:t>
            </a:r>
          </a:p>
          <a:p>
            <a:pPr lvl="1"/>
            <a:r>
              <a:rPr lang="en-US" noProof="0" dirty="0"/>
              <a:t>Moral principles and standards that guide behavior in the world of business.</a:t>
            </a:r>
          </a:p>
        </p:txBody>
      </p:sp>
      <p:sp>
        <p:nvSpPr>
          <p:cNvPr id="7" name="Slide Number Placeholder 6">
            <a:extLst>
              <a:ext uri="{FF2B5EF4-FFF2-40B4-BE49-F238E27FC236}">
                <a16:creationId xmlns:a16="http://schemas.microsoft.com/office/drawing/2014/main" id="{0B0190B6-997B-4CA0-84DC-D02D8D171190}"/>
              </a:ext>
            </a:extLst>
          </p:cNvPr>
          <p:cNvSpPr>
            <a:spLocks noGrp="1"/>
          </p:cNvSpPr>
          <p:nvPr>
            <p:ph type="sldNum" sz="quarter" idx="10"/>
          </p:nvPr>
        </p:nvSpPr>
        <p:spPr/>
        <p:txBody>
          <a:bodyPr/>
          <a:lstStyle/>
          <a:p>
            <a:fld id="{68151E55-6873-49E2-B8D5-2F265E6F1973}" type="slidenum">
              <a:rPr lang="en-US" smtClean="0"/>
              <a:t>7</a:t>
            </a:fld>
            <a:endParaRPr lang="en-US" dirty="0"/>
          </a:p>
        </p:txBody>
      </p:sp>
      <p:pic>
        <p:nvPicPr>
          <p:cNvPr id="6" name="Graphic 5" descr="Artificial Intelligence with solid fill">
            <a:extLst>
              <a:ext uri="{FF2B5EF4-FFF2-40B4-BE49-F238E27FC236}">
                <a16:creationId xmlns:a16="http://schemas.microsoft.com/office/drawing/2014/main" id="{C71BE5F4-4B61-7EB4-A8F7-1D115D0397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49356" y="4415883"/>
            <a:ext cx="1672684" cy="1521565"/>
          </a:xfrm>
          <a:prstGeom prst="rect">
            <a:avLst/>
          </a:prstGeom>
        </p:spPr>
      </p:pic>
      <p:pic>
        <p:nvPicPr>
          <p:cNvPr id="9" name="Graphic 8" descr="Artificial Intelligence outline">
            <a:extLst>
              <a:ext uri="{FF2B5EF4-FFF2-40B4-BE49-F238E27FC236}">
                <a16:creationId xmlns:a16="http://schemas.microsoft.com/office/drawing/2014/main" id="{66EAECF2-4BD1-B457-B805-6314DD0D58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1960" y="5060087"/>
            <a:ext cx="1957581" cy="1182571"/>
          </a:xfrm>
          <a:prstGeom prst="rect">
            <a:avLst/>
          </a:prstGeom>
        </p:spPr>
      </p:pic>
    </p:spTree>
    <p:extLst>
      <p:ext uri="{BB962C8B-B14F-4D97-AF65-F5344CB8AC3E}">
        <p14:creationId xmlns:p14="http://schemas.microsoft.com/office/powerpoint/2010/main" val="418471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A755-710F-4ACC-AA61-E96A1BC03E85}"/>
              </a:ext>
            </a:extLst>
          </p:cNvPr>
          <p:cNvSpPr>
            <a:spLocks noGrp="1"/>
          </p:cNvSpPr>
          <p:nvPr>
            <p:ph type="title"/>
          </p:nvPr>
        </p:nvSpPr>
        <p:spPr/>
        <p:txBody>
          <a:bodyPr/>
          <a:lstStyle/>
          <a:p>
            <a:pPr algn="ctr"/>
            <a:r>
              <a:rPr lang="en-US" noProof="0" dirty="0">
                <a:highlight>
                  <a:srgbClr val="FFFF00"/>
                </a:highlight>
              </a:rPr>
              <a:t>Ethical Systems</a:t>
            </a:r>
          </a:p>
        </p:txBody>
      </p:sp>
      <p:sp>
        <p:nvSpPr>
          <p:cNvPr id="3" name="Content Placeholder 2">
            <a:extLst>
              <a:ext uri="{FF2B5EF4-FFF2-40B4-BE49-F238E27FC236}">
                <a16:creationId xmlns:a16="http://schemas.microsoft.com/office/drawing/2014/main" id="{EB763D96-580D-4105-BDFF-15B458A7F970}"/>
              </a:ext>
            </a:extLst>
          </p:cNvPr>
          <p:cNvSpPr>
            <a:spLocks noGrp="1"/>
          </p:cNvSpPr>
          <p:nvPr>
            <p:ph sz="quarter" idx="11"/>
          </p:nvPr>
        </p:nvSpPr>
        <p:spPr>
          <a:xfrm>
            <a:off x="342900" y="1276709"/>
            <a:ext cx="8458200" cy="1359811"/>
          </a:xfrm>
        </p:spPr>
        <p:txBody>
          <a:bodyPr/>
          <a:lstStyle/>
          <a:p>
            <a:r>
              <a:rPr lang="en-US" b="1" noProof="0" dirty="0"/>
              <a:t>Moral philosophy:</a:t>
            </a:r>
          </a:p>
          <a:p>
            <a:pPr lvl="1"/>
            <a:r>
              <a:rPr lang="en-US" noProof="0" dirty="0"/>
              <a:t>Principles, rules, and values people use in deciding what is right or wrong.</a:t>
            </a:r>
          </a:p>
        </p:txBody>
      </p:sp>
      <p:sp>
        <p:nvSpPr>
          <p:cNvPr id="4" name="Content Placeholder 3">
            <a:extLst>
              <a:ext uri="{FF2B5EF4-FFF2-40B4-BE49-F238E27FC236}">
                <a16:creationId xmlns:a16="http://schemas.microsoft.com/office/drawing/2014/main" id="{D5EDD9BC-226C-4D2D-BC17-39AB9190803A}"/>
              </a:ext>
            </a:extLst>
          </p:cNvPr>
          <p:cNvSpPr>
            <a:spLocks noGrp="1"/>
          </p:cNvSpPr>
          <p:nvPr>
            <p:ph sz="quarter" idx="14"/>
          </p:nvPr>
        </p:nvSpPr>
        <p:spPr>
          <a:xfrm>
            <a:off x="342900" y="2778429"/>
            <a:ext cx="8458200" cy="1301141"/>
          </a:xfrm>
        </p:spPr>
        <p:txBody>
          <a:bodyPr/>
          <a:lstStyle/>
          <a:p>
            <a:r>
              <a:rPr lang="en-US" b="1" noProof="0" dirty="0"/>
              <a:t>Universalism:</a:t>
            </a:r>
          </a:p>
          <a:p>
            <a:pPr lvl="1"/>
            <a:r>
              <a:rPr lang="en-US" noProof="0" dirty="0"/>
              <a:t>The ethical system stating that all people should uphold certain values that society needs to function.</a:t>
            </a:r>
          </a:p>
        </p:txBody>
      </p:sp>
      <p:sp>
        <p:nvSpPr>
          <p:cNvPr id="7" name="Slide Number Placeholder 6">
            <a:extLst>
              <a:ext uri="{FF2B5EF4-FFF2-40B4-BE49-F238E27FC236}">
                <a16:creationId xmlns:a16="http://schemas.microsoft.com/office/drawing/2014/main" id="{0B0190B6-997B-4CA0-84DC-D02D8D171190}"/>
              </a:ext>
            </a:extLst>
          </p:cNvPr>
          <p:cNvSpPr>
            <a:spLocks noGrp="1"/>
          </p:cNvSpPr>
          <p:nvPr>
            <p:ph type="sldNum" sz="quarter" idx="10"/>
          </p:nvPr>
        </p:nvSpPr>
        <p:spPr/>
        <p:txBody>
          <a:bodyPr/>
          <a:lstStyle/>
          <a:p>
            <a:fld id="{68151E55-6873-49E2-B8D5-2F265E6F1973}" type="slidenum">
              <a:rPr lang="en-US" smtClean="0"/>
              <a:t>8</a:t>
            </a:fld>
            <a:endParaRPr lang="en-US" dirty="0"/>
          </a:p>
        </p:txBody>
      </p:sp>
      <p:pic>
        <p:nvPicPr>
          <p:cNvPr id="6" name="Graphic 5" descr="Checklist with solid fill">
            <a:extLst>
              <a:ext uri="{FF2B5EF4-FFF2-40B4-BE49-F238E27FC236}">
                <a16:creationId xmlns:a16="http://schemas.microsoft.com/office/drawing/2014/main" id="{34726BA8-6816-EFA8-CDB1-BA4FD75B11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7600" y="4544122"/>
            <a:ext cx="2118732" cy="1767468"/>
          </a:xfrm>
          <a:prstGeom prst="rect">
            <a:avLst/>
          </a:prstGeom>
        </p:spPr>
      </p:pic>
    </p:spTree>
    <p:extLst>
      <p:ext uri="{BB962C8B-B14F-4D97-AF65-F5344CB8AC3E}">
        <p14:creationId xmlns:p14="http://schemas.microsoft.com/office/powerpoint/2010/main" val="2894641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fontScale="90000"/>
          </a:bodyPr>
          <a:lstStyle/>
          <a:p>
            <a:pPr algn="ctr"/>
            <a:r>
              <a:rPr lang="en-US" sz="1200" noProof="0" dirty="0"/>
              <a:t>Exhibit 5.2 </a:t>
            </a:r>
            <a:r>
              <a:rPr lang="en-US" sz="3200" noProof="0" dirty="0">
                <a:highlight>
                  <a:srgbClr val="FFFF00"/>
                </a:highlight>
              </a:rPr>
              <a:t>Examples of Decisions Made under Different Ethical Systems</a:t>
            </a:r>
            <a:endParaRPr lang="en-US" sz="3200" noProof="0" dirty="0">
              <a:solidFill>
                <a:srgbClr val="0070C0"/>
              </a:solidFill>
              <a:highlight>
                <a:srgbClr val="FFFF00"/>
              </a:highlight>
            </a:endParaRPr>
          </a:p>
        </p:txBody>
      </p:sp>
      <p:sp>
        <p:nvSpPr>
          <p:cNvPr id="2" name="Content Placeholder 1">
            <a:extLst>
              <a:ext uri="{FF2B5EF4-FFF2-40B4-BE49-F238E27FC236}">
                <a16:creationId xmlns:a16="http://schemas.microsoft.com/office/drawing/2014/main" id="{E84CBF79-5B7C-472F-99A7-2A60DEE69C0A}"/>
              </a:ext>
            </a:extLst>
          </p:cNvPr>
          <p:cNvSpPr>
            <a:spLocks noGrp="1"/>
          </p:cNvSpPr>
          <p:nvPr>
            <p:ph sz="quarter" idx="11"/>
          </p:nvPr>
        </p:nvSpPr>
        <p:spPr>
          <a:xfrm>
            <a:off x="342900" y="1276710"/>
            <a:ext cx="8458200" cy="933090"/>
          </a:xfrm>
        </p:spPr>
        <p:txBody>
          <a:bodyPr/>
          <a:lstStyle/>
          <a:p>
            <a:r>
              <a:rPr lang="en-US" sz="1600" b="1" noProof="0" dirty="0"/>
              <a:t>Universalism</a:t>
            </a:r>
          </a:p>
          <a:p>
            <a:r>
              <a:rPr lang="en-US" sz="1600" noProof="0" dirty="0"/>
              <a:t>A nonprofit organization treats all of its employees who work in different countries with fairness and dignity.</a:t>
            </a:r>
          </a:p>
        </p:txBody>
      </p:sp>
      <p:sp>
        <p:nvSpPr>
          <p:cNvPr id="6" name="Content Placeholder 5">
            <a:extLst>
              <a:ext uri="{FF2B5EF4-FFF2-40B4-BE49-F238E27FC236}">
                <a16:creationId xmlns:a16="http://schemas.microsoft.com/office/drawing/2014/main" id="{7F798091-09A6-4B4E-81E4-2676789CAFF1}"/>
              </a:ext>
            </a:extLst>
          </p:cNvPr>
          <p:cNvSpPr>
            <a:spLocks noGrp="1"/>
          </p:cNvSpPr>
          <p:nvPr>
            <p:ph sz="quarter" idx="14"/>
          </p:nvPr>
        </p:nvSpPr>
        <p:spPr>
          <a:xfrm>
            <a:off x="342900" y="2239873"/>
            <a:ext cx="8458200" cy="965098"/>
          </a:xfrm>
        </p:spPr>
        <p:txBody>
          <a:bodyPr/>
          <a:lstStyle/>
          <a:p>
            <a:r>
              <a:rPr lang="en-US" sz="1600" b="1" noProof="0" dirty="0"/>
              <a:t>Egoism</a:t>
            </a:r>
          </a:p>
          <a:p>
            <a:r>
              <a:rPr lang="en-US" sz="1600" noProof="0" dirty="0"/>
              <a:t>An entrepreneur builds a successful company for personal growth and financial gain; and ultimately, employs thousands of employees.</a:t>
            </a:r>
          </a:p>
        </p:txBody>
      </p:sp>
      <p:sp>
        <p:nvSpPr>
          <p:cNvPr id="7" name="Content Placeholder 6">
            <a:extLst>
              <a:ext uri="{FF2B5EF4-FFF2-40B4-BE49-F238E27FC236}">
                <a16:creationId xmlns:a16="http://schemas.microsoft.com/office/drawing/2014/main" id="{D75DFD7B-1610-44AD-AEF7-9006429CAB1F}"/>
              </a:ext>
            </a:extLst>
          </p:cNvPr>
          <p:cNvSpPr>
            <a:spLocks noGrp="1"/>
          </p:cNvSpPr>
          <p:nvPr>
            <p:ph sz="quarter" idx="15"/>
          </p:nvPr>
        </p:nvSpPr>
        <p:spPr>
          <a:xfrm>
            <a:off x="342900" y="3248413"/>
            <a:ext cx="8458200" cy="923043"/>
          </a:xfrm>
        </p:spPr>
        <p:txBody>
          <a:bodyPr/>
          <a:lstStyle/>
          <a:p>
            <a:r>
              <a:rPr lang="en-US" sz="1600" b="1" noProof="0" dirty="0"/>
              <a:t>Utilitarianism</a:t>
            </a:r>
          </a:p>
          <a:p>
            <a:r>
              <a:rPr lang="en-US" sz="1600" noProof="0" dirty="0"/>
              <a:t>Employees of a mid-sized company, after losing two major customers, accept a 10 percent reduction in salary so no one has to be laid off</a:t>
            </a:r>
          </a:p>
        </p:txBody>
      </p:sp>
      <p:sp>
        <p:nvSpPr>
          <p:cNvPr id="8" name="Content Placeholder 7">
            <a:extLst>
              <a:ext uri="{FF2B5EF4-FFF2-40B4-BE49-F238E27FC236}">
                <a16:creationId xmlns:a16="http://schemas.microsoft.com/office/drawing/2014/main" id="{BF3EB6D0-12AC-4215-A4BD-778C936AFA30}"/>
              </a:ext>
            </a:extLst>
          </p:cNvPr>
          <p:cNvSpPr>
            <a:spLocks noGrp="1"/>
          </p:cNvSpPr>
          <p:nvPr>
            <p:ph sz="quarter" idx="16"/>
          </p:nvPr>
        </p:nvSpPr>
        <p:spPr>
          <a:xfrm>
            <a:off x="342900" y="4249352"/>
            <a:ext cx="8458200" cy="929704"/>
          </a:xfrm>
        </p:spPr>
        <p:txBody>
          <a:bodyPr/>
          <a:lstStyle/>
          <a:p>
            <a:r>
              <a:rPr lang="en-US" sz="1600" b="1" noProof="0" dirty="0"/>
              <a:t>Relativism</a:t>
            </a:r>
          </a:p>
          <a:p>
            <a:r>
              <a:rPr lang="en-US" sz="1600" noProof="0" dirty="0"/>
              <a:t>A college student refuses to share answers with a fellow student during an exam because her friends would do the same.</a:t>
            </a:r>
          </a:p>
        </p:txBody>
      </p:sp>
      <p:sp>
        <p:nvSpPr>
          <p:cNvPr id="9" name="Content Placeholder 8">
            <a:extLst>
              <a:ext uri="{FF2B5EF4-FFF2-40B4-BE49-F238E27FC236}">
                <a16:creationId xmlns:a16="http://schemas.microsoft.com/office/drawing/2014/main" id="{F89B6CDA-BB3C-48D0-9C68-91B5F7A47AAA}"/>
              </a:ext>
            </a:extLst>
          </p:cNvPr>
          <p:cNvSpPr>
            <a:spLocks noGrp="1"/>
          </p:cNvSpPr>
          <p:nvPr>
            <p:ph sz="quarter" idx="17"/>
          </p:nvPr>
        </p:nvSpPr>
        <p:spPr>
          <a:xfrm>
            <a:off x="342900" y="5276914"/>
            <a:ext cx="8458200" cy="939001"/>
          </a:xfrm>
        </p:spPr>
        <p:txBody>
          <a:bodyPr/>
          <a:lstStyle/>
          <a:p>
            <a:r>
              <a:rPr lang="en-US" sz="1600" b="1" noProof="0" dirty="0"/>
              <a:t>Virtue ethics</a:t>
            </a:r>
          </a:p>
          <a:p>
            <a:r>
              <a:rPr lang="en-US" sz="1600" noProof="0" dirty="0"/>
              <a:t>A manager believes that it is critical to stand up for what is right and not be unduly influenced by her manager or other organizational pressure.</a:t>
            </a:r>
          </a:p>
        </p:txBody>
      </p:sp>
      <p:sp>
        <p:nvSpPr>
          <p:cNvPr id="5" name="Slide Number Placeholder 5">
            <a:extLst>
              <a:ext uri="{FF2B5EF4-FFF2-40B4-BE49-F238E27FC236}">
                <a16:creationId xmlns:a16="http://schemas.microsoft.com/office/drawing/2014/main" id="{6A562DBC-CB85-470D-B2BD-7E8FB31B909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err="1">
                <a:highlight>
                  <a:srgbClr val="FFFF00"/>
                </a:highlight>
              </a:rPr>
              <a:t>Caux</a:t>
            </a:r>
            <a:r>
              <a:rPr lang="en-US" noProof="0" dirty="0">
                <a:highlight>
                  <a:srgbClr val="FFFF00"/>
                </a:highlight>
              </a:rPr>
              <a:t> Principles</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1679850"/>
          </a:xfrm>
        </p:spPr>
        <p:txBody>
          <a:bodyPr/>
          <a:lstStyle/>
          <a:p>
            <a:r>
              <a:rPr lang="en-US" b="1" noProof="0" dirty="0" err="1"/>
              <a:t>Caux</a:t>
            </a:r>
            <a:r>
              <a:rPr lang="en-US" b="1" noProof="0" dirty="0"/>
              <a:t> Principles:</a:t>
            </a:r>
          </a:p>
          <a:p>
            <a:pPr lvl="1"/>
            <a:r>
              <a:rPr lang="en-US" noProof="0" dirty="0"/>
              <a:t>A regenerative, collaborative economic system that contrasts with the linear economy described earlier by minimizing input, waste, emissions, and energy leakage.</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3015376"/>
            <a:ext cx="8458200" cy="1343264"/>
          </a:xfrm>
        </p:spPr>
        <p:txBody>
          <a:bodyPr/>
          <a:lstStyle/>
          <a:p>
            <a:r>
              <a:rPr lang="en-US" b="1" noProof="0" dirty="0" err="1"/>
              <a:t>Kyosei</a:t>
            </a:r>
            <a:r>
              <a:rPr lang="en-US" b="1" noProof="0" dirty="0"/>
              <a:t>:</a:t>
            </a:r>
          </a:p>
          <a:p>
            <a:pPr lvl="1"/>
            <a:r>
              <a:rPr lang="en-US" noProof="0" dirty="0"/>
              <a:t>Living and working together for the common good, allowing cooperation to coexist with healthy and fair competition.</a:t>
            </a:r>
          </a:p>
        </p:txBody>
      </p:sp>
      <p:sp>
        <p:nvSpPr>
          <p:cNvPr id="5" name="Content Placeholder 4">
            <a:extLst>
              <a:ext uri="{FF2B5EF4-FFF2-40B4-BE49-F238E27FC236}">
                <a16:creationId xmlns:a16="http://schemas.microsoft.com/office/drawing/2014/main" id="{D0938FC2-20FE-402C-BC7B-E70273CA5359}"/>
              </a:ext>
            </a:extLst>
          </p:cNvPr>
          <p:cNvSpPr>
            <a:spLocks noGrp="1"/>
          </p:cNvSpPr>
          <p:nvPr>
            <p:ph sz="quarter" idx="15"/>
          </p:nvPr>
        </p:nvSpPr>
        <p:spPr>
          <a:xfrm>
            <a:off x="342900" y="4456173"/>
            <a:ext cx="8458200" cy="1311683"/>
          </a:xfrm>
        </p:spPr>
        <p:txBody>
          <a:bodyPr/>
          <a:lstStyle/>
          <a:p>
            <a:r>
              <a:rPr lang="en-US" b="1" noProof="0" dirty="0"/>
              <a:t>Human dignity: </a:t>
            </a:r>
          </a:p>
          <a:p>
            <a:pPr lvl="1"/>
            <a:r>
              <a:rPr lang="en-US" noProof="0" dirty="0"/>
              <a:t>Concerns the value of each person as an end, not a means, to the fulfillment of others’ purposes.</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1900611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a:highlight>
                  <a:srgbClr val="FFFF00"/>
                </a:highlight>
              </a:rPr>
              <a:t>Egoism and Utilitarianism</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1375050"/>
          </a:xfrm>
        </p:spPr>
        <p:txBody>
          <a:bodyPr/>
          <a:lstStyle/>
          <a:p>
            <a:r>
              <a:rPr lang="en-US" b="1" noProof="0" dirty="0"/>
              <a:t>Egoism:</a:t>
            </a:r>
          </a:p>
          <a:p>
            <a:pPr lvl="1"/>
            <a:r>
              <a:rPr lang="en-US" noProof="0" dirty="0"/>
              <a:t>An ethical system defining acceptable behavior as that which maximizes consequences for the individual.</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2680096"/>
            <a:ext cx="8458200" cy="1343264"/>
          </a:xfrm>
        </p:spPr>
        <p:txBody>
          <a:bodyPr/>
          <a:lstStyle/>
          <a:p>
            <a:r>
              <a:rPr lang="en-US" b="1" noProof="0" dirty="0"/>
              <a:t>Utilitarianism:</a:t>
            </a:r>
          </a:p>
          <a:p>
            <a:pPr lvl="1"/>
            <a:r>
              <a:rPr lang="en-US" noProof="0" dirty="0"/>
              <a:t>An ethical system stating that the greatest good for the greatest number should be the overriding concern.</a:t>
            </a:r>
          </a:p>
        </p:txBody>
      </p:sp>
      <p:sp>
        <p:nvSpPr>
          <p:cNvPr id="5" name="Content Placeholder 4">
            <a:extLst>
              <a:ext uri="{FF2B5EF4-FFF2-40B4-BE49-F238E27FC236}">
                <a16:creationId xmlns:a16="http://schemas.microsoft.com/office/drawing/2014/main" id="{D0938FC2-20FE-402C-BC7B-E70273CA5359}"/>
              </a:ext>
            </a:extLst>
          </p:cNvPr>
          <p:cNvSpPr>
            <a:spLocks noGrp="1"/>
          </p:cNvSpPr>
          <p:nvPr>
            <p:ph sz="quarter" idx="15"/>
          </p:nvPr>
        </p:nvSpPr>
        <p:spPr>
          <a:xfrm>
            <a:off x="342900" y="4119555"/>
            <a:ext cx="8458200" cy="1192439"/>
          </a:xfrm>
        </p:spPr>
        <p:txBody>
          <a:bodyPr/>
          <a:lstStyle/>
          <a:p>
            <a:r>
              <a:rPr lang="en-US" noProof="0" dirty="0"/>
              <a:t>Employees sometimes feel like “borrowing” a few office supplies from their company helps compensate for any perceived unfairness in pay or other benefits. </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82378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a:highlight>
                  <a:srgbClr val="FFFF00"/>
                </a:highlight>
              </a:rPr>
              <a:t>Relativism and Virtue Ethics</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1375050"/>
          </a:xfrm>
        </p:spPr>
        <p:txBody>
          <a:bodyPr/>
          <a:lstStyle/>
          <a:p>
            <a:r>
              <a:rPr lang="en-US" b="1" noProof="0" dirty="0"/>
              <a:t>Relativism:</a:t>
            </a:r>
          </a:p>
          <a:p>
            <a:pPr lvl="1"/>
            <a:r>
              <a:rPr lang="en-US" noProof="0" dirty="0"/>
              <a:t>Philosophy that bases ethical behavior on the opinions and behaviors of relevant other people.</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2832496"/>
            <a:ext cx="8458200" cy="1343264"/>
          </a:xfrm>
        </p:spPr>
        <p:txBody>
          <a:bodyPr/>
          <a:lstStyle/>
          <a:p>
            <a:r>
              <a:rPr lang="en-US" b="1" noProof="0" dirty="0"/>
              <a:t>Virtue ethics:</a:t>
            </a:r>
          </a:p>
          <a:p>
            <a:pPr lvl="1"/>
            <a:r>
              <a:rPr lang="en-US" noProof="0" dirty="0"/>
              <a:t>Perspective that what is moral comes from what a mature person with good “moral character” would deem right.</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3809741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a:highlight>
                  <a:srgbClr val="FFFF00"/>
                </a:highlight>
              </a:rPr>
              <a:t>Kohlberg</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1817010"/>
          </a:xfrm>
        </p:spPr>
        <p:txBody>
          <a:bodyPr/>
          <a:lstStyle/>
          <a:p>
            <a:r>
              <a:rPr lang="en-US" b="1" noProof="0" dirty="0"/>
              <a:t>Kohlberg’s model of cognitive moral development:</a:t>
            </a:r>
          </a:p>
          <a:p>
            <a:pPr lvl="1"/>
            <a:r>
              <a:rPr lang="en-US" noProof="0" dirty="0"/>
              <a:t>Classifies people into categories based on their level of moral judgment.</a:t>
            </a:r>
          </a:p>
          <a:p>
            <a:pPr lvl="1"/>
            <a:r>
              <a:rPr lang="en-US" noProof="0" dirty="0"/>
              <a:t>Proposes three stages of development:</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3207293"/>
            <a:ext cx="8458200" cy="1477590"/>
          </a:xfrm>
        </p:spPr>
        <p:txBody>
          <a:bodyPr/>
          <a:lstStyle/>
          <a:p>
            <a:pPr marL="804672" lvl="2" indent="-402336">
              <a:buFont typeface="+mj-lt"/>
              <a:buAutoNum type="arabicPeriod"/>
              <a:defRPr/>
            </a:pPr>
            <a:r>
              <a:rPr lang="en-US" sz="2200" noProof="0" dirty="0"/>
              <a:t>Preconventional.</a:t>
            </a:r>
          </a:p>
          <a:p>
            <a:pPr marL="804672" lvl="2" indent="-402336">
              <a:buFont typeface="+mj-lt"/>
              <a:buAutoNum type="arabicPeriod"/>
              <a:defRPr/>
            </a:pPr>
            <a:r>
              <a:rPr lang="en-US" sz="2200" noProof="0" dirty="0"/>
              <a:t>Conventional.</a:t>
            </a:r>
          </a:p>
          <a:p>
            <a:pPr marL="804672" lvl="2" indent="-402336">
              <a:buFont typeface="+mj-lt"/>
              <a:buAutoNum type="arabicPeriod"/>
              <a:defRPr/>
            </a:pPr>
            <a:r>
              <a:rPr lang="en-US" sz="2200" noProof="0" dirty="0"/>
              <a:t>Principled.</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13</a:t>
            </a:fld>
            <a:endParaRPr lang="en-US" dirty="0"/>
          </a:p>
        </p:txBody>
      </p:sp>
      <p:pic>
        <p:nvPicPr>
          <p:cNvPr id="6" name="Graphic 5" descr="Artificial Intelligence outline">
            <a:extLst>
              <a:ext uri="{FF2B5EF4-FFF2-40B4-BE49-F238E27FC236}">
                <a16:creationId xmlns:a16="http://schemas.microsoft.com/office/drawing/2014/main" id="{B20E6A0A-F7D1-D2C7-4499-F1F344139C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58683" y="3770483"/>
            <a:ext cx="2308302" cy="2184268"/>
          </a:xfrm>
          <a:prstGeom prst="rect">
            <a:avLst/>
          </a:prstGeom>
        </p:spPr>
      </p:pic>
    </p:spTree>
    <p:extLst>
      <p:ext uri="{BB962C8B-B14F-4D97-AF65-F5344CB8AC3E}">
        <p14:creationId xmlns:p14="http://schemas.microsoft.com/office/powerpoint/2010/main" val="2508305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a:highlight>
                  <a:srgbClr val="FFFF00"/>
                </a:highlight>
              </a:rPr>
              <a:t>The Ethics Environment</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3447690"/>
          </a:xfrm>
        </p:spPr>
        <p:txBody>
          <a:bodyPr/>
          <a:lstStyle/>
          <a:p>
            <a:r>
              <a:rPr lang="en-US" b="1" noProof="0" dirty="0"/>
              <a:t>Sarbanes-Oxley Act:</a:t>
            </a:r>
          </a:p>
          <a:p>
            <a:pPr lvl="1"/>
            <a:r>
              <a:rPr lang="en-US" noProof="0" dirty="0"/>
              <a:t>An act passed into law by Congress in 2002 to establish strict accounting and reporting rules in order to make senior managers more accountable and to improve and maintain investor confidence.</a:t>
            </a:r>
          </a:p>
          <a:p>
            <a:pPr lvl="1"/>
            <a:r>
              <a:rPr lang="en-US" noProof="0" dirty="0"/>
              <a:t>Law requires companies to have more independent board directors to adhere strictly to accounting rules, and to have senior managers personally sign off on financial results.</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3939588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r>
              <a:rPr lang="en-US" sz="1000" noProof="0" dirty="0"/>
              <a:t>Exhibit 5.3 </a:t>
            </a:r>
            <a:r>
              <a:rPr lang="en-US" noProof="0" dirty="0">
                <a:highlight>
                  <a:srgbClr val="FFFF00"/>
                </a:highlight>
              </a:rPr>
              <a:t>Some Ethical Issues in Business </a:t>
            </a:r>
            <a:r>
              <a:rPr lang="en-US" sz="1100" b="0" noProof="0" dirty="0"/>
              <a:t>1</a:t>
            </a: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917850"/>
          </a:xfrm>
        </p:spPr>
        <p:txBody>
          <a:bodyPr/>
          <a:lstStyle/>
          <a:p>
            <a:r>
              <a:rPr lang="en-US" noProof="0" dirty="0"/>
              <a:t>C</a:t>
            </a:r>
            <a:r>
              <a:rPr lang="en-US" sz="100" noProof="0" dirty="0"/>
              <a:t> </a:t>
            </a:r>
            <a:r>
              <a:rPr lang="en-US" noProof="0" dirty="0"/>
              <a:t>E</a:t>
            </a:r>
            <a:r>
              <a:rPr lang="en-US" sz="100" noProof="0" dirty="0"/>
              <a:t> </a:t>
            </a:r>
            <a:r>
              <a:rPr lang="en-US" noProof="0" dirty="0"/>
              <a:t>O pay:</a:t>
            </a:r>
          </a:p>
          <a:p>
            <a:pPr lvl="1"/>
            <a:r>
              <a:rPr lang="en-US" noProof="0" dirty="0"/>
              <a:t>What is a fair level of pay for a top executive?</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2334004"/>
            <a:ext cx="8458200" cy="1310842"/>
          </a:xfrm>
        </p:spPr>
        <p:txBody>
          <a:bodyPr/>
          <a:lstStyle/>
          <a:p>
            <a:r>
              <a:rPr lang="en-US" noProof="0" dirty="0"/>
              <a:t>Climate: </a:t>
            </a:r>
          </a:p>
          <a:p>
            <a:pPr lvl="1"/>
            <a:r>
              <a:rPr lang="en-US" noProof="0" dirty="0"/>
              <a:t>What is a company’s responsibility for its impact on the climate?</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751409"/>
            <a:ext cx="8458200" cy="1689271"/>
          </a:xfrm>
        </p:spPr>
        <p:txBody>
          <a:bodyPr/>
          <a:lstStyle/>
          <a:p>
            <a:r>
              <a:rPr lang="en-US" noProof="0" dirty="0"/>
              <a:t>Globalization: </a:t>
            </a:r>
          </a:p>
          <a:p>
            <a:pPr lvl="1"/>
            <a:r>
              <a:rPr lang="en-US" noProof="0" dirty="0"/>
              <a:t>When a company operates in countries with lower costs, what are its obligations, if any, to the workers in those countries?</a:t>
            </a:r>
          </a:p>
        </p:txBody>
      </p:sp>
      <p:sp>
        <p:nvSpPr>
          <p:cNvPr id="6" name="Content Placeholder 5">
            <a:extLst>
              <a:ext uri="{FF2B5EF4-FFF2-40B4-BE49-F238E27FC236}">
                <a16:creationId xmlns:a16="http://schemas.microsoft.com/office/drawing/2014/main" id="{2EBDCF53-A7BD-4C31-9256-BFF0491C4177}"/>
              </a:ext>
            </a:extLst>
          </p:cNvPr>
          <p:cNvSpPr>
            <a:spLocks noGrp="1"/>
          </p:cNvSpPr>
          <p:nvPr>
            <p:ph sz="quarter" idx="16"/>
          </p:nvPr>
        </p:nvSpPr>
        <p:spPr>
          <a:xfrm>
            <a:off x="342900" y="5487739"/>
            <a:ext cx="8458200" cy="982770"/>
          </a:xfrm>
        </p:spPr>
        <p:txBody>
          <a:bodyPr/>
          <a:lstStyle/>
          <a:p>
            <a:r>
              <a:rPr lang="en-US" noProof="0" dirty="0"/>
              <a:t>Health care:</a:t>
            </a:r>
          </a:p>
          <a:p>
            <a:pPr lvl="1"/>
            <a:r>
              <a:rPr lang="en-US" noProof="0" dirty="0"/>
              <a:t>Are employers ethically obliged to provide this benefit?</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3769887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r>
              <a:rPr lang="en-US" sz="1000" noProof="0" dirty="0"/>
              <a:t>Exhibit 5.3 </a:t>
            </a:r>
            <a:r>
              <a:rPr lang="en-US" noProof="0" dirty="0">
                <a:highlight>
                  <a:srgbClr val="FFFF00"/>
                </a:highlight>
              </a:rPr>
              <a:t>Some Ethical Issues in Business </a:t>
            </a:r>
            <a:r>
              <a:rPr lang="en-US" sz="1100" b="0" noProof="0" dirty="0"/>
              <a:t>2</a:t>
            </a: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09"/>
            <a:ext cx="8458200" cy="1221117"/>
          </a:xfrm>
        </p:spPr>
        <p:txBody>
          <a:bodyPr/>
          <a:lstStyle/>
          <a:p>
            <a:r>
              <a:rPr lang="en-US" sz="2000" noProof="0" dirty="0"/>
              <a:t>Obesity:</a:t>
            </a:r>
          </a:p>
          <a:p>
            <a:pPr lvl="1"/>
            <a:r>
              <a:rPr lang="en-US" sz="2000" noProof="0" dirty="0"/>
              <a:t>What role should employer play in encouraging healthy employee lifestyles?</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2543547"/>
            <a:ext cx="8458200" cy="1105116"/>
          </a:xfrm>
        </p:spPr>
        <p:txBody>
          <a:bodyPr/>
          <a:lstStyle/>
          <a:p>
            <a:r>
              <a:rPr lang="en-US" sz="2000" noProof="0" dirty="0"/>
              <a:t>Online privacy:</a:t>
            </a:r>
          </a:p>
          <a:p>
            <a:pPr lvl="1"/>
            <a:r>
              <a:rPr lang="en-US" sz="2000" noProof="0" dirty="0"/>
              <a:t>What obligations do employers have in protecting the privacy of employee information and information about customers? </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735673"/>
            <a:ext cx="8458200" cy="1476902"/>
          </a:xfrm>
        </p:spPr>
        <p:txBody>
          <a:bodyPr/>
          <a:lstStyle/>
          <a:p>
            <a:r>
              <a:rPr lang="en-US" sz="2000" noProof="0" dirty="0"/>
              <a:t>Social media:</a:t>
            </a:r>
          </a:p>
          <a:p>
            <a:pPr lvl="1">
              <a:tabLst>
                <a:tab pos="4632325" algn="l"/>
              </a:tabLst>
            </a:pPr>
            <a:r>
              <a:rPr lang="en-US" sz="2000" noProof="0" dirty="0"/>
              <a:t>What ethical obligations do employees have in commenting about their employer on social media? What ethical obligations do employers have concerning their employees’ privacy on social media?</a:t>
            </a:r>
          </a:p>
        </p:txBody>
      </p:sp>
      <p:sp>
        <p:nvSpPr>
          <p:cNvPr id="6" name="Content Placeholder 5">
            <a:extLst>
              <a:ext uri="{FF2B5EF4-FFF2-40B4-BE49-F238E27FC236}">
                <a16:creationId xmlns:a16="http://schemas.microsoft.com/office/drawing/2014/main" id="{2EBDCF53-A7BD-4C31-9256-BFF0491C4177}"/>
              </a:ext>
            </a:extLst>
          </p:cNvPr>
          <p:cNvSpPr>
            <a:spLocks noGrp="1"/>
          </p:cNvSpPr>
          <p:nvPr>
            <p:ph sz="quarter" idx="16"/>
          </p:nvPr>
        </p:nvSpPr>
        <p:spPr>
          <a:xfrm>
            <a:off x="342900" y="5261006"/>
            <a:ext cx="8458200" cy="1131437"/>
          </a:xfrm>
        </p:spPr>
        <p:txBody>
          <a:bodyPr/>
          <a:lstStyle/>
          <a:p>
            <a:r>
              <a:rPr lang="en-US" sz="2000" noProof="0" dirty="0"/>
              <a:t>Wages:</a:t>
            </a:r>
          </a:p>
          <a:p>
            <a:pPr lvl="1"/>
            <a:r>
              <a:rPr lang="en-US" sz="2000" noProof="0" dirty="0"/>
              <a:t>What should employers do to promote a sense that their compensation is fair?</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3552033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a:highlight>
                  <a:srgbClr val="FFFF00"/>
                </a:highlight>
              </a:rPr>
              <a:t>Ethical Climate and Leadership</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1375050"/>
          </a:xfrm>
        </p:spPr>
        <p:txBody>
          <a:bodyPr/>
          <a:lstStyle/>
          <a:p>
            <a:r>
              <a:rPr lang="en-US" b="1" noProof="0" dirty="0"/>
              <a:t>Ethical climate:</a:t>
            </a:r>
          </a:p>
          <a:p>
            <a:pPr lvl="1"/>
            <a:r>
              <a:rPr lang="en-US" noProof="0" dirty="0"/>
              <a:t>In an organization, the processes by which decisions are evaluated and made on the basis of right and wrong.</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2832496"/>
            <a:ext cx="8458200" cy="1343264"/>
          </a:xfrm>
        </p:spPr>
        <p:txBody>
          <a:bodyPr/>
          <a:lstStyle/>
          <a:p>
            <a:r>
              <a:rPr lang="en-US" b="1" noProof="0" dirty="0"/>
              <a:t>Ethical leader:</a:t>
            </a:r>
          </a:p>
          <a:p>
            <a:pPr lvl="1"/>
            <a:r>
              <a:rPr lang="en-US" noProof="0" dirty="0"/>
              <a:t>One who is both a moral person and a moral manager influencing others to behave ethically.</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17</a:t>
            </a:fld>
            <a:endParaRPr lang="en-US" dirty="0"/>
          </a:p>
        </p:txBody>
      </p:sp>
    </p:spTree>
    <p:extLst>
      <p:ext uri="{BB962C8B-B14F-4D97-AF65-F5344CB8AC3E}">
        <p14:creationId xmlns:p14="http://schemas.microsoft.com/office/powerpoint/2010/main" val="3963350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0976-3B48-4582-AAEB-D509540ADD93}"/>
              </a:ext>
            </a:extLst>
          </p:cNvPr>
          <p:cNvSpPr>
            <a:spLocks noGrp="1"/>
          </p:cNvSpPr>
          <p:nvPr>
            <p:ph type="title"/>
          </p:nvPr>
        </p:nvSpPr>
        <p:spPr>
          <a:xfrm>
            <a:off x="264841" y="177790"/>
            <a:ext cx="8458200" cy="821119"/>
          </a:xfrm>
        </p:spPr>
        <p:txBody>
          <a:bodyPr>
            <a:normAutofit fontScale="90000"/>
          </a:bodyPr>
          <a:lstStyle/>
          <a:p>
            <a:pPr algn="ctr"/>
            <a:r>
              <a:rPr lang="en-US" sz="1000" noProof="0" dirty="0"/>
              <a:t>Exhibit 5.4 </a:t>
            </a:r>
            <a:r>
              <a:rPr lang="en-US" noProof="0" dirty="0">
                <a:highlight>
                  <a:srgbClr val="FFFF00"/>
                </a:highlight>
              </a:rPr>
              <a:t>Danger Signs of Unethical Behavior in Your Organization</a:t>
            </a:r>
          </a:p>
        </p:txBody>
      </p:sp>
      <p:sp>
        <p:nvSpPr>
          <p:cNvPr id="3" name="Content Placeholder 2">
            <a:extLst>
              <a:ext uri="{FF2B5EF4-FFF2-40B4-BE49-F238E27FC236}">
                <a16:creationId xmlns:a16="http://schemas.microsoft.com/office/drawing/2014/main" id="{6EB8B66E-1D9F-4217-9432-5A16CC4C6ACB}"/>
              </a:ext>
            </a:extLst>
          </p:cNvPr>
          <p:cNvSpPr>
            <a:spLocks noGrp="1"/>
          </p:cNvSpPr>
          <p:nvPr>
            <p:ph sz="quarter" idx="11"/>
          </p:nvPr>
        </p:nvSpPr>
        <p:spPr>
          <a:xfrm>
            <a:off x="342900" y="1276709"/>
            <a:ext cx="8458200" cy="5261251"/>
          </a:xfrm>
        </p:spPr>
        <p:txBody>
          <a:bodyPr/>
          <a:lstStyle/>
          <a:p>
            <a:pPr marL="402336" indent="-402336">
              <a:buFont typeface="+mj-lt"/>
              <a:buAutoNum type="arabicPeriod"/>
            </a:pPr>
            <a:r>
              <a:rPr lang="en-US" noProof="0" dirty="0"/>
              <a:t>Excessive emphasis on </a:t>
            </a:r>
            <a:r>
              <a:rPr lang="en-US" b="1" noProof="0" dirty="0"/>
              <a:t>short-term revenues</a:t>
            </a:r>
            <a:r>
              <a:rPr lang="en-US" noProof="0" dirty="0"/>
              <a:t> over longer-term considerations.</a:t>
            </a:r>
          </a:p>
          <a:p>
            <a:pPr marL="402336" indent="-402336">
              <a:buFont typeface="+mj-lt"/>
              <a:buAutoNum type="arabicPeriod"/>
            </a:pPr>
            <a:r>
              <a:rPr lang="en-US" noProof="0" dirty="0"/>
              <a:t>Failure to establish a </a:t>
            </a:r>
            <a:r>
              <a:rPr lang="en-US" b="1" noProof="0" dirty="0"/>
              <a:t>written code of ethics.</a:t>
            </a:r>
          </a:p>
          <a:p>
            <a:pPr marL="402336" indent="-402336">
              <a:buFont typeface="+mj-lt"/>
              <a:buAutoNum type="arabicPeriod"/>
            </a:pPr>
            <a:r>
              <a:rPr lang="en-US" noProof="0" dirty="0"/>
              <a:t>A desire for simple, </a:t>
            </a:r>
            <a:r>
              <a:rPr lang="en-US" b="1" noProof="0" dirty="0"/>
              <a:t>quick-fix solutions</a:t>
            </a:r>
            <a:r>
              <a:rPr lang="en-US" noProof="0" dirty="0"/>
              <a:t> to ethical problems.</a:t>
            </a:r>
          </a:p>
          <a:p>
            <a:pPr marL="402336" indent="-402336">
              <a:buFont typeface="+mj-lt"/>
              <a:buAutoNum type="arabicPeriod"/>
            </a:pPr>
            <a:r>
              <a:rPr lang="en-US" noProof="0" dirty="0"/>
              <a:t>An </a:t>
            </a:r>
            <a:r>
              <a:rPr lang="en-US" b="1" noProof="0" dirty="0"/>
              <a:t>unwillingness</a:t>
            </a:r>
            <a:r>
              <a:rPr lang="en-US" noProof="0" dirty="0"/>
              <a:t> to take an ethical stand that imposes financial costs.</a:t>
            </a:r>
          </a:p>
          <a:p>
            <a:pPr marL="402336" indent="-402336">
              <a:buFont typeface="+mj-lt"/>
              <a:buAutoNum type="arabicPeriod"/>
            </a:pPr>
            <a:r>
              <a:rPr lang="en-US" noProof="0" dirty="0"/>
              <a:t>Consideration of ethics solely as a </a:t>
            </a:r>
            <a:r>
              <a:rPr lang="en-US" b="1" noProof="0" dirty="0"/>
              <a:t>legal issue </a:t>
            </a:r>
            <a:r>
              <a:rPr lang="en-US" noProof="0" dirty="0"/>
              <a:t>or a public relations tool.</a:t>
            </a:r>
          </a:p>
          <a:p>
            <a:pPr marL="402336" indent="-402336">
              <a:buFont typeface="+mj-lt"/>
              <a:buAutoNum type="arabicPeriod"/>
            </a:pPr>
            <a:r>
              <a:rPr lang="en-US" b="1" noProof="0" dirty="0"/>
              <a:t>Lack of clear procedures </a:t>
            </a:r>
            <a:r>
              <a:rPr lang="en-US" noProof="0" dirty="0"/>
              <a:t>for handling ethical problems. </a:t>
            </a:r>
          </a:p>
          <a:p>
            <a:pPr marL="402336" indent="-402336">
              <a:buFont typeface="+mj-lt"/>
              <a:buAutoNum type="arabicPeriod"/>
            </a:pPr>
            <a:r>
              <a:rPr lang="en-US" noProof="0" dirty="0"/>
              <a:t>A response to the </a:t>
            </a:r>
            <a:r>
              <a:rPr lang="en-US" b="1" noProof="0" dirty="0"/>
              <a:t>demands of shareholders</a:t>
            </a:r>
            <a:r>
              <a:rPr lang="en-US" noProof="0" dirty="0"/>
              <a:t> at the expense of other constituencies.</a:t>
            </a:r>
          </a:p>
        </p:txBody>
      </p:sp>
      <p:sp>
        <p:nvSpPr>
          <p:cNvPr id="6" name="Slide Number Placeholder 5">
            <a:extLst>
              <a:ext uri="{FF2B5EF4-FFF2-40B4-BE49-F238E27FC236}">
                <a16:creationId xmlns:a16="http://schemas.microsoft.com/office/drawing/2014/main" id="{CE698B2A-AFDB-49FC-86E8-6680EAD31246}"/>
              </a:ext>
            </a:extLst>
          </p:cNvPr>
          <p:cNvSpPr>
            <a:spLocks noGrp="1"/>
          </p:cNvSpPr>
          <p:nvPr>
            <p:ph type="sldNum" sz="quarter" idx="10"/>
          </p:nvPr>
        </p:nvSpPr>
        <p:spPr/>
        <p:txBody>
          <a:bodyPr/>
          <a:lstStyle/>
          <a:p>
            <a:fld id="{68151E55-6873-49E2-B8D5-2F265E6F1973}" type="slidenum">
              <a:rPr lang="en-US" smtClean="0"/>
              <a:t>18</a:t>
            </a:fld>
            <a:endParaRPr lang="en-US" dirty="0"/>
          </a:p>
        </p:txBody>
      </p:sp>
    </p:spTree>
    <p:extLst>
      <p:ext uri="{BB962C8B-B14F-4D97-AF65-F5344CB8AC3E}">
        <p14:creationId xmlns:p14="http://schemas.microsoft.com/office/powerpoint/2010/main" val="3415338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a:xfrm>
            <a:off x="342900" y="233546"/>
            <a:ext cx="8458200" cy="1639859"/>
          </a:xfrm>
        </p:spPr>
        <p:txBody>
          <a:bodyPr>
            <a:normAutofit fontScale="90000"/>
          </a:bodyPr>
          <a:lstStyle/>
          <a:p>
            <a:r>
              <a:rPr lang="en-US" noProof="0" dirty="0">
                <a:highlight>
                  <a:srgbClr val="FFFF00"/>
                </a:highlight>
              </a:rPr>
              <a:t>SPOTLIGHT ON . . .</a:t>
            </a:r>
            <a:br>
              <a:rPr lang="en-US" noProof="0" dirty="0">
                <a:highlight>
                  <a:srgbClr val="FFFF00"/>
                </a:highlight>
              </a:rPr>
            </a:br>
            <a:br>
              <a:rPr lang="en-US" noProof="0" dirty="0">
                <a:highlight>
                  <a:srgbClr val="FFFF00"/>
                </a:highlight>
              </a:rPr>
            </a:br>
            <a:r>
              <a:rPr lang="en-US" noProof="0" dirty="0">
                <a:highlight>
                  <a:srgbClr val="FFFF00"/>
                </a:highlight>
              </a:rPr>
              <a:t>Digital Monitoring </a:t>
            </a:r>
            <a:r>
              <a:rPr lang="en-US" i="1" noProof="0" dirty="0">
                <a:highlight>
                  <a:srgbClr val="FFFF00"/>
                </a:highlight>
              </a:rPr>
              <a:t>Can</a:t>
            </a:r>
            <a:r>
              <a:rPr lang="en-US" noProof="0" dirty="0">
                <a:highlight>
                  <a:srgbClr val="FFFF00"/>
                </a:highlight>
              </a:rPr>
              <a:t> Help Ensure Ethics</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2249658"/>
            <a:ext cx="8458200" cy="872130"/>
          </a:xfrm>
        </p:spPr>
        <p:txBody>
          <a:bodyPr/>
          <a:lstStyle/>
          <a:p>
            <a:r>
              <a:rPr lang="en-US" noProof="0" dirty="0"/>
              <a:t>Companies may use technology to enforce ethical behavior, as long as they inform the employees.</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3837303"/>
            <a:ext cx="8458200" cy="2120713"/>
          </a:xfrm>
        </p:spPr>
        <p:txBody>
          <a:bodyPr/>
          <a:lstStyle/>
          <a:p>
            <a:pPr marL="402336" indent="-402336">
              <a:buFont typeface="+mj-lt"/>
              <a:buAutoNum type="arabicPeriod"/>
            </a:pPr>
            <a:r>
              <a:rPr lang="en-US" noProof="0" dirty="0"/>
              <a:t>How would you feel knowing your messages are being monitored at work? How might you change your messaging habits, if at all?</a:t>
            </a:r>
          </a:p>
          <a:p>
            <a:pPr marL="402336" indent="-402336">
              <a:buFont typeface="+mj-lt"/>
              <a:buAutoNum type="arabicPeriod"/>
            </a:pPr>
            <a:r>
              <a:rPr lang="en-US" noProof="0" dirty="0"/>
              <a:t>What ethical implications for the employee-employer relationship does such surveillance pose?</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1704013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normAutofit/>
          </a:bodyPr>
          <a:lstStyle/>
          <a:p>
            <a:pPr algn="ctr"/>
            <a:r>
              <a:rPr lang="en-US" noProof="0" dirty="0">
                <a:highlight>
                  <a:srgbClr val="FFFF00"/>
                </a:highlight>
              </a:rPr>
              <a:t>Ethics Codes</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491130"/>
          </a:xfrm>
        </p:spPr>
        <p:txBody>
          <a:bodyPr/>
          <a:lstStyle/>
          <a:p>
            <a:r>
              <a:rPr lang="en-US" noProof="0" dirty="0"/>
              <a:t>Ways to make an ethics code effective:</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1812402"/>
            <a:ext cx="8458200" cy="3932093"/>
          </a:xfrm>
        </p:spPr>
        <p:txBody>
          <a:bodyPr/>
          <a:lstStyle/>
          <a:p>
            <a:pPr marL="402336" indent="-402336">
              <a:buFont typeface="+mj-lt"/>
              <a:buAutoNum type="arabicPeriod"/>
            </a:pPr>
            <a:r>
              <a:rPr lang="en-US" noProof="0" dirty="0"/>
              <a:t>Involve those who have to live with it in writing the statement.</a:t>
            </a:r>
          </a:p>
          <a:p>
            <a:pPr marL="402336" indent="-402336">
              <a:buFont typeface="+mj-lt"/>
              <a:buAutoNum type="arabicPeriod"/>
            </a:pPr>
            <a:r>
              <a:rPr lang="en-US" noProof="0" dirty="0"/>
              <a:t>Focus on real-life situations that employees can relate to.</a:t>
            </a:r>
          </a:p>
          <a:p>
            <a:pPr marL="402336" indent="-402336">
              <a:buFont typeface="+mj-lt"/>
              <a:buAutoNum type="arabicPeriod"/>
            </a:pPr>
            <a:r>
              <a:rPr lang="en-US" noProof="0" dirty="0"/>
              <a:t>Keep it short and simple, so it’s easy to understand and remember.</a:t>
            </a:r>
          </a:p>
          <a:p>
            <a:pPr marL="402336" indent="-402336">
              <a:buFont typeface="+mj-lt"/>
              <a:buAutoNum type="arabicPeriod"/>
            </a:pPr>
            <a:r>
              <a:rPr lang="en-US" noProof="0" dirty="0"/>
              <a:t>Write about values and shared beliefs that people can really believe in.</a:t>
            </a:r>
          </a:p>
          <a:p>
            <a:pPr marL="402336" indent="-402336">
              <a:buFont typeface="+mj-lt"/>
              <a:buAutoNum type="arabicPeriod"/>
            </a:pPr>
            <a:r>
              <a:rPr lang="en-US" noProof="0" dirty="0"/>
              <a:t>Set the tone at the top, having executives talk about and live up to the statement.</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20</a:t>
            </a:fld>
            <a:endParaRPr lang="en-US" dirty="0"/>
          </a:p>
        </p:txBody>
      </p:sp>
    </p:spTree>
    <p:extLst>
      <p:ext uri="{BB962C8B-B14F-4D97-AF65-F5344CB8AC3E}">
        <p14:creationId xmlns:p14="http://schemas.microsoft.com/office/powerpoint/2010/main" val="904869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1E65-A48C-4FB7-ACF5-B2298D168DBF}"/>
              </a:ext>
            </a:extLst>
          </p:cNvPr>
          <p:cNvSpPr>
            <a:spLocks noGrp="1"/>
          </p:cNvSpPr>
          <p:nvPr>
            <p:ph type="title"/>
          </p:nvPr>
        </p:nvSpPr>
        <p:spPr/>
        <p:txBody>
          <a:bodyPr/>
          <a:lstStyle/>
          <a:p>
            <a:pPr algn="ctr"/>
            <a:r>
              <a:rPr lang="en-US" noProof="0" dirty="0">
                <a:highlight>
                  <a:srgbClr val="FFFF00"/>
                </a:highlight>
              </a:rPr>
              <a:t>Ethics Programs</a:t>
            </a:r>
          </a:p>
        </p:txBody>
      </p:sp>
      <p:sp>
        <p:nvSpPr>
          <p:cNvPr id="3" name="Content Placeholder 2">
            <a:extLst>
              <a:ext uri="{FF2B5EF4-FFF2-40B4-BE49-F238E27FC236}">
                <a16:creationId xmlns:a16="http://schemas.microsoft.com/office/drawing/2014/main" id="{1EBF7067-055C-4B51-9994-502D4B2E0364}"/>
              </a:ext>
            </a:extLst>
          </p:cNvPr>
          <p:cNvSpPr>
            <a:spLocks noGrp="1"/>
          </p:cNvSpPr>
          <p:nvPr>
            <p:ph sz="quarter" idx="11"/>
          </p:nvPr>
        </p:nvSpPr>
        <p:spPr>
          <a:xfrm>
            <a:off x="342900" y="1276710"/>
            <a:ext cx="8458200" cy="1375050"/>
          </a:xfrm>
        </p:spPr>
        <p:txBody>
          <a:bodyPr/>
          <a:lstStyle/>
          <a:p>
            <a:r>
              <a:rPr lang="en-US" b="1" noProof="0" dirty="0"/>
              <a:t>Compliance-based ethics programs:</a:t>
            </a:r>
          </a:p>
          <a:p>
            <a:pPr lvl="1"/>
            <a:r>
              <a:rPr lang="en-US" noProof="0" dirty="0"/>
              <a:t>Company mechanisms typically designed by corporate counsel to prevent, detect, and punish legal violations.</a:t>
            </a:r>
          </a:p>
        </p:txBody>
      </p:sp>
      <p:sp>
        <p:nvSpPr>
          <p:cNvPr id="4" name="Content Placeholder 3">
            <a:extLst>
              <a:ext uri="{FF2B5EF4-FFF2-40B4-BE49-F238E27FC236}">
                <a16:creationId xmlns:a16="http://schemas.microsoft.com/office/drawing/2014/main" id="{BC0F48E5-32FF-4D6F-9DB6-575CC2D5995D}"/>
              </a:ext>
            </a:extLst>
          </p:cNvPr>
          <p:cNvSpPr>
            <a:spLocks noGrp="1"/>
          </p:cNvSpPr>
          <p:nvPr>
            <p:ph sz="quarter" idx="14"/>
          </p:nvPr>
        </p:nvSpPr>
        <p:spPr>
          <a:xfrm>
            <a:off x="342900" y="2832496"/>
            <a:ext cx="8458200" cy="1343264"/>
          </a:xfrm>
        </p:spPr>
        <p:txBody>
          <a:bodyPr/>
          <a:lstStyle/>
          <a:p>
            <a:r>
              <a:rPr lang="en-US" b="1" noProof="0" dirty="0"/>
              <a:t>Integrity-based ethics programs:</a:t>
            </a:r>
          </a:p>
          <a:p>
            <a:pPr lvl="1"/>
            <a:r>
              <a:rPr lang="en-US" noProof="0" dirty="0"/>
              <a:t>Company mechanisms designed to instill in people a personal responsibility for ethical </a:t>
            </a:r>
            <a:r>
              <a:rPr lang="en-US" noProof="0" dirty="0" err="1"/>
              <a:t>behaviour</a:t>
            </a:r>
            <a:r>
              <a:rPr lang="en-US" noProof="0" dirty="0"/>
              <a:t>.</a:t>
            </a:r>
          </a:p>
        </p:txBody>
      </p:sp>
      <p:sp>
        <p:nvSpPr>
          <p:cNvPr id="11" name="Slide Number Placeholder 10">
            <a:extLst>
              <a:ext uri="{FF2B5EF4-FFF2-40B4-BE49-F238E27FC236}">
                <a16:creationId xmlns:a16="http://schemas.microsoft.com/office/drawing/2014/main" id="{3751DB30-99F5-4B1B-8057-7174CDB54F29}"/>
              </a:ext>
            </a:extLst>
          </p:cNvPr>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1964867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pPr algn="ctr"/>
            <a:r>
              <a:rPr lang="en-US" noProof="0" dirty="0">
                <a:highlight>
                  <a:srgbClr val="FFFF00"/>
                </a:highlight>
              </a:rPr>
              <a:t>Ethical Decision Making</a:t>
            </a:r>
            <a:endParaRPr lang="en-US" sz="1100" b="0" noProof="0" dirty="0">
              <a:highlight>
                <a:srgbClr val="FFFF00"/>
              </a:highlight>
            </a:endParaRP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536850"/>
          </a:xfrm>
        </p:spPr>
        <p:txBody>
          <a:bodyPr/>
          <a:lstStyle/>
          <a:p>
            <a:r>
              <a:rPr lang="en-US" b="1" noProof="0" dirty="0"/>
              <a:t>Ethical decisions require:</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1919863"/>
            <a:ext cx="8458200" cy="950404"/>
          </a:xfrm>
        </p:spPr>
        <p:txBody>
          <a:bodyPr/>
          <a:lstStyle/>
          <a:p>
            <a:r>
              <a:rPr lang="en-US" i="1" noProof="0" dirty="0"/>
              <a:t>Moral awareness:</a:t>
            </a:r>
          </a:p>
          <a:p>
            <a:pPr lvl="1"/>
            <a:r>
              <a:rPr lang="en-US" noProof="0" dirty="0"/>
              <a:t>Realizing the issue has ethical implications.</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052469"/>
            <a:ext cx="8458200" cy="953550"/>
          </a:xfrm>
        </p:spPr>
        <p:txBody>
          <a:bodyPr/>
          <a:lstStyle/>
          <a:p>
            <a:r>
              <a:rPr lang="en-US" i="1" noProof="0" dirty="0"/>
              <a:t>Moral judgment:</a:t>
            </a:r>
          </a:p>
          <a:p>
            <a:r>
              <a:rPr lang="en-US" noProof="0" dirty="0"/>
              <a:t>Knowing what actions are morally defensible.</a:t>
            </a:r>
          </a:p>
        </p:txBody>
      </p:sp>
      <p:sp>
        <p:nvSpPr>
          <p:cNvPr id="6" name="Content Placeholder 5">
            <a:extLst>
              <a:ext uri="{FF2B5EF4-FFF2-40B4-BE49-F238E27FC236}">
                <a16:creationId xmlns:a16="http://schemas.microsoft.com/office/drawing/2014/main" id="{2EBDCF53-A7BD-4C31-9256-BFF0491C4177}"/>
              </a:ext>
            </a:extLst>
          </p:cNvPr>
          <p:cNvSpPr>
            <a:spLocks noGrp="1"/>
          </p:cNvSpPr>
          <p:nvPr>
            <p:ph sz="quarter" idx="16"/>
          </p:nvPr>
        </p:nvSpPr>
        <p:spPr>
          <a:xfrm>
            <a:off x="342900" y="4166851"/>
            <a:ext cx="8458200" cy="1308067"/>
          </a:xfrm>
        </p:spPr>
        <p:txBody>
          <a:bodyPr/>
          <a:lstStyle/>
          <a:p>
            <a:r>
              <a:rPr lang="en-US" i="1" noProof="0" dirty="0"/>
              <a:t>Moral character:</a:t>
            </a:r>
          </a:p>
          <a:p>
            <a:pPr lvl="1"/>
            <a:r>
              <a:rPr lang="en-US" noProof="0" dirty="0"/>
              <a:t>Strength and persistence to act in accordance with your ethics despite challenges.</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3638948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4B90-D959-45C6-9562-2B99A6B48979}"/>
              </a:ext>
            </a:extLst>
          </p:cNvPr>
          <p:cNvSpPr>
            <a:spLocks noGrp="1"/>
          </p:cNvSpPr>
          <p:nvPr>
            <p:ph type="title"/>
          </p:nvPr>
        </p:nvSpPr>
        <p:spPr/>
        <p:txBody>
          <a:bodyPr>
            <a:normAutofit fontScale="90000"/>
          </a:bodyPr>
          <a:lstStyle/>
          <a:p>
            <a:r>
              <a:rPr lang="en-US" sz="1000" noProof="0" dirty="0"/>
              <a:t>Exhibit 5.6 </a:t>
            </a:r>
            <a:r>
              <a:rPr lang="en-US" noProof="0" dirty="0">
                <a:highlight>
                  <a:srgbClr val="FFFF00"/>
                </a:highlight>
              </a:rPr>
              <a:t>A Process for Ethical Decision Making</a:t>
            </a:r>
          </a:p>
        </p:txBody>
      </p:sp>
      <p:pic>
        <p:nvPicPr>
          <p:cNvPr id="7" name="Picture 6" descr="A flow chart showing what occurs during ethical decision making.">
            <a:extLst>
              <a:ext uri="{FF2B5EF4-FFF2-40B4-BE49-F238E27FC236}">
                <a16:creationId xmlns:a16="http://schemas.microsoft.com/office/drawing/2014/main" id="{E296DA48-10C4-43B4-A371-BE1F16FD492A}"/>
              </a:ext>
            </a:extLst>
          </p:cNvPr>
          <p:cNvPicPr>
            <a:picLocks noChangeAspect="1"/>
          </p:cNvPicPr>
          <p:nvPr/>
        </p:nvPicPr>
        <p:blipFill>
          <a:blip r:embed="rId3"/>
          <a:stretch>
            <a:fillRect/>
          </a:stretch>
        </p:blipFill>
        <p:spPr>
          <a:xfrm>
            <a:off x="588970" y="2266381"/>
            <a:ext cx="7966061" cy="2566780"/>
          </a:xfrm>
          <a:prstGeom prst="rect">
            <a:avLst/>
          </a:prstGeom>
        </p:spPr>
      </p:pic>
      <p:sp>
        <p:nvSpPr>
          <p:cNvPr id="8" name="Content Placeholder 7">
            <a:extLst>
              <a:ext uri="{FF2B5EF4-FFF2-40B4-BE49-F238E27FC236}">
                <a16:creationId xmlns:a16="http://schemas.microsoft.com/office/drawing/2014/main" id="{294AAA89-04BC-41FB-B4C0-D8D56CC3B5B9}"/>
              </a:ext>
            </a:extLst>
          </p:cNvPr>
          <p:cNvSpPr>
            <a:spLocks noGrp="1"/>
          </p:cNvSpPr>
          <p:nvPr>
            <p:ph sz="quarter" idx="11"/>
          </p:nvPr>
        </p:nvSpPr>
        <p:spPr>
          <a:xfrm>
            <a:off x="1850873" y="5555573"/>
            <a:ext cx="5442255" cy="284922"/>
          </a:xfrm>
        </p:spPr>
        <p:txBody>
          <a:bodyPr/>
          <a:lstStyle/>
          <a:p>
            <a:r>
              <a:rPr lang="en-US" sz="800" noProof="0" dirty="0"/>
              <a:t>SOURCE: L. T. Hosmer, </a:t>
            </a:r>
            <a:r>
              <a:rPr lang="en-US" sz="800" i="1" noProof="0" dirty="0"/>
              <a:t>The Ethics of Management, </a:t>
            </a:r>
            <a:r>
              <a:rPr lang="en-US" sz="800" noProof="0" dirty="0"/>
              <a:t>4th ed. (New York: McGraw-Hill/Irwin, 2003), p. 32. Fig. 5.1A. </a:t>
            </a:r>
          </a:p>
        </p:txBody>
      </p:sp>
      <p:sp>
        <p:nvSpPr>
          <p:cNvPr id="10" name="Text Placeholder 9">
            <a:extLst>
              <a:ext uri="{FF2B5EF4-FFF2-40B4-BE49-F238E27FC236}">
                <a16:creationId xmlns:a16="http://schemas.microsoft.com/office/drawing/2014/main" id="{5D33EA70-3401-438A-BA44-B4AE8540BC20}"/>
              </a:ext>
            </a:extLst>
          </p:cNvPr>
          <p:cNvSpPr>
            <a:spLocks noGrp="1"/>
          </p:cNvSpPr>
          <p:nvPr>
            <p:ph type="body" sz="quarter" idx="14"/>
          </p:nvPr>
        </p:nvSpPr>
        <p:spPr/>
        <p:txBody>
          <a:bodyPr/>
          <a:lstStyle/>
          <a:p>
            <a:r>
              <a:rPr lang="en-US" sz="1200" noProof="0" dirty="0">
                <a:hlinkClick r:id="rId4" action="ppaction://hlinksldjump"/>
              </a:rPr>
              <a:t>Access the text alternative for slide image</a:t>
            </a:r>
          </a:p>
        </p:txBody>
      </p:sp>
      <p:sp>
        <p:nvSpPr>
          <p:cNvPr id="6" name="Slide Number Placeholder 5">
            <a:extLst>
              <a:ext uri="{FF2B5EF4-FFF2-40B4-BE49-F238E27FC236}">
                <a16:creationId xmlns:a16="http://schemas.microsoft.com/office/drawing/2014/main" id="{B41044FC-3E35-49B0-8902-74E8C35F7035}"/>
              </a:ext>
            </a:extLst>
          </p:cNvPr>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2957930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8FA0-8264-467C-9268-E4F2E8A922B5}"/>
              </a:ext>
            </a:extLst>
          </p:cNvPr>
          <p:cNvSpPr>
            <a:spLocks noGrp="1"/>
          </p:cNvSpPr>
          <p:nvPr>
            <p:ph type="title"/>
          </p:nvPr>
        </p:nvSpPr>
        <p:spPr/>
        <p:txBody>
          <a:bodyPr/>
          <a:lstStyle/>
          <a:p>
            <a:pPr algn="ctr"/>
            <a:r>
              <a:rPr lang="en-US" noProof="0" dirty="0">
                <a:highlight>
                  <a:srgbClr val="FFFF00"/>
                </a:highlight>
              </a:rPr>
              <a:t>Courage</a:t>
            </a:r>
          </a:p>
        </p:txBody>
      </p:sp>
      <p:sp>
        <p:nvSpPr>
          <p:cNvPr id="3" name="Content Placeholder 2">
            <a:extLst>
              <a:ext uri="{FF2B5EF4-FFF2-40B4-BE49-F238E27FC236}">
                <a16:creationId xmlns:a16="http://schemas.microsoft.com/office/drawing/2014/main" id="{DF43C994-1887-4EF3-9049-1AB85BD3D240}"/>
              </a:ext>
            </a:extLst>
          </p:cNvPr>
          <p:cNvSpPr>
            <a:spLocks noGrp="1"/>
          </p:cNvSpPr>
          <p:nvPr>
            <p:ph sz="quarter" idx="11"/>
          </p:nvPr>
        </p:nvSpPr>
        <p:spPr>
          <a:xfrm>
            <a:off x="342900" y="1276710"/>
            <a:ext cx="8458200" cy="3083418"/>
          </a:xfrm>
        </p:spPr>
        <p:txBody>
          <a:bodyPr/>
          <a:lstStyle/>
          <a:p>
            <a:r>
              <a:rPr lang="en-US" noProof="0" dirty="0"/>
              <a:t>Takes courage to take actions consistent with your ethics when others don’t want you to.</a:t>
            </a:r>
          </a:p>
          <a:p>
            <a:r>
              <a:rPr lang="en-US" noProof="0" dirty="0"/>
              <a:t>Plays a role in moral awareness involved in identifying an act as unethical.</a:t>
            </a:r>
          </a:p>
          <a:p>
            <a:r>
              <a:rPr lang="en-US" noProof="0" dirty="0"/>
              <a:t>Necessary when only ethical course of action is whistleblowing.</a:t>
            </a:r>
          </a:p>
        </p:txBody>
      </p:sp>
      <p:sp>
        <p:nvSpPr>
          <p:cNvPr id="6" name="Slide Number Placeholder 5">
            <a:extLst>
              <a:ext uri="{FF2B5EF4-FFF2-40B4-BE49-F238E27FC236}">
                <a16:creationId xmlns:a16="http://schemas.microsoft.com/office/drawing/2014/main" id="{514022C0-B4C3-410C-B99D-E3E519E52B64}"/>
              </a:ext>
            </a:extLst>
          </p:cNvPr>
          <p:cNvSpPr>
            <a:spLocks noGrp="1"/>
          </p:cNvSpPr>
          <p:nvPr>
            <p:ph type="sldNum" sz="quarter" idx="10"/>
          </p:nvPr>
        </p:nvSpPr>
        <p:spPr/>
        <p:txBody>
          <a:bodyPr/>
          <a:lstStyle/>
          <a:p>
            <a:fld id="{68151E55-6873-49E2-B8D5-2F265E6F1973}" type="slidenum">
              <a:rPr lang="en-US" smtClean="0"/>
              <a:t>24</a:t>
            </a:fld>
            <a:endParaRPr lang="en-US" dirty="0"/>
          </a:p>
        </p:txBody>
      </p:sp>
      <p:pic>
        <p:nvPicPr>
          <p:cNvPr id="5" name="Picture 4" descr="Businessman thumbs up">
            <a:extLst>
              <a:ext uri="{FF2B5EF4-FFF2-40B4-BE49-F238E27FC236}">
                <a16:creationId xmlns:a16="http://schemas.microsoft.com/office/drawing/2014/main" id="{7588A390-B77C-6756-0F2E-DFD2D137E441}"/>
              </a:ext>
            </a:extLst>
          </p:cNvPr>
          <p:cNvPicPr>
            <a:picLocks noChangeAspect="1"/>
          </p:cNvPicPr>
          <p:nvPr/>
        </p:nvPicPr>
        <p:blipFill>
          <a:blip r:embed="rId3"/>
          <a:stretch>
            <a:fillRect/>
          </a:stretch>
        </p:blipFill>
        <p:spPr>
          <a:xfrm>
            <a:off x="3293861" y="3624146"/>
            <a:ext cx="2556277" cy="3233853"/>
          </a:xfrm>
          <a:prstGeom prst="rect">
            <a:avLst/>
          </a:prstGeom>
        </p:spPr>
      </p:pic>
    </p:spTree>
    <p:extLst>
      <p:ext uri="{BB962C8B-B14F-4D97-AF65-F5344CB8AC3E}">
        <p14:creationId xmlns:p14="http://schemas.microsoft.com/office/powerpoint/2010/main" val="3189715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pPr algn="ctr"/>
            <a:r>
              <a:rPr lang="en-US" noProof="0" dirty="0">
                <a:highlight>
                  <a:srgbClr val="FFFF00"/>
                </a:highlight>
              </a:rPr>
              <a:t>Corporate Social Responsibility </a:t>
            </a:r>
            <a:r>
              <a:rPr lang="en-US" sz="1000" b="0" noProof="0" dirty="0"/>
              <a:t>1</a:t>
            </a: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963570"/>
          </a:xfrm>
        </p:spPr>
        <p:txBody>
          <a:bodyPr/>
          <a:lstStyle/>
          <a:p>
            <a:r>
              <a:rPr lang="en-US" b="1" noProof="0" dirty="0"/>
              <a:t>Stewardship:</a:t>
            </a:r>
          </a:p>
          <a:p>
            <a:pPr lvl="1"/>
            <a:r>
              <a:rPr lang="en-US" noProof="0" dirty="0"/>
              <a:t>Contributing to the long-term welfare of others.</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2407995"/>
            <a:ext cx="8458200" cy="962254"/>
          </a:xfrm>
        </p:spPr>
        <p:txBody>
          <a:bodyPr/>
          <a:lstStyle/>
          <a:p>
            <a:r>
              <a:rPr lang="en-US" b="1" noProof="0" dirty="0"/>
              <a:t>Corporate social responsibility (C</a:t>
            </a:r>
            <a:r>
              <a:rPr lang="en-US" sz="100" b="1" noProof="0" dirty="0"/>
              <a:t> </a:t>
            </a:r>
            <a:r>
              <a:rPr lang="en-US" b="1" noProof="0" dirty="0"/>
              <a:t>S</a:t>
            </a:r>
            <a:r>
              <a:rPr lang="en-US" sz="100" b="1" noProof="0" dirty="0"/>
              <a:t> </a:t>
            </a:r>
            <a:r>
              <a:rPr lang="en-US" b="1" noProof="0" dirty="0"/>
              <a:t>R):</a:t>
            </a:r>
          </a:p>
          <a:p>
            <a:pPr lvl="1"/>
            <a:r>
              <a:rPr lang="en-US" noProof="0" dirty="0"/>
              <a:t>Obligation toward society assumed by business.</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583912"/>
            <a:ext cx="8458200" cy="1048905"/>
          </a:xfrm>
        </p:spPr>
        <p:txBody>
          <a:bodyPr/>
          <a:lstStyle/>
          <a:p>
            <a:r>
              <a:rPr lang="en-US" b="1" noProof="0" dirty="0"/>
              <a:t>Triple bottom line:</a:t>
            </a:r>
          </a:p>
          <a:p>
            <a:pPr lvl="1"/>
            <a:r>
              <a:rPr lang="en-US" noProof="0" dirty="0"/>
              <a:t>Economic, social, and environmental performance.</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2378795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pPr algn="ctr"/>
            <a:r>
              <a:rPr lang="en-US" noProof="0" dirty="0">
                <a:highlight>
                  <a:srgbClr val="FFFF00"/>
                </a:highlight>
              </a:rPr>
              <a:t>Corporate Social Responsibility </a:t>
            </a:r>
            <a:r>
              <a:rPr lang="en-US" sz="1000" b="0" noProof="0" dirty="0"/>
              <a:t>2</a:t>
            </a: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1695090"/>
          </a:xfrm>
        </p:spPr>
        <p:txBody>
          <a:bodyPr/>
          <a:lstStyle/>
          <a:p>
            <a:r>
              <a:rPr lang="en-US" b="1" noProof="0" dirty="0"/>
              <a:t>Economic responsibilities:</a:t>
            </a:r>
          </a:p>
          <a:p>
            <a:pPr lvl="1"/>
            <a:r>
              <a:rPr lang="en-US" noProof="0" dirty="0"/>
              <a:t>Produce goods and services that society wants at a price that perpetuates the business and satisfies its obligations to investors.</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3208785"/>
            <a:ext cx="8458200" cy="962254"/>
          </a:xfrm>
        </p:spPr>
        <p:txBody>
          <a:bodyPr/>
          <a:lstStyle/>
          <a:p>
            <a:r>
              <a:rPr lang="en-US" b="1" noProof="0" dirty="0"/>
              <a:t>Legal responsibilities:</a:t>
            </a:r>
          </a:p>
          <a:p>
            <a:pPr lvl="1"/>
            <a:r>
              <a:rPr lang="en-US" noProof="0" dirty="0"/>
              <a:t>Obey local, state, federal, and relevant international laws.</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1161562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pPr algn="ctr"/>
            <a:r>
              <a:rPr lang="en-US" noProof="0" dirty="0">
                <a:highlight>
                  <a:srgbClr val="FFFF00"/>
                </a:highlight>
              </a:rPr>
              <a:t>Corporate Social Responsibility </a:t>
            </a:r>
            <a:r>
              <a:rPr lang="en-US" sz="1000" b="0" noProof="0" dirty="0"/>
              <a:t>3</a:t>
            </a: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963570"/>
          </a:xfrm>
        </p:spPr>
        <p:txBody>
          <a:bodyPr/>
          <a:lstStyle/>
          <a:p>
            <a:r>
              <a:rPr lang="en-US" b="1" noProof="0" dirty="0"/>
              <a:t>Ethical responsibilities:</a:t>
            </a:r>
          </a:p>
          <a:p>
            <a:pPr lvl="1"/>
            <a:r>
              <a:rPr lang="en-US" noProof="0" dirty="0"/>
              <a:t>Meeting other social expectations, not written as law.</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2407994"/>
            <a:ext cx="8458200" cy="1310565"/>
          </a:xfrm>
        </p:spPr>
        <p:txBody>
          <a:bodyPr/>
          <a:lstStyle/>
          <a:p>
            <a:r>
              <a:rPr lang="en-US" b="1" noProof="0" dirty="0"/>
              <a:t>Philanthropic responsibilities:</a:t>
            </a:r>
          </a:p>
          <a:p>
            <a:pPr lvl="1"/>
            <a:r>
              <a:rPr lang="en-US" noProof="0" dirty="0"/>
              <a:t>Additional behaviors and activities that society finds desirable and that the values of the business support.</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868073"/>
            <a:ext cx="8458200" cy="2248422"/>
          </a:xfrm>
        </p:spPr>
        <p:txBody>
          <a:bodyPr/>
          <a:lstStyle/>
          <a:p>
            <a:r>
              <a:rPr lang="en-US" b="1" noProof="0" dirty="0"/>
              <a:t>Transcendent education:</a:t>
            </a:r>
          </a:p>
          <a:p>
            <a:r>
              <a:rPr lang="en-US" noProof="0" dirty="0"/>
              <a:t>Has five higher goals that balance self-interest with responsibility to others:</a:t>
            </a:r>
          </a:p>
          <a:p>
            <a:pPr lvl="1"/>
            <a:r>
              <a:rPr lang="en-US" noProof="0" dirty="0"/>
              <a:t>Empathy, generativity, mutuality, civil aspiration, and intolerance of inhumanity.</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3033425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4B90-D959-45C6-9562-2B99A6B48979}"/>
              </a:ext>
            </a:extLst>
          </p:cNvPr>
          <p:cNvSpPr>
            <a:spLocks noGrp="1"/>
          </p:cNvSpPr>
          <p:nvPr>
            <p:ph type="title"/>
          </p:nvPr>
        </p:nvSpPr>
        <p:spPr/>
        <p:txBody>
          <a:bodyPr>
            <a:normAutofit fontScale="90000"/>
          </a:bodyPr>
          <a:lstStyle/>
          <a:p>
            <a:pPr algn="ctr"/>
            <a:r>
              <a:rPr lang="en-US" sz="1000" noProof="0" dirty="0"/>
              <a:t>Exhibit 5.7 </a:t>
            </a:r>
            <a:r>
              <a:rPr lang="en-US" noProof="0" dirty="0">
                <a:highlight>
                  <a:srgbClr val="FFFF00"/>
                </a:highlight>
              </a:rPr>
              <a:t>Pyramid of Global Corporate Social Responsibility and Performance</a:t>
            </a:r>
          </a:p>
        </p:txBody>
      </p:sp>
      <p:pic>
        <p:nvPicPr>
          <p:cNvPr id="3" name="Picture 2" descr="A graphic representation of the pyramid of Global Corporate Social Responsibility and Performance.">
            <a:extLst>
              <a:ext uri="{FF2B5EF4-FFF2-40B4-BE49-F238E27FC236}">
                <a16:creationId xmlns:a16="http://schemas.microsoft.com/office/drawing/2014/main" id="{B8D80289-4BF6-4B6D-9660-37D31936BD27}"/>
              </a:ext>
            </a:extLst>
          </p:cNvPr>
          <p:cNvPicPr>
            <a:picLocks noChangeAspect="1"/>
          </p:cNvPicPr>
          <p:nvPr/>
        </p:nvPicPr>
        <p:blipFill>
          <a:blip r:embed="rId3"/>
          <a:stretch>
            <a:fillRect/>
          </a:stretch>
        </p:blipFill>
        <p:spPr>
          <a:xfrm>
            <a:off x="1574120" y="1510905"/>
            <a:ext cx="6026239" cy="4321099"/>
          </a:xfrm>
          <a:prstGeom prst="rect">
            <a:avLst/>
          </a:prstGeom>
        </p:spPr>
      </p:pic>
      <p:sp>
        <p:nvSpPr>
          <p:cNvPr id="8" name="Content Placeholder 7">
            <a:extLst>
              <a:ext uri="{FF2B5EF4-FFF2-40B4-BE49-F238E27FC236}">
                <a16:creationId xmlns:a16="http://schemas.microsoft.com/office/drawing/2014/main" id="{294AAA89-04BC-41FB-B4C0-D8D56CC3B5B9}"/>
              </a:ext>
            </a:extLst>
          </p:cNvPr>
          <p:cNvSpPr>
            <a:spLocks noGrp="1"/>
          </p:cNvSpPr>
          <p:nvPr>
            <p:ph sz="quarter" idx="11"/>
          </p:nvPr>
        </p:nvSpPr>
        <p:spPr>
          <a:xfrm>
            <a:off x="507919" y="6022258"/>
            <a:ext cx="8128163" cy="235473"/>
          </a:xfrm>
        </p:spPr>
        <p:txBody>
          <a:bodyPr/>
          <a:lstStyle/>
          <a:p>
            <a:r>
              <a:rPr lang="en-US" sz="800" noProof="0" dirty="0"/>
              <a:t>SOURCE: A. Carroll, “Managing Ethically with Global Stakeholders: A Present and Future Challenge,” </a:t>
            </a:r>
            <a:r>
              <a:rPr lang="en-US" sz="800" i="1" noProof="0" dirty="0"/>
              <a:t>The Academy of Management Executive </a:t>
            </a:r>
            <a:r>
              <a:rPr lang="en-US" sz="800" noProof="0" dirty="0"/>
              <a:t>(18, no. 2 (2004). pp. 114-20. </a:t>
            </a:r>
          </a:p>
        </p:txBody>
      </p:sp>
      <p:sp>
        <p:nvSpPr>
          <p:cNvPr id="10" name="Text Placeholder 9">
            <a:extLst>
              <a:ext uri="{FF2B5EF4-FFF2-40B4-BE49-F238E27FC236}">
                <a16:creationId xmlns:a16="http://schemas.microsoft.com/office/drawing/2014/main" id="{5D33EA70-3401-438A-BA44-B4AE8540BC20}"/>
              </a:ext>
            </a:extLst>
          </p:cNvPr>
          <p:cNvSpPr>
            <a:spLocks noGrp="1"/>
          </p:cNvSpPr>
          <p:nvPr>
            <p:ph type="body" sz="quarter" idx="14"/>
          </p:nvPr>
        </p:nvSpPr>
        <p:spPr/>
        <p:txBody>
          <a:bodyPr/>
          <a:lstStyle/>
          <a:p>
            <a:r>
              <a:rPr lang="en-US" sz="1200" noProof="0" dirty="0">
                <a:hlinkClick r:id="rId4" action="ppaction://hlinksldjump"/>
              </a:rPr>
              <a:t>Access the text alternative for slide image</a:t>
            </a:r>
          </a:p>
        </p:txBody>
      </p:sp>
      <p:sp>
        <p:nvSpPr>
          <p:cNvPr id="6" name="Slide Number Placeholder 5">
            <a:extLst>
              <a:ext uri="{FF2B5EF4-FFF2-40B4-BE49-F238E27FC236}">
                <a16:creationId xmlns:a16="http://schemas.microsoft.com/office/drawing/2014/main" id="{B41044FC-3E35-49B0-8902-74E8C35F7035}"/>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2391956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pPr algn="ctr"/>
            <a:r>
              <a:rPr lang="en-US" noProof="0" dirty="0">
                <a:highlight>
                  <a:srgbClr val="FFFF00"/>
                </a:highlight>
              </a:rPr>
              <a:t>Contrasting Views</a:t>
            </a:r>
            <a:endParaRPr lang="en-US" sz="1000" b="0" noProof="0" dirty="0">
              <a:highlight>
                <a:srgbClr val="FFFF00"/>
              </a:highlight>
            </a:endParaRP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856890"/>
          </a:xfrm>
        </p:spPr>
        <p:txBody>
          <a:bodyPr/>
          <a:lstStyle/>
          <a:p>
            <a:pPr>
              <a:defRPr/>
            </a:pPr>
            <a:r>
              <a:rPr lang="en-US" noProof="0" dirty="0"/>
              <a:t>Two basic and contrasting views describe principles that guide managerial responsibility.</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2407995"/>
            <a:ext cx="8458200" cy="853365"/>
          </a:xfrm>
        </p:spPr>
        <p:txBody>
          <a:bodyPr/>
          <a:lstStyle/>
          <a:p>
            <a:r>
              <a:rPr lang="en-US" noProof="0" dirty="0"/>
              <a:t>Managers act as agents for shareholders and, as such, are obligated to maximize the present value of the firm.</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400612"/>
            <a:ext cx="8458200" cy="866864"/>
          </a:xfrm>
        </p:spPr>
        <p:txBody>
          <a:bodyPr/>
          <a:lstStyle/>
          <a:p>
            <a:r>
              <a:rPr lang="en-US" noProof="0" dirty="0"/>
              <a:t>Managers should be motivated by principled moral reasoning.</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2337329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5146-AFDB-4E75-B81D-6C8539612404}"/>
              </a:ext>
            </a:extLst>
          </p:cNvPr>
          <p:cNvSpPr>
            <a:spLocks noGrp="1"/>
          </p:cNvSpPr>
          <p:nvPr>
            <p:ph type="title"/>
          </p:nvPr>
        </p:nvSpPr>
        <p:spPr/>
        <p:txBody>
          <a:bodyPr>
            <a:normAutofit/>
          </a:bodyPr>
          <a:lstStyle/>
          <a:p>
            <a:pPr algn="ctr"/>
            <a:r>
              <a:rPr lang="en-US" noProof="0" dirty="0">
                <a:highlight>
                  <a:srgbClr val="FFFF00"/>
                </a:highlight>
              </a:rPr>
              <a:t>Reconciliation</a:t>
            </a:r>
            <a:endParaRPr lang="en-US" sz="1000" b="0" noProof="0" dirty="0">
              <a:highlight>
                <a:srgbClr val="FFFF00"/>
              </a:highlight>
            </a:endParaRPr>
          </a:p>
        </p:txBody>
      </p:sp>
      <p:sp>
        <p:nvSpPr>
          <p:cNvPr id="3" name="Content Placeholder 2">
            <a:extLst>
              <a:ext uri="{FF2B5EF4-FFF2-40B4-BE49-F238E27FC236}">
                <a16:creationId xmlns:a16="http://schemas.microsoft.com/office/drawing/2014/main" id="{BC313ECC-69BC-4850-9262-DE8688A6E043}"/>
              </a:ext>
            </a:extLst>
          </p:cNvPr>
          <p:cNvSpPr>
            <a:spLocks noGrp="1"/>
          </p:cNvSpPr>
          <p:nvPr>
            <p:ph sz="quarter" idx="11"/>
          </p:nvPr>
        </p:nvSpPr>
        <p:spPr>
          <a:xfrm>
            <a:off x="342900" y="1276710"/>
            <a:ext cx="8458200" cy="1237890"/>
          </a:xfrm>
        </p:spPr>
        <p:txBody>
          <a:bodyPr/>
          <a:lstStyle/>
          <a:p>
            <a:pPr>
              <a:defRPr/>
            </a:pPr>
            <a:r>
              <a:rPr lang="en-US" noProof="0" dirty="0"/>
              <a:t>Profit maximization and Corporate Social Responsibility seem paradoxical; managers regarded them as antagonistic, leading to opposing policies. </a:t>
            </a:r>
          </a:p>
        </p:txBody>
      </p:sp>
      <p:sp>
        <p:nvSpPr>
          <p:cNvPr id="4" name="Content Placeholder 3">
            <a:extLst>
              <a:ext uri="{FF2B5EF4-FFF2-40B4-BE49-F238E27FC236}">
                <a16:creationId xmlns:a16="http://schemas.microsoft.com/office/drawing/2014/main" id="{4157459F-F2C5-45CA-B914-01CBE5992826}"/>
              </a:ext>
            </a:extLst>
          </p:cNvPr>
          <p:cNvSpPr>
            <a:spLocks noGrp="1"/>
          </p:cNvSpPr>
          <p:nvPr>
            <p:ph sz="quarter" idx="14"/>
          </p:nvPr>
        </p:nvSpPr>
        <p:spPr>
          <a:xfrm>
            <a:off x="342900" y="2697555"/>
            <a:ext cx="8458200" cy="853365"/>
          </a:xfrm>
        </p:spPr>
        <p:txBody>
          <a:bodyPr/>
          <a:lstStyle/>
          <a:p>
            <a:r>
              <a:rPr lang="en-US" noProof="0" dirty="0"/>
              <a:t>Recent attention has also been centered on the possible competitive advantage of socially responsible actions.</a:t>
            </a:r>
          </a:p>
        </p:txBody>
      </p:sp>
      <p:sp>
        <p:nvSpPr>
          <p:cNvPr id="5" name="Content Placeholder 4">
            <a:extLst>
              <a:ext uri="{FF2B5EF4-FFF2-40B4-BE49-F238E27FC236}">
                <a16:creationId xmlns:a16="http://schemas.microsoft.com/office/drawing/2014/main" id="{75A20C13-3AD3-44B0-BC74-F0417B9F7AAB}"/>
              </a:ext>
            </a:extLst>
          </p:cNvPr>
          <p:cNvSpPr>
            <a:spLocks noGrp="1"/>
          </p:cNvSpPr>
          <p:nvPr>
            <p:ph sz="quarter" idx="15"/>
          </p:nvPr>
        </p:nvSpPr>
        <p:spPr>
          <a:xfrm>
            <a:off x="342900" y="3717616"/>
            <a:ext cx="8458200" cy="1269176"/>
          </a:xfrm>
        </p:spPr>
        <p:txBody>
          <a:bodyPr/>
          <a:lstStyle/>
          <a:p>
            <a:r>
              <a:rPr lang="en-US" noProof="0" dirty="0"/>
              <a:t>The U.S. Department of Agriculture and Coca-Cola North America are partnering to restore and protect damaged watersheds in national forests.</a:t>
            </a:r>
          </a:p>
        </p:txBody>
      </p:sp>
      <p:sp>
        <p:nvSpPr>
          <p:cNvPr id="11" name="Slide Number Placeholder 10">
            <a:extLst>
              <a:ext uri="{FF2B5EF4-FFF2-40B4-BE49-F238E27FC236}">
                <a16:creationId xmlns:a16="http://schemas.microsoft.com/office/drawing/2014/main" id="{35EEC61B-81C8-4DC8-869D-50F775C8021A}"/>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3492860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A713-12C9-48FF-B0BC-6FB042B2030D}"/>
              </a:ext>
            </a:extLst>
          </p:cNvPr>
          <p:cNvSpPr>
            <a:spLocks noGrp="1"/>
          </p:cNvSpPr>
          <p:nvPr>
            <p:ph type="title"/>
          </p:nvPr>
        </p:nvSpPr>
        <p:spPr/>
        <p:txBody>
          <a:bodyPr>
            <a:normAutofit fontScale="90000"/>
          </a:bodyPr>
          <a:lstStyle/>
          <a:p>
            <a:r>
              <a:rPr lang="en-US" noProof="0" dirty="0">
                <a:solidFill>
                  <a:srgbClr val="FF0000"/>
                </a:solidFill>
              </a:rPr>
              <a:t>Spotlight On</a:t>
            </a:r>
            <a:r>
              <a:rPr lang="en-US" noProof="0" dirty="0"/>
              <a:t>…</a:t>
            </a:r>
            <a:br>
              <a:rPr lang="en-US" noProof="0" dirty="0"/>
            </a:br>
            <a:r>
              <a:rPr lang="en-US" noProof="0" dirty="0"/>
              <a:t>            </a:t>
            </a:r>
            <a:r>
              <a:rPr lang="en-US" noProof="0" dirty="0">
                <a:highlight>
                  <a:srgbClr val="FFFF00"/>
                </a:highlight>
              </a:rPr>
              <a:t>A College Built by and for the Poor</a:t>
            </a:r>
          </a:p>
        </p:txBody>
      </p:sp>
      <p:sp>
        <p:nvSpPr>
          <p:cNvPr id="3" name="Content Placeholder 2">
            <a:extLst>
              <a:ext uri="{FF2B5EF4-FFF2-40B4-BE49-F238E27FC236}">
                <a16:creationId xmlns:a16="http://schemas.microsoft.com/office/drawing/2014/main" id="{80547468-C664-4C2B-84BF-50407F33F2F5}"/>
              </a:ext>
            </a:extLst>
          </p:cNvPr>
          <p:cNvSpPr>
            <a:spLocks noGrp="1"/>
          </p:cNvSpPr>
          <p:nvPr>
            <p:ph sz="quarter" idx="11"/>
          </p:nvPr>
        </p:nvSpPr>
        <p:spPr/>
        <p:txBody>
          <a:bodyPr/>
          <a:lstStyle/>
          <a:p>
            <a:r>
              <a:rPr lang="en-US" noProof="0" dirty="0"/>
              <a:t>India’s Barefoot College is an educational organization working in 1,300 villages across 93 of the world’s least developed countries. Its mission is to improve rural lives and communities through learning-by-doing training.</a:t>
            </a:r>
          </a:p>
          <a:p>
            <a:pPr lvl="1"/>
            <a:r>
              <a:rPr lang="en-US" noProof="0" dirty="0"/>
              <a:t>In what ways are Barefoot College’s mission and goals characteristic of a social enterprise?</a:t>
            </a:r>
          </a:p>
          <a:p>
            <a:pPr lvl="1"/>
            <a:r>
              <a:rPr lang="en-US" noProof="0" dirty="0"/>
              <a:t>Which of Barefoot College’s guiding principles have you observed in environments in which you have worked or volunteered? Choose a principle you might not have observed and explain how you might try to incorporate it into a workplace?</a:t>
            </a:r>
          </a:p>
        </p:txBody>
      </p:sp>
      <p:sp>
        <p:nvSpPr>
          <p:cNvPr id="6" name="Slide Number Placeholder 5">
            <a:extLst>
              <a:ext uri="{FF2B5EF4-FFF2-40B4-BE49-F238E27FC236}">
                <a16:creationId xmlns:a16="http://schemas.microsoft.com/office/drawing/2014/main" id="{55D8FA31-88F8-4980-90A9-F379648C20DE}"/>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3289102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A713-12C9-48FF-B0BC-6FB042B2030D}"/>
              </a:ext>
            </a:extLst>
          </p:cNvPr>
          <p:cNvSpPr>
            <a:spLocks noGrp="1"/>
          </p:cNvSpPr>
          <p:nvPr>
            <p:ph type="title"/>
          </p:nvPr>
        </p:nvSpPr>
        <p:spPr/>
        <p:txBody>
          <a:bodyPr>
            <a:normAutofit/>
          </a:bodyPr>
          <a:lstStyle/>
          <a:p>
            <a:pPr algn="ctr"/>
            <a:r>
              <a:rPr lang="en-US" noProof="0" dirty="0">
                <a:highlight>
                  <a:srgbClr val="FFFF00"/>
                </a:highlight>
              </a:rPr>
              <a:t>A Risk Society</a:t>
            </a:r>
          </a:p>
        </p:txBody>
      </p:sp>
      <p:sp>
        <p:nvSpPr>
          <p:cNvPr id="3" name="Content Placeholder 2">
            <a:extLst>
              <a:ext uri="{FF2B5EF4-FFF2-40B4-BE49-F238E27FC236}">
                <a16:creationId xmlns:a16="http://schemas.microsoft.com/office/drawing/2014/main" id="{80547468-C664-4C2B-84BF-50407F33F2F5}"/>
              </a:ext>
            </a:extLst>
          </p:cNvPr>
          <p:cNvSpPr>
            <a:spLocks noGrp="1"/>
          </p:cNvSpPr>
          <p:nvPr>
            <p:ph sz="quarter" idx="11"/>
          </p:nvPr>
        </p:nvSpPr>
        <p:spPr>
          <a:xfrm>
            <a:off x="342900" y="1276710"/>
            <a:ext cx="8458200" cy="2369740"/>
          </a:xfrm>
        </p:spPr>
        <p:txBody>
          <a:bodyPr/>
          <a:lstStyle/>
          <a:p>
            <a:r>
              <a:rPr lang="en-US" noProof="0" dirty="0"/>
              <a:t>By-products of wealth generation:</a:t>
            </a:r>
          </a:p>
          <a:p>
            <a:pPr lvl="1"/>
            <a:r>
              <a:rPr lang="en-US" noProof="0" dirty="0"/>
              <a:t>Industrial pollution risk.</a:t>
            </a:r>
          </a:p>
          <a:p>
            <a:pPr lvl="1"/>
            <a:r>
              <a:rPr lang="en-US" noProof="0" dirty="0"/>
              <a:t>Environmental risk.</a:t>
            </a:r>
          </a:p>
          <a:p>
            <a:pPr lvl="1"/>
            <a:r>
              <a:rPr lang="en-US" noProof="0" dirty="0"/>
              <a:t>Technological risk.</a:t>
            </a:r>
          </a:p>
        </p:txBody>
      </p:sp>
      <p:sp>
        <p:nvSpPr>
          <p:cNvPr id="6" name="Slide Number Placeholder 5">
            <a:extLst>
              <a:ext uri="{FF2B5EF4-FFF2-40B4-BE49-F238E27FC236}">
                <a16:creationId xmlns:a16="http://schemas.microsoft.com/office/drawing/2014/main" id="{55D8FA31-88F8-4980-90A9-F379648C20DE}"/>
              </a:ext>
            </a:extLst>
          </p:cNvPr>
          <p:cNvSpPr>
            <a:spLocks noGrp="1"/>
          </p:cNvSpPr>
          <p:nvPr>
            <p:ph type="sldNum" sz="quarter" idx="10"/>
          </p:nvPr>
        </p:nvSpPr>
        <p:spPr/>
        <p:txBody>
          <a:bodyPr/>
          <a:lstStyle/>
          <a:p>
            <a:fld id="{68151E55-6873-49E2-B8D5-2F265E6F1973}" type="slidenum">
              <a:rPr lang="en-US" smtClean="0"/>
              <a:t>32</a:t>
            </a:fld>
            <a:endParaRPr lang="en-US" dirty="0"/>
          </a:p>
        </p:txBody>
      </p:sp>
      <p:pic>
        <p:nvPicPr>
          <p:cNvPr id="5" name="Graphic 4" descr="Volcano outline">
            <a:extLst>
              <a:ext uri="{FF2B5EF4-FFF2-40B4-BE49-F238E27FC236}">
                <a16:creationId xmlns:a16="http://schemas.microsoft.com/office/drawing/2014/main" id="{E89EE6E1-B5C4-0B6E-7E7E-4E6EC932D2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799" y="2971799"/>
            <a:ext cx="3501483" cy="2157761"/>
          </a:xfrm>
          <a:prstGeom prst="rect">
            <a:avLst/>
          </a:prstGeom>
        </p:spPr>
      </p:pic>
    </p:spTree>
    <p:extLst>
      <p:ext uri="{BB962C8B-B14F-4D97-AF65-F5344CB8AC3E}">
        <p14:creationId xmlns:p14="http://schemas.microsoft.com/office/powerpoint/2010/main" val="2087351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A713-12C9-48FF-B0BC-6FB042B2030D}"/>
              </a:ext>
            </a:extLst>
          </p:cNvPr>
          <p:cNvSpPr>
            <a:spLocks noGrp="1"/>
          </p:cNvSpPr>
          <p:nvPr>
            <p:ph type="title"/>
          </p:nvPr>
        </p:nvSpPr>
        <p:spPr/>
        <p:txBody>
          <a:bodyPr>
            <a:normAutofit/>
          </a:bodyPr>
          <a:lstStyle/>
          <a:p>
            <a:pPr algn="ctr"/>
            <a:r>
              <a:rPr lang="en-US" noProof="0" dirty="0">
                <a:highlight>
                  <a:srgbClr val="FFFF00"/>
                </a:highlight>
              </a:rPr>
              <a:t>Sustainable Growth</a:t>
            </a:r>
          </a:p>
        </p:txBody>
      </p:sp>
      <p:sp>
        <p:nvSpPr>
          <p:cNvPr id="3" name="Content Placeholder 2">
            <a:extLst>
              <a:ext uri="{FF2B5EF4-FFF2-40B4-BE49-F238E27FC236}">
                <a16:creationId xmlns:a16="http://schemas.microsoft.com/office/drawing/2014/main" id="{80547468-C664-4C2B-84BF-50407F33F2F5}"/>
              </a:ext>
            </a:extLst>
          </p:cNvPr>
          <p:cNvSpPr>
            <a:spLocks noGrp="1"/>
          </p:cNvSpPr>
          <p:nvPr>
            <p:ph sz="quarter" idx="11"/>
          </p:nvPr>
        </p:nvSpPr>
        <p:spPr>
          <a:xfrm>
            <a:off x="342900" y="1276709"/>
            <a:ext cx="8458200" cy="2693125"/>
          </a:xfrm>
        </p:spPr>
        <p:txBody>
          <a:bodyPr/>
          <a:lstStyle/>
          <a:p>
            <a:r>
              <a:rPr lang="en-US" b="1" noProof="0" dirty="0"/>
              <a:t>Sustainable growth:</a:t>
            </a:r>
          </a:p>
          <a:p>
            <a:pPr lvl="1"/>
            <a:r>
              <a:rPr lang="en-US" noProof="0" dirty="0"/>
              <a:t>Economic growth and development that meet present needs without harming the needs of future generations.</a:t>
            </a:r>
          </a:p>
          <a:p>
            <a:pPr lvl="1"/>
            <a:r>
              <a:rPr lang="en-US" noProof="0" dirty="0"/>
              <a:t>Sustainability is fully compatible with the natural ecosystems that generate and preserve life.</a:t>
            </a:r>
          </a:p>
        </p:txBody>
      </p:sp>
      <p:sp>
        <p:nvSpPr>
          <p:cNvPr id="6" name="Slide Number Placeholder 5">
            <a:extLst>
              <a:ext uri="{FF2B5EF4-FFF2-40B4-BE49-F238E27FC236}">
                <a16:creationId xmlns:a16="http://schemas.microsoft.com/office/drawing/2014/main" id="{55D8FA31-88F8-4980-90A9-F379648C20DE}"/>
              </a:ext>
            </a:extLst>
          </p:cNvPr>
          <p:cNvSpPr>
            <a:spLocks noGrp="1"/>
          </p:cNvSpPr>
          <p:nvPr>
            <p:ph type="sldNum" sz="quarter" idx="10"/>
          </p:nvPr>
        </p:nvSpPr>
        <p:spPr/>
        <p:txBody>
          <a:bodyPr/>
          <a:lstStyle/>
          <a:p>
            <a:fld id="{68151E55-6873-49E2-B8D5-2F265E6F1973}" type="slidenum">
              <a:rPr lang="en-US" smtClean="0"/>
              <a:t>33</a:t>
            </a:fld>
            <a:endParaRPr lang="en-US" dirty="0"/>
          </a:p>
        </p:txBody>
      </p:sp>
      <p:pic>
        <p:nvPicPr>
          <p:cNvPr id="5" name="Video 4" title="Windmills on a mountain">
            <a:hlinkClick r:id="" action="ppaction://media"/>
            <a:extLst>
              <a:ext uri="{FF2B5EF4-FFF2-40B4-BE49-F238E27FC236}">
                <a16:creationId xmlns:a16="http://schemas.microsoft.com/office/drawing/2014/main" id="{8145D6EB-8FDA-7436-8939-8617CF3FE91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39952" y="3725204"/>
            <a:ext cx="4917688" cy="2766200"/>
          </a:xfrm>
          <a:prstGeom prst="rect">
            <a:avLst/>
          </a:prstGeom>
        </p:spPr>
      </p:pic>
    </p:spTree>
    <p:extLst>
      <p:ext uri="{BB962C8B-B14F-4D97-AF65-F5344CB8AC3E}">
        <p14:creationId xmlns:p14="http://schemas.microsoft.com/office/powerpoint/2010/main" val="176619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9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8FCBA-E936-44F2-8D3F-2C5AAE39AA98}"/>
              </a:ext>
            </a:extLst>
          </p:cNvPr>
          <p:cNvSpPr>
            <a:spLocks noGrp="1"/>
          </p:cNvSpPr>
          <p:nvPr>
            <p:ph type="title"/>
          </p:nvPr>
        </p:nvSpPr>
        <p:spPr/>
        <p:txBody>
          <a:bodyPr/>
          <a:lstStyle/>
          <a:p>
            <a:pPr algn="ctr"/>
            <a:r>
              <a:rPr lang="en-US" noProof="0" dirty="0">
                <a:highlight>
                  <a:srgbClr val="FFFF00"/>
                </a:highlight>
              </a:rPr>
              <a:t>Life-Cycle Analysis (L</a:t>
            </a:r>
            <a:r>
              <a:rPr lang="en-US" sz="100" noProof="0" dirty="0">
                <a:highlight>
                  <a:srgbClr val="FFFF00"/>
                </a:highlight>
              </a:rPr>
              <a:t> </a:t>
            </a:r>
            <a:r>
              <a:rPr lang="en-US" noProof="0" dirty="0">
                <a:highlight>
                  <a:srgbClr val="FFFF00"/>
                </a:highlight>
              </a:rPr>
              <a:t>C</a:t>
            </a:r>
            <a:r>
              <a:rPr lang="en-US" sz="100" noProof="0" dirty="0">
                <a:highlight>
                  <a:srgbClr val="FFFF00"/>
                </a:highlight>
              </a:rPr>
              <a:t> </a:t>
            </a:r>
            <a:r>
              <a:rPr lang="en-US" noProof="0" dirty="0">
                <a:highlight>
                  <a:srgbClr val="FFFF00"/>
                </a:highlight>
              </a:rPr>
              <a:t>A)</a:t>
            </a:r>
          </a:p>
        </p:txBody>
      </p:sp>
      <p:sp>
        <p:nvSpPr>
          <p:cNvPr id="3" name="Content Placeholder 2">
            <a:extLst>
              <a:ext uri="{FF2B5EF4-FFF2-40B4-BE49-F238E27FC236}">
                <a16:creationId xmlns:a16="http://schemas.microsoft.com/office/drawing/2014/main" id="{9D51CBB1-5E4B-49EF-96BD-1DF45BAEA059}"/>
              </a:ext>
            </a:extLst>
          </p:cNvPr>
          <p:cNvSpPr>
            <a:spLocks noGrp="1"/>
          </p:cNvSpPr>
          <p:nvPr>
            <p:ph sz="quarter" idx="11"/>
          </p:nvPr>
        </p:nvSpPr>
        <p:spPr>
          <a:xfrm>
            <a:off x="342900" y="1276709"/>
            <a:ext cx="8458200" cy="1771291"/>
          </a:xfrm>
        </p:spPr>
        <p:txBody>
          <a:bodyPr/>
          <a:lstStyle/>
          <a:p>
            <a:r>
              <a:rPr lang="en-US" noProof="0" dirty="0"/>
              <a:t>L</a:t>
            </a:r>
            <a:r>
              <a:rPr lang="en-US" sz="100" noProof="0" dirty="0"/>
              <a:t> </a:t>
            </a:r>
            <a:r>
              <a:rPr lang="en-US" noProof="0" dirty="0"/>
              <a:t>C</a:t>
            </a:r>
            <a:r>
              <a:rPr lang="en-US" sz="100" noProof="0" dirty="0"/>
              <a:t> </a:t>
            </a:r>
            <a:r>
              <a:rPr lang="en-US" noProof="0" dirty="0"/>
              <a:t>A is a process of analyzing all inputs and outputs, through the entire “cradle-to-grave” life of a product, to determine total environmental impact.</a:t>
            </a:r>
          </a:p>
          <a:p>
            <a:r>
              <a:rPr lang="en-US" noProof="0" dirty="0"/>
              <a:t>Environmental reporting in the form of </a:t>
            </a:r>
            <a:r>
              <a:rPr lang="en-US" b="1" noProof="0" dirty="0"/>
              <a:t>carbon footprints</a:t>
            </a:r>
          </a:p>
        </p:txBody>
      </p:sp>
      <p:sp>
        <p:nvSpPr>
          <p:cNvPr id="4" name="Content Placeholder 3">
            <a:extLst>
              <a:ext uri="{FF2B5EF4-FFF2-40B4-BE49-F238E27FC236}">
                <a16:creationId xmlns:a16="http://schemas.microsoft.com/office/drawing/2014/main" id="{35315705-96EE-4D6D-9352-F301BCE8CD0A}"/>
              </a:ext>
            </a:extLst>
          </p:cNvPr>
          <p:cNvSpPr>
            <a:spLocks noGrp="1"/>
          </p:cNvSpPr>
          <p:nvPr>
            <p:ph sz="quarter" idx="14"/>
          </p:nvPr>
        </p:nvSpPr>
        <p:spPr>
          <a:xfrm>
            <a:off x="342900" y="3633637"/>
            <a:ext cx="8458200" cy="977566"/>
          </a:xfrm>
        </p:spPr>
        <p:txBody>
          <a:bodyPr/>
          <a:lstStyle/>
          <a:p>
            <a:r>
              <a:rPr lang="en-US" noProof="0" dirty="0"/>
              <a:t>Timberland pays particular attention to life-cycle analysis, as implied by this question on its recycled material shoe boxes.</a:t>
            </a:r>
          </a:p>
        </p:txBody>
      </p:sp>
      <p:sp>
        <p:nvSpPr>
          <p:cNvPr id="7" name="Slide Number Placeholder 6">
            <a:extLst>
              <a:ext uri="{FF2B5EF4-FFF2-40B4-BE49-F238E27FC236}">
                <a16:creationId xmlns:a16="http://schemas.microsoft.com/office/drawing/2014/main" id="{2E2873FB-90E9-4B8B-8C36-CD3A55B46E98}"/>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1945109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A713-12C9-48FF-B0BC-6FB042B2030D}"/>
              </a:ext>
            </a:extLst>
          </p:cNvPr>
          <p:cNvSpPr>
            <a:spLocks noGrp="1"/>
          </p:cNvSpPr>
          <p:nvPr>
            <p:ph type="title"/>
          </p:nvPr>
        </p:nvSpPr>
        <p:spPr/>
        <p:txBody>
          <a:bodyPr>
            <a:normAutofit fontScale="90000"/>
          </a:bodyPr>
          <a:lstStyle/>
          <a:p>
            <a:pPr algn="ctr"/>
            <a:r>
              <a:rPr lang="en-US" noProof="0" dirty="0">
                <a:highlight>
                  <a:srgbClr val="FFFF00"/>
                </a:highlight>
              </a:rPr>
              <a:t>Environmental Agendas for the Future</a:t>
            </a:r>
          </a:p>
        </p:txBody>
      </p:sp>
      <p:sp>
        <p:nvSpPr>
          <p:cNvPr id="3" name="Content Placeholder 2">
            <a:extLst>
              <a:ext uri="{FF2B5EF4-FFF2-40B4-BE49-F238E27FC236}">
                <a16:creationId xmlns:a16="http://schemas.microsoft.com/office/drawing/2014/main" id="{80547468-C664-4C2B-84BF-50407F33F2F5}"/>
              </a:ext>
            </a:extLst>
          </p:cNvPr>
          <p:cNvSpPr>
            <a:spLocks noGrp="1"/>
          </p:cNvSpPr>
          <p:nvPr>
            <p:ph sz="quarter" idx="11"/>
          </p:nvPr>
        </p:nvSpPr>
        <p:spPr/>
        <p:txBody>
          <a:bodyPr/>
          <a:lstStyle/>
          <a:p>
            <a:r>
              <a:rPr lang="en-US" noProof="0" dirty="0"/>
              <a:t>Collaborative efforts are essential—companies working with rather than against one another</a:t>
            </a:r>
          </a:p>
          <a:p>
            <a:r>
              <a:rPr lang="en-US" b="1" noProof="0" dirty="0"/>
              <a:t>Circular economy:</a:t>
            </a:r>
          </a:p>
          <a:p>
            <a:pPr lvl="1"/>
            <a:r>
              <a:rPr lang="en-US" noProof="0" dirty="0"/>
              <a:t>A regenerative, collaborative economic system that contrasts with the linear economy described earlier by minimizing input, waste, emissions, and energy leakage.</a:t>
            </a:r>
          </a:p>
        </p:txBody>
      </p:sp>
      <p:sp>
        <p:nvSpPr>
          <p:cNvPr id="6" name="Slide Number Placeholder 5">
            <a:extLst>
              <a:ext uri="{FF2B5EF4-FFF2-40B4-BE49-F238E27FC236}">
                <a16:creationId xmlns:a16="http://schemas.microsoft.com/office/drawing/2014/main" id="{55D8FA31-88F8-4980-90A9-F379648C20DE}"/>
              </a:ext>
            </a:extLst>
          </p:cNvPr>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8586751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A713-12C9-48FF-B0BC-6FB042B2030D}"/>
              </a:ext>
            </a:extLst>
          </p:cNvPr>
          <p:cNvSpPr>
            <a:spLocks noGrp="1"/>
          </p:cNvSpPr>
          <p:nvPr>
            <p:ph type="title"/>
          </p:nvPr>
        </p:nvSpPr>
        <p:spPr>
          <a:xfrm>
            <a:off x="342900" y="233546"/>
            <a:ext cx="8694420" cy="821119"/>
          </a:xfrm>
        </p:spPr>
        <p:txBody>
          <a:bodyPr>
            <a:normAutofit fontScale="90000"/>
          </a:bodyPr>
          <a:lstStyle/>
          <a:p>
            <a:pPr algn="ctr"/>
            <a:r>
              <a:rPr lang="en-US" noProof="0" dirty="0">
                <a:highlight>
                  <a:srgbClr val="FFFF00"/>
                </a:highlight>
              </a:rPr>
              <a:t>Management in Action I</a:t>
            </a:r>
            <a:r>
              <a:rPr lang="en-US" sz="100" noProof="0" dirty="0">
                <a:highlight>
                  <a:srgbClr val="FFFF00"/>
                </a:highlight>
              </a:rPr>
              <a:t> </a:t>
            </a:r>
            <a:r>
              <a:rPr lang="en-US" noProof="0" dirty="0">
                <a:highlight>
                  <a:srgbClr val="FFFF00"/>
                </a:highlight>
              </a:rPr>
              <a:t>B</a:t>
            </a:r>
            <a:r>
              <a:rPr lang="en-US" sz="100" noProof="0" dirty="0">
                <a:highlight>
                  <a:srgbClr val="FFFF00"/>
                </a:highlight>
              </a:rPr>
              <a:t> </a:t>
            </a:r>
            <a:r>
              <a:rPr lang="en-US" noProof="0" dirty="0">
                <a:highlight>
                  <a:srgbClr val="FFFF00"/>
                </a:highlight>
              </a:rPr>
              <a:t>M: Using Technology for the Greater Good</a:t>
            </a:r>
          </a:p>
        </p:txBody>
      </p:sp>
      <p:sp>
        <p:nvSpPr>
          <p:cNvPr id="3" name="Content Placeholder 2">
            <a:extLst>
              <a:ext uri="{FF2B5EF4-FFF2-40B4-BE49-F238E27FC236}">
                <a16:creationId xmlns:a16="http://schemas.microsoft.com/office/drawing/2014/main" id="{80547468-C664-4C2B-84BF-50407F33F2F5}"/>
              </a:ext>
            </a:extLst>
          </p:cNvPr>
          <p:cNvSpPr>
            <a:spLocks noGrp="1"/>
          </p:cNvSpPr>
          <p:nvPr>
            <p:ph sz="quarter" idx="11"/>
          </p:nvPr>
        </p:nvSpPr>
        <p:spPr>
          <a:xfrm>
            <a:off x="342900" y="2129883"/>
            <a:ext cx="8458200" cy="4118517"/>
          </a:xfrm>
        </p:spPr>
        <p:txBody>
          <a:bodyPr/>
          <a:lstStyle/>
          <a:p>
            <a:r>
              <a:rPr lang="en-US" noProof="0" dirty="0"/>
              <a:t>Science of Social Good Initiative launched, based on “applied science and technology can solve the world’s toughest problems; accelerating the rate and pace of solutions through the scientific method.” </a:t>
            </a:r>
          </a:p>
          <a:p>
            <a:r>
              <a:rPr lang="en-US" noProof="0" dirty="0"/>
              <a:t>I</a:t>
            </a:r>
            <a:r>
              <a:rPr lang="en-US" sz="100" noProof="0" dirty="0"/>
              <a:t> </a:t>
            </a:r>
            <a:r>
              <a:rPr lang="en-US" noProof="0" dirty="0"/>
              <a:t>B</a:t>
            </a:r>
            <a:r>
              <a:rPr lang="en-US" sz="100" noProof="0" dirty="0"/>
              <a:t> </a:t>
            </a:r>
            <a:r>
              <a:rPr lang="en-US" noProof="0" dirty="0"/>
              <a:t>M is sharing for free its new cloud and IA-powered technologies to help doctors and scientists learn more about the Covid-19 virus. </a:t>
            </a:r>
          </a:p>
        </p:txBody>
      </p:sp>
      <p:sp>
        <p:nvSpPr>
          <p:cNvPr id="6" name="Slide Number Placeholder 5">
            <a:extLst>
              <a:ext uri="{FF2B5EF4-FFF2-40B4-BE49-F238E27FC236}">
                <a16:creationId xmlns:a16="http://schemas.microsoft.com/office/drawing/2014/main" id="{55D8FA31-88F8-4980-90A9-F379648C20DE}"/>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587892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A713-12C9-48FF-B0BC-6FB042B2030D}"/>
              </a:ext>
            </a:extLst>
          </p:cNvPr>
          <p:cNvSpPr>
            <a:spLocks noGrp="1"/>
          </p:cNvSpPr>
          <p:nvPr>
            <p:ph type="title"/>
          </p:nvPr>
        </p:nvSpPr>
        <p:spPr>
          <a:xfrm>
            <a:off x="342900" y="233546"/>
            <a:ext cx="8694420" cy="821119"/>
          </a:xfrm>
        </p:spPr>
        <p:txBody>
          <a:bodyPr>
            <a:normAutofit/>
          </a:bodyPr>
          <a:lstStyle/>
          <a:p>
            <a:r>
              <a:rPr lang="en-US" noProof="0" dirty="0">
                <a:highlight>
                  <a:srgbClr val="FFFF00"/>
                </a:highlight>
              </a:rPr>
              <a:t>In Review</a:t>
            </a:r>
          </a:p>
        </p:txBody>
      </p:sp>
      <p:sp>
        <p:nvSpPr>
          <p:cNvPr id="3" name="Content Placeholder 2">
            <a:extLst>
              <a:ext uri="{FF2B5EF4-FFF2-40B4-BE49-F238E27FC236}">
                <a16:creationId xmlns:a16="http://schemas.microsoft.com/office/drawing/2014/main" id="{80547468-C664-4C2B-84BF-50407F33F2F5}"/>
              </a:ext>
            </a:extLst>
          </p:cNvPr>
          <p:cNvSpPr>
            <a:spLocks noGrp="1"/>
          </p:cNvSpPr>
          <p:nvPr>
            <p:ph sz="quarter" idx="11"/>
          </p:nvPr>
        </p:nvSpPr>
        <p:spPr/>
        <p:txBody>
          <a:bodyPr/>
          <a:lstStyle/>
          <a:p>
            <a:pPr marL="402336" indent="-402336">
              <a:buFont typeface="+mj-lt"/>
              <a:buAutoNum type="arabicPeriod"/>
            </a:pPr>
            <a:r>
              <a:rPr lang="en-US" noProof="0" dirty="0"/>
              <a:t>Describe how different ethical perspectives guide decision making.</a:t>
            </a:r>
          </a:p>
          <a:p>
            <a:pPr marL="402336" indent="-402336">
              <a:buFont typeface="+mj-lt"/>
              <a:buAutoNum type="arabicPeriod"/>
            </a:pPr>
            <a:r>
              <a:rPr lang="en-US" noProof="0" dirty="0"/>
              <a:t>Explain how companies influence their ethics environment.</a:t>
            </a:r>
          </a:p>
          <a:p>
            <a:pPr marL="402336" indent="-402336">
              <a:buFont typeface="+mj-lt"/>
              <a:buAutoNum type="arabicPeriod"/>
            </a:pPr>
            <a:r>
              <a:rPr lang="en-US" noProof="0" dirty="0"/>
              <a:t>Outline a process for making ethical decisions.</a:t>
            </a:r>
          </a:p>
          <a:p>
            <a:pPr marL="402336" indent="-402336">
              <a:buFont typeface="+mj-lt"/>
              <a:buAutoNum type="arabicPeriod"/>
            </a:pPr>
            <a:r>
              <a:rPr lang="en-US" noProof="0" dirty="0"/>
              <a:t>Summarize the important issues surrounding corporate social responsibility.</a:t>
            </a:r>
          </a:p>
          <a:p>
            <a:pPr marL="402336" indent="-402336">
              <a:buFont typeface="+mj-lt"/>
              <a:buAutoNum type="arabicPeriod"/>
            </a:pPr>
            <a:r>
              <a:rPr lang="en-US" noProof="0" dirty="0"/>
              <a:t>Discuss reasons for businesses’ growing interest in the natural environment.</a:t>
            </a:r>
          </a:p>
          <a:p>
            <a:pPr marL="402336" indent="-402336">
              <a:buFont typeface="+mj-lt"/>
              <a:buAutoNum type="arabicPeriod"/>
            </a:pPr>
            <a:r>
              <a:rPr lang="en-US" noProof="0" dirty="0"/>
              <a:t>Identify actions managers can take to manage with the environment in mind.</a:t>
            </a:r>
          </a:p>
        </p:txBody>
      </p:sp>
      <p:sp>
        <p:nvSpPr>
          <p:cNvPr id="6" name="Slide Number Placeholder 5">
            <a:extLst>
              <a:ext uri="{FF2B5EF4-FFF2-40B4-BE49-F238E27FC236}">
                <a16:creationId xmlns:a16="http://schemas.microsoft.com/office/drawing/2014/main" id="{55D8FA31-88F8-4980-90A9-F379648C20DE}"/>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829703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2AAE7BB7-8AAC-4997-A2E0-E359554D7833}"/>
              </a:ext>
            </a:extLst>
          </p:cNvPr>
          <p:cNvSpPr>
            <a:spLocks noGrp="1"/>
          </p:cNvSpPr>
          <p:nvPr>
            <p:ph sz="quarter" idx="10"/>
          </p:nvPr>
        </p:nvSpPr>
        <p:spPr>
          <a:xfrm>
            <a:off x="-83129" y="6551618"/>
            <a:ext cx="9277005" cy="232133"/>
          </a:xfrm>
        </p:spPr>
        <p:txBody>
          <a:bodyPr/>
          <a:lstStyle/>
          <a:p>
            <a:r>
              <a:rPr lang="en-US" sz="800" noProof="0" dirty="0"/>
              <a:t>© 2023 McGraw Hill, LLC. All rights reserved. Authorized only for instructor use in the classroom. No reproduction or further distribution permitted without the prior written consent of McGraw Hill, LLC.</a:t>
            </a:r>
          </a:p>
        </p:txBody>
      </p:sp>
    </p:spTree>
    <p:extLst>
      <p:ext uri="{BB962C8B-B14F-4D97-AF65-F5344CB8AC3E}">
        <p14:creationId xmlns:p14="http://schemas.microsoft.com/office/powerpoint/2010/main" val="10804844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39</a:t>
            </a:fld>
            <a:endParaRPr lang="en-US"/>
          </a:p>
        </p:txBody>
      </p:sp>
    </p:spTree>
    <p:extLst>
      <p:ext uri="{BB962C8B-B14F-4D97-AF65-F5344CB8AC3E}">
        <p14:creationId xmlns:p14="http://schemas.microsoft.com/office/powerpoint/2010/main" val="4245016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35525"/>
            <a:ext cx="8458200" cy="822237"/>
          </a:xfrm>
        </p:spPr>
        <p:txBody>
          <a:bodyPr>
            <a:noAutofit/>
          </a:bodyPr>
          <a:lstStyle/>
          <a:p>
            <a:r>
              <a:rPr lang="en-US" sz="2800" noProof="0" dirty="0"/>
              <a:t>Exhibit 5.6 A Process for Ethical Decision Making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56084"/>
            <a:ext cx="8458200" cy="4707556"/>
          </a:xfrm>
        </p:spPr>
        <p:txBody>
          <a:bodyPr>
            <a:noAutofit/>
          </a:bodyPr>
          <a:lstStyle/>
          <a:p>
            <a:r>
              <a:rPr lang="en-US" sz="2200" noProof="0" dirty="0"/>
              <a:t>First, you must understand all the moral standards and recognize all of the moral impacts. What are the benefits or harms to others? What rights are exercised or denied? Then, you will define the complete moral problem. This will help you determine the economic outcomes, consider the legal requirements, and evaluate the ethical duties. Finally, you will propose a convincing moral solution.</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825104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35525"/>
            <a:ext cx="8639352" cy="822237"/>
          </a:xfrm>
        </p:spPr>
        <p:txBody>
          <a:bodyPr>
            <a:noAutofit/>
          </a:bodyPr>
          <a:lstStyle/>
          <a:p>
            <a:r>
              <a:rPr lang="en-US" sz="2600" noProof="0" dirty="0"/>
              <a:t>Exhibit 5.7 Pyramid of Global Corporate Social Responsibility and Performance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556084"/>
            <a:ext cx="8458200" cy="4707556"/>
          </a:xfrm>
        </p:spPr>
        <p:txBody>
          <a:bodyPr>
            <a:noAutofit/>
          </a:bodyPr>
          <a:lstStyle/>
          <a:p>
            <a:r>
              <a:rPr lang="en-US" sz="2200" noProof="0" dirty="0"/>
              <a:t>The pyramid's bottom is economic responsibility. At this level, the corporation must be profitable, and it must do what is required by global capitalism. The second level of the pyramid is legal responsibility where the corporation must obey the law, doing what is required by the global stakeholders. The third level of the pyramid is ethical responsibility at which a corporation must be ethical and do what is expected by global stakeholders. The top of the pyramid is a corporation's philanthropic responsibility. At this level, the corporation must be a good global corporate citizen, doing what is desired by global stakeholders.</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868733545"/>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MainContentSlideMaster">
  <a:themeElements>
    <a:clrScheme name="Custom 20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59A53402-BF8D-4356-9B02-35501F8B049D}"/>
    </a:ext>
  </a:extLst>
</a:theme>
</file>

<file path=ppt/theme/theme5.xml><?xml version="1.0" encoding="utf-8"?>
<a:theme xmlns:a="http://schemas.openxmlformats.org/drawingml/2006/main" name="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6.xml><?xml version="1.0" encoding="utf-8"?>
<a:theme xmlns:a="http://schemas.openxmlformats.org/drawingml/2006/main" name="1_ImageDescriptionAppendixSlideMaster">
  <a:themeElements>
    <a:clrScheme name="Custom 20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002D0E3A-676D-4160-97AC-45FBF1A959A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Template_Editorial_v11_2020</Template>
  <TotalTime>4595</TotalTime>
  <Words>4332</Words>
  <Application>Microsoft Office PowerPoint</Application>
  <PresentationFormat>On-screen Show (4:3)</PresentationFormat>
  <Paragraphs>389</Paragraphs>
  <Slides>41</Slides>
  <Notes>37</Notes>
  <HiddenSlides>3</HiddenSlides>
  <MMClips>1</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41</vt:i4>
      </vt:variant>
    </vt:vector>
  </HeadingPairs>
  <TitlesOfParts>
    <vt:vector size="50" baseType="lpstr">
      <vt:lpstr>ＭＳ Ｐゴシック</vt:lpstr>
      <vt:lpstr>Arial</vt:lpstr>
      <vt:lpstr>Calibri</vt:lpstr>
      <vt:lpstr>Title Slides Master</vt:lpstr>
      <vt:lpstr>MainContentSlideMaster</vt:lpstr>
      <vt:lpstr>ClosingMaster</vt:lpstr>
      <vt:lpstr>DividerSlideMaster</vt:lpstr>
      <vt:lpstr>ImageDescriptionAppendixSlideMaster</vt:lpstr>
      <vt:lpstr>1_ImageDescriptionAppendixSlideMaster</vt:lpstr>
      <vt:lpstr>PowerPoint Presentation</vt:lpstr>
      <vt:lpstr>Learning Objectives</vt:lpstr>
      <vt:lpstr>It’s a Big Issue</vt:lpstr>
      <vt:lpstr>It’s a Personal Issue</vt:lpstr>
      <vt:lpstr>Exhibit 5.1 Possible Outcomes of Lying and Telling the Truth 1</vt:lpstr>
      <vt:lpstr>Exhibit 5.1 Possible Outcomes of Lying and Telling the Truth 2</vt:lpstr>
      <vt:lpstr>Ethics</vt:lpstr>
      <vt:lpstr>Ethical Systems</vt:lpstr>
      <vt:lpstr>Exhibit 5.2 Examples of Decisions Made under Different Ethical Systems</vt:lpstr>
      <vt:lpstr>Caux Principles</vt:lpstr>
      <vt:lpstr>Egoism and Utilitarianism</vt:lpstr>
      <vt:lpstr>Relativism and Virtue Ethics</vt:lpstr>
      <vt:lpstr>Kohlberg</vt:lpstr>
      <vt:lpstr>The Ethics Environment</vt:lpstr>
      <vt:lpstr>Exhibit 5.3 Some Ethical Issues in Business 1</vt:lpstr>
      <vt:lpstr>Exhibit 5.3 Some Ethical Issues in Business 2</vt:lpstr>
      <vt:lpstr>Ethical Climate and Leadership</vt:lpstr>
      <vt:lpstr>Exhibit 5.4 Danger Signs of Unethical Behavior in Your Organization</vt:lpstr>
      <vt:lpstr>SPOTLIGHT ON . . .  Digital Monitoring Can Help Ensure Ethics</vt:lpstr>
      <vt:lpstr>Ethics Codes</vt:lpstr>
      <vt:lpstr>Ethics Programs</vt:lpstr>
      <vt:lpstr>Ethical Decision Making</vt:lpstr>
      <vt:lpstr>Exhibit 5.6 A Process for Ethical Decision Making</vt:lpstr>
      <vt:lpstr>Courage</vt:lpstr>
      <vt:lpstr>Corporate Social Responsibility 1</vt:lpstr>
      <vt:lpstr>Corporate Social Responsibility 2</vt:lpstr>
      <vt:lpstr>Corporate Social Responsibility 3</vt:lpstr>
      <vt:lpstr>Exhibit 5.7 Pyramid of Global Corporate Social Responsibility and Performance</vt:lpstr>
      <vt:lpstr>Contrasting Views</vt:lpstr>
      <vt:lpstr>Reconciliation</vt:lpstr>
      <vt:lpstr>Spotlight On…             A College Built by and for the Poor</vt:lpstr>
      <vt:lpstr>A Risk Society</vt:lpstr>
      <vt:lpstr>Sustainable Growth</vt:lpstr>
      <vt:lpstr>Life-Cycle Analysis (L C A)</vt:lpstr>
      <vt:lpstr>Environmental Agendas for the Future</vt:lpstr>
      <vt:lpstr>Management in Action I B M: Using Technology for the Greater Good</vt:lpstr>
      <vt:lpstr>In Review</vt:lpstr>
      <vt:lpstr>End of Main Content</vt:lpstr>
      <vt:lpstr>Accessibility Content: Text Alternatives for Images</vt:lpstr>
      <vt:lpstr>Exhibit 5.6 A Process for Ethical Decision Making – Text Alternative</vt:lpstr>
      <vt:lpstr>Exhibit 5.7 Pyramid of Global Corporate Social Responsibility and Performance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P Moran</dc:creator>
  <cp:keywords/>
  <cp:lastModifiedBy>P Moran</cp:lastModifiedBy>
  <cp:revision>469</cp:revision>
  <dcterms:created xsi:type="dcterms:W3CDTF">2021-07-01T13:49:16Z</dcterms:created>
  <dcterms:modified xsi:type="dcterms:W3CDTF">2025-04-22T07:32:36Z</dcterms:modified>
</cp:coreProperties>
</file>